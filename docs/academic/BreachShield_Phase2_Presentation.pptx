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3" r:id="rId3"/>
    <p:sldMasterId id="2147483686" r:id="rId4"/>
  </p:sldMasterIdLst>
  <p:notesMasterIdLst>
    <p:notesMasterId r:id="rId19"/>
  </p:notesMasterIdLst>
  <p:handoutMasterIdLst>
    <p:handoutMasterId r:id="rId20"/>
  </p:handoutMasterIdLst>
  <p:sldIdLst>
    <p:sldId id="25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90" r:id="rId13"/>
    <p:sldId id="289" r:id="rId14"/>
    <p:sldId id="285" r:id="rId15"/>
    <p:sldId id="286" r:id="rId16"/>
    <p:sldId id="287" r:id="rId17"/>
    <p:sldId id="28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49" userDrawn="1">
          <p15:clr>
            <a:srgbClr val="A4A3A4"/>
          </p15:clr>
        </p15:guide>
        <p15:guide id="2" pos="23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8E01"/>
    <a:srgbClr val="000000"/>
    <a:srgbClr val="5858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howGuides="1">
      <p:cViewPr>
        <p:scale>
          <a:sx n="75" d="100"/>
          <a:sy n="75" d="100"/>
        </p:scale>
        <p:origin x="420" y="48"/>
      </p:cViewPr>
      <p:guideLst>
        <p:guide orient="horz" pos="1049"/>
        <p:guide pos="23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Futura Cyrillic Book" panose="020B0502020204020303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>
                <a:latin typeface="Futura Cyrillic Book" panose="020B0502020204020303" charset="0"/>
              </a:rPr>
              <a:pPr/>
              <a:t>9/9/2026</a:t>
            </a:fld>
            <a:endParaRPr lang="en-US">
              <a:latin typeface="Futura Cyrillic Book" panose="020B0502020204020303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Futura Cyrillic Book" panose="020B0502020204020303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>
                <a:latin typeface="Futura Cyrillic Book" panose="020B0502020204020303" charset="0"/>
              </a:rPr>
              <a:pPr/>
              <a:t>‹#›</a:t>
            </a:fld>
            <a:endParaRPr lang="en-US">
              <a:latin typeface="Futura Cyrillic Book" panose="020B050202020402030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4137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utura Cyrillic Book" panose="020B0502020204020303" charset="0"/>
              </a:defRPr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utura Cyrillic Book" panose="020B0502020204020303" charset="0"/>
              </a:defRPr>
            </a:lvl1pPr>
          </a:lstStyle>
          <a:p>
            <a:fld id="{0ECD8AD1-49EC-45F2-A2FF-1FE3195688C5}" type="datetimeFigureOut">
              <a:rPr lang="en-IN" smtClean="0"/>
              <a:pPr/>
              <a:t>09-09-2026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utura Cyrillic Book" panose="020B0502020204020303" charset="0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utura Cyrillic Book" panose="020B0502020204020303" charset="0"/>
              </a:defRPr>
            </a:lvl1pPr>
          </a:lstStyle>
          <a:p>
            <a:fld id="{7782813F-5D25-4BB6-888C-4601F85758C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132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1204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1204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665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92245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4036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7270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6809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0209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68236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3773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2396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pPr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868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81ACE-890E-4B55-88CA-A440D73ED3A3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BB8E-5703-4605-9BD4-B6282EF196A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988"/>
          <a:stretch>
            <a:fillRect/>
          </a:stretch>
        </p:blipFill>
        <p:spPr>
          <a:xfrm>
            <a:off x="10256520" y="0"/>
            <a:ext cx="2194560" cy="9562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81ACE-890E-4B55-88CA-A440D73ED3A3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BB8E-5703-4605-9BD4-B6282EF196A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988"/>
          <a:stretch>
            <a:fillRect/>
          </a:stretch>
        </p:blipFill>
        <p:spPr>
          <a:xfrm>
            <a:off x="10256520" y="0"/>
            <a:ext cx="2194560" cy="9562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235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02744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3944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29693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99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8801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64008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44011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71214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6400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924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4EF95999-A99C-46D6-BFDA-AEFA180EA74F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36B80835-DEB3-4275-B379-2566D87801AD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8CA01822-BBE1-4BC5-B54E-43DAA9793F7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4EF95999-A99C-46D6-BFDA-AEFA180EA74F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95999-A99C-46D6-BFDA-AEFA180EA74F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096927-E4BC-4077-9E7B-25FA85E7C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247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7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8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ISE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2924148" y="1958975"/>
            <a:ext cx="7772400" cy="8604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2800" b="1" dirty="0">
                <a:latin typeface="+mj-lt"/>
                <a:cs typeface="Times New Roman" panose="02020603050405020304" pitchFamily="18" charset="0"/>
              </a:rPr>
              <a:t>BreachShield: AI Powered OSINT Breach Detection &amp; Dark Web Protection</a:t>
            </a:r>
            <a:r>
              <a:rPr lang="en-IN" sz="2800" b="1" dirty="0">
                <a:latin typeface="+mj-lt"/>
                <a:cs typeface="Times New Roman" panose="02020603050405020304" pitchFamily="18" charset="0"/>
              </a:rPr>
              <a:t/>
            </a:r>
            <a:br>
              <a:rPr lang="en-IN" sz="2800" b="1" dirty="0">
                <a:latin typeface="+mj-lt"/>
                <a:cs typeface="Times New Roman" panose="02020603050405020304" pitchFamily="18" charset="0"/>
              </a:rPr>
            </a:br>
            <a:endParaRPr kumimoji="0" lang="en-I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81600" y="914400"/>
            <a:ext cx="335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i="1" dirty="0"/>
              <a:t> Project Phase 2 (BIS786) Presentation 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67420" y="3135868"/>
            <a:ext cx="1424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i="1" dirty="0"/>
              <a:t>Presented by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473270"/>
              </p:ext>
            </p:extLst>
          </p:nvPr>
        </p:nvGraphicFramePr>
        <p:xfrm>
          <a:off x="2709834" y="3652520"/>
          <a:ext cx="8136903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244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1230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Group 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USN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r>
                        <a:t>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Arvind D 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1AY24IS400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Girishkumar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1AY24IS404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Manoj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1AY24IS406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Premkumar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1AY24IS407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741680">
                <a:tc gridSpan="3">
                  <a:txBody>
                    <a:bodyPr/>
                    <a:lstStyle/>
                    <a:p>
                      <a:r>
                        <a:rPr dirty="0"/>
                        <a:t>Guide Name: Prof. Sushma T.M.</a:t>
                      </a:r>
                    </a:p>
                    <a:p>
                      <a:r>
                        <a:rPr dirty="0"/>
                        <a:t>Designation: Assistant Professor, Dept. of ISE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14" name="Title 1"/>
          <p:cNvSpPr txBox="1">
            <a:spLocks/>
          </p:cNvSpPr>
          <p:nvPr/>
        </p:nvSpPr>
        <p:spPr>
          <a:xfrm>
            <a:off x="2667000" y="0"/>
            <a:ext cx="7620000" cy="9143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2400" b="1" dirty="0"/>
              <a:t>Department of Information Science and Engineering  </a:t>
            </a:r>
            <a:r>
              <a:rPr lang="en-US" sz="2000" b="1" dirty="0"/>
              <a:t>Acharya Institute of Technology</a:t>
            </a:r>
            <a:endParaRPr lang="en-IN" sz="2000" dirty="0"/>
          </a:p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600" baseline="0" dirty="0">
                <a:ea typeface="+mj-ea"/>
                <a:cs typeface="+mj-cs"/>
              </a:rPr>
              <a:t>Soladevanahalli,</a:t>
            </a:r>
            <a:r>
              <a:rPr lang="en-IN" sz="1600" dirty="0">
                <a:ea typeface="+mj-ea"/>
                <a:cs typeface="+mj-cs"/>
              </a:rPr>
              <a:t> Bengaluru 560 107</a:t>
            </a:r>
            <a:endParaRPr kumimoji="0" lang="en-IN" sz="2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16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grpSp>
        <p:nvGrpSpPr>
          <p:cNvPr id="17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18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19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4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25" name="TextBox 24"/>
          <p:cNvSpPr txBox="1"/>
          <p:nvPr/>
        </p:nvSpPr>
        <p:spPr>
          <a:xfrm>
            <a:off x="488400" y="37960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ISE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381000"/>
            <a:ext cx="8229600" cy="1143000"/>
          </a:xfrm>
        </p:spPr>
        <p:txBody>
          <a:bodyPr/>
          <a:lstStyle/>
          <a:p>
            <a:r>
              <a:rPr lang="en-IN" b="1" dirty="0"/>
              <a:t>Agenda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2743200" y="1295400"/>
            <a:ext cx="8229600" cy="5257799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sz="9600" dirty="0">
                <a:latin typeface="+mj-lt"/>
                <a:cs typeface="Times New Roman" panose="02020603050405020304" pitchFamily="18" charset="0"/>
              </a:rPr>
              <a:t>Abstract</a:t>
            </a: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sz="9600" dirty="0">
                <a:latin typeface="+mj-lt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sz="9600" dirty="0">
                <a:latin typeface="+mj-lt"/>
                <a:cs typeface="Times New Roman" panose="02020603050405020304" pitchFamily="18" charset="0"/>
              </a:rPr>
              <a:t>Problem Statement</a:t>
            </a: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sz="9600" dirty="0">
                <a:latin typeface="+mj-lt"/>
                <a:cs typeface="Times New Roman" panose="02020603050405020304" pitchFamily="18" charset="0"/>
              </a:rPr>
              <a:t>Requirement Specification(Hardware &amp; Software)</a:t>
            </a: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sz="9600" dirty="0">
                <a:latin typeface="+mj-lt"/>
                <a:cs typeface="Times New Roman" panose="02020603050405020304" pitchFamily="18" charset="0"/>
              </a:rPr>
              <a:t>System Design (Data Flow Diagram </a:t>
            </a:r>
            <a:r>
              <a:rPr lang="en-US" sz="9600" dirty="0" smtClean="0">
                <a:latin typeface="+mj-lt"/>
                <a:cs typeface="Times New Roman" panose="02020603050405020304" pitchFamily="18" charset="0"/>
              </a:rPr>
              <a:t>, Class </a:t>
            </a:r>
            <a:r>
              <a:rPr lang="en-US" sz="9600" dirty="0">
                <a:latin typeface="+mj-lt"/>
                <a:cs typeface="Times New Roman" panose="02020603050405020304" pitchFamily="18" charset="0"/>
              </a:rPr>
              <a:t>Diagram, Use </a:t>
            </a:r>
            <a:r>
              <a:rPr lang="en-US" sz="9600" dirty="0" smtClean="0">
                <a:latin typeface="+mj-lt"/>
                <a:cs typeface="Times New Roman" panose="02020603050405020304" pitchFamily="18" charset="0"/>
              </a:rPr>
              <a:t>Sequence Diagram</a:t>
            </a:r>
            <a:r>
              <a:rPr lang="en-US" sz="9600" dirty="0">
                <a:latin typeface="+mj-lt"/>
                <a:cs typeface="Times New Roman" panose="02020603050405020304" pitchFamily="18" charset="0"/>
              </a:rPr>
              <a:t>)</a:t>
            </a:r>
            <a:endParaRPr lang="en-US" sz="9600" dirty="0" smtClean="0">
              <a:latin typeface="+mj-lt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sz="9600" dirty="0" smtClean="0">
                <a:latin typeface="+mj-lt"/>
                <a:cs typeface="Times New Roman" panose="02020603050405020304" pitchFamily="18" charset="0"/>
              </a:rPr>
              <a:t>Implementation </a:t>
            </a:r>
            <a:r>
              <a:rPr lang="en-US" sz="9600" dirty="0">
                <a:latin typeface="+mj-lt"/>
                <a:cs typeface="Times New Roman" panose="02020603050405020304" pitchFamily="18" charset="0"/>
              </a:rPr>
              <a:t>(Modules and </a:t>
            </a:r>
            <a:r>
              <a:rPr lang="en-US" sz="9600" dirty="0" smtClean="0">
                <a:latin typeface="+mj-lt"/>
                <a:cs typeface="Times New Roman" panose="02020603050405020304" pitchFamily="18" charset="0"/>
              </a:rPr>
              <a:t>Functions)</a:t>
            </a:r>
          </a:p>
          <a:p>
            <a:pPr marL="342900" indent="-342900">
              <a:lnSpc>
                <a:spcPct val="120000"/>
              </a:lnSpc>
              <a:buAutoNum type="arabicPeriod" startAt="7"/>
            </a:pPr>
            <a:r>
              <a:rPr lang="en-US" sz="9600" dirty="0" smtClean="0">
                <a:latin typeface="+mj-lt"/>
                <a:cs typeface="Times New Roman" panose="02020603050405020304" pitchFamily="18" charset="0"/>
              </a:rPr>
              <a:t>References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ISE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0"/>
            <a:ext cx="8229600" cy="1143000"/>
          </a:xfrm>
        </p:spPr>
        <p:txBody>
          <a:bodyPr/>
          <a:lstStyle/>
          <a:p>
            <a:pPr algn="ctr"/>
            <a:r>
              <a:rPr lang="en-US" sz="4400" b="1" i="0" u="none" strike="noStrike" cap="none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ABSTRACT</a:t>
            </a:r>
            <a:endParaRPr lang="en-IN" b="1" dirty="0"/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2743199" y="1066800"/>
            <a:ext cx="8443337" cy="4618038"/>
          </a:xfrm>
        </p:spPr>
        <p:txBody>
          <a:bodyPr wrap="square">
            <a:norm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800" dirty="0">
                <a:latin typeface="+mj-lt"/>
              </a:rPr>
              <a:t>BreachShield is an OSINT-based breach intelligence platform designed to help users determine whether their email address or phone number has been exposed in known data breaches while preserving privacy. The platform uses a k-anonymity search mechanism, allowing breach checks without transmitting the user's complete identifier to the server. Breach data is gathered from a locally maintained breach repository and supplemented with live OSINT information collected from Telegram sources. To ensure secure access, the system incorporates OTP-based authentication with email and SMS verification. BreachShield also provides administrative controls and SMS gateway integration for user verification and system management. By combining privacy-preserving search techniques, OSINT-driven data collection, and secure authentication, the platform offers a practical solution for breach awareness and exposure monitoring.</a:t>
            </a:r>
            <a:endParaRPr lang="en-US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54272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ISE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0"/>
            <a:ext cx="8229600" cy="1143000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lang="en-IN" b="1" dirty="0"/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2743199" y="1066800"/>
            <a:ext cx="8443337" cy="4618038"/>
          </a:xfrm>
        </p:spPr>
        <p:txBody>
          <a:bodyPr wrap="square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+mj-lt"/>
              </a:rPr>
              <a:t>• Data breaches and credential leaks occur frequently, exposing sensitive user information such as email addresses and phone numbers</a:t>
            </a:r>
            <a:r>
              <a:rPr lang="en-US" sz="1800" dirty="0" smtClean="0">
                <a:latin typeface="+mj-lt"/>
              </a:rPr>
              <a:t>.</a:t>
            </a:r>
            <a:endParaRPr lang="en-US" sz="1800" dirty="0">
              <a:latin typeface="+mj-lt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+mj-lt"/>
              </a:rPr>
              <a:t>• Most users have no simple and privacy-preserving way to check whether their personal information has been compromised in a known data breach</a:t>
            </a:r>
            <a:r>
              <a:rPr lang="en-US" sz="1800" dirty="0" smtClean="0">
                <a:latin typeface="+mj-lt"/>
              </a:rPr>
              <a:t>.</a:t>
            </a:r>
            <a:endParaRPr lang="en-US" sz="1800" dirty="0">
              <a:latin typeface="+mj-lt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+mj-lt"/>
              </a:rPr>
              <a:t>• Existing breach-checking services often require users to submit their complete email address or phone number to a third party, raising privacy concerns</a:t>
            </a:r>
            <a:r>
              <a:rPr lang="en-US" sz="1800" dirty="0" smtClean="0">
                <a:latin typeface="+mj-lt"/>
              </a:rPr>
              <a:t>.</a:t>
            </a:r>
            <a:endParaRPr lang="en-US" sz="1800" dirty="0">
              <a:latin typeface="+mj-lt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+mj-lt"/>
              </a:rPr>
              <a:t>• OSINT sources such as public breach databases and Telegram-based leak channels contain valuable breach intelligence, but the information is often scattered across multiple platforms</a:t>
            </a:r>
            <a:r>
              <a:rPr lang="en-US" sz="1800" dirty="0" smtClean="0">
                <a:latin typeface="+mj-lt"/>
              </a:rPr>
              <a:t>.</a:t>
            </a:r>
            <a:endParaRPr lang="en-US" sz="1800" dirty="0">
              <a:latin typeface="+mj-lt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+mj-lt"/>
              </a:rPr>
              <a:t>• BreachShield addresses these challenges by combining OSINT-based breach intelligence, privacy-preserving k-anonymity searches, secure OTP-based authentication, and centralized breach monitoring through a single user-friendly platform.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20695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ISE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0"/>
            <a:ext cx="8229600" cy="1143000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lang="en-US" sz="4400" dirty="0"/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2743199" y="1249362"/>
            <a:ext cx="8443337" cy="4618038"/>
          </a:xfrm>
        </p:spPr>
        <p:txBody>
          <a:bodyPr wrap="square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+mj-lt"/>
              </a:rPr>
              <a:t>• Most breach-checking services require users to submit their full email address or phone number to a third-party server, creating additional privacy concerns during the search process</a:t>
            </a:r>
            <a:r>
              <a:rPr lang="en-US" sz="1800" dirty="0" smtClean="0">
                <a:latin typeface="+mj-lt"/>
              </a:rPr>
              <a:t>.</a:t>
            </a:r>
            <a:endParaRPr lang="en-US" sz="1800" dirty="0">
              <a:latin typeface="+mj-lt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+mj-lt"/>
              </a:rPr>
              <a:t>• Breach-related information is often distributed across multiple sources, making it difficult for users to access reliable and consolidated breach intelligence</a:t>
            </a:r>
            <a:r>
              <a:rPr lang="en-US" sz="1800" dirty="0" smtClean="0">
                <a:latin typeface="+mj-lt"/>
              </a:rPr>
              <a:t>.</a:t>
            </a:r>
            <a:endParaRPr lang="en-US" sz="1800" dirty="0">
              <a:latin typeface="+mj-lt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+mj-lt"/>
              </a:rPr>
              <a:t>• Users need a secure method to verify whether their personal information has been exposed without unnecessarily revealing sensitive data</a:t>
            </a:r>
            <a:r>
              <a:rPr lang="en-US" sz="1800" dirty="0" smtClean="0">
                <a:latin typeface="+mj-lt"/>
              </a:rPr>
              <a:t>.</a:t>
            </a:r>
            <a:endParaRPr lang="en-US" sz="1800" dirty="0">
              <a:latin typeface="+mj-lt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+mj-lt"/>
              </a:rPr>
              <a:t>• Many existing solutions provide limited privacy protection and lack secure mechanisms for controlled user access and verification</a:t>
            </a:r>
            <a:r>
              <a:rPr lang="en-US" sz="1800" dirty="0" smtClean="0">
                <a:latin typeface="+mj-lt"/>
              </a:rPr>
              <a:t>.</a:t>
            </a:r>
            <a:endParaRPr lang="en-US" sz="1800" dirty="0">
              <a:latin typeface="+mj-lt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+mj-lt"/>
              </a:rPr>
              <a:t>• There is a need for a platform that combines privacy-preserving breach searches, OSINT-based breach intelligence, and secure OTP-based authentication within a single system.</a:t>
            </a:r>
            <a:endParaRPr lang="en-US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92261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ISE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0"/>
            <a:ext cx="8229600" cy="1143000"/>
          </a:xfrm>
        </p:spPr>
        <p:txBody>
          <a:bodyPr/>
          <a:lstStyle/>
          <a:p>
            <a:pPr marL="457200" lvl="0" indent="-228600" algn="ctr">
              <a:buSzPts val="1400"/>
            </a:pPr>
            <a:r>
              <a:rPr lang="en-US" sz="4400" b="1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REQUIREMENT SPECIFICATION</a:t>
            </a:r>
            <a:endParaRPr lang="en-US" sz="4400" dirty="0"/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2743199" y="1554162"/>
            <a:ext cx="8443337" cy="4618038"/>
          </a:xfrm>
        </p:spPr>
        <p:txBody>
          <a:bodyPr wrap="square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000" b="1" dirty="0">
                <a:latin typeface="+mj-lt"/>
                <a:cs typeface="Times New Roman" panose="02020603050405020304" pitchFamily="18" charset="0"/>
              </a:rPr>
              <a:t>HARDWARE REQUIREMENTS</a:t>
            </a:r>
          </a:p>
          <a:p>
            <a:pPr>
              <a:lnSpc>
                <a:spcPct val="150000"/>
              </a:lnSpc>
            </a:pPr>
            <a:r>
              <a:rPr sz="1800" dirty="0">
                <a:latin typeface="+mj-lt"/>
                <a:cs typeface="Times New Roman" panose="02020603050405020304" pitchFamily="18" charset="0"/>
              </a:rPr>
              <a:t>Development machine: Intel i5 / Ryzen 5 or higher, 8 GB RAM minimum (16 GB recommended for local model training)</a:t>
            </a:r>
          </a:p>
          <a:p>
            <a:pPr>
              <a:lnSpc>
                <a:spcPct val="150000"/>
              </a:lnSpc>
            </a:pPr>
            <a:r>
              <a:rPr sz="1800" dirty="0">
                <a:latin typeface="+mj-lt"/>
                <a:cs typeface="Times New Roman" panose="02020603050405020304" pitchFamily="18" charset="0"/>
              </a:rPr>
              <a:t>Storage: 10 GB free disk space (source data, trained model checkpoints, local blockchain state)</a:t>
            </a:r>
          </a:p>
          <a:p>
            <a:pPr>
              <a:lnSpc>
                <a:spcPct val="150000"/>
              </a:lnSpc>
            </a:pPr>
            <a:r>
              <a:rPr sz="1800" dirty="0">
                <a:latin typeface="+mj-lt"/>
                <a:cs typeface="Times New Roman" panose="02020603050405020304" pitchFamily="18" charset="0"/>
              </a:rPr>
              <a:t>Network connectivity for OSINT/Telegram source polling and package installation</a:t>
            </a:r>
          </a:p>
          <a:p>
            <a:pPr>
              <a:lnSpc>
                <a:spcPct val="150000"/>
              </a:lnSpc>
            </a:pPr>
            <a:r>
              <a:rPr sz="1800" dirty="0">
                <a:latin typeface="+mj-lt"/>
                <a:cs typeface="Times New Roman" panose="02020603050405020304" pitchFamily="18" charset="0"/>
              </a:rPr>
              <a:t>Android device (optional): for the SMS gateway companion app, Android 8.0+</a:t>
            </a:r>
          </a:p>
        </p:txBody>
      </p:sp>
    </p:spTree>
    <p:extLst>
      <p:ext uri="{BB962C8B-B14F-4D97-AF65-F5344CB8AC3E}">
        <p14:creationId xmlns:p14="http://schemas.microsoft.com/office/powerpoint/2010/main" val="1075125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ISE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0"/>
            <a:ext cx="8229600" cy="1143000"/>
          </a:xfrm>
        </p:spPr>
        <p:txBody>
          <a:bodyPr/>
          <a:lstStyle/>
          <a:p>
            <a:pPr marL="457200" lvl="0" indent="-228600" algn="ctr">
              <a:buSzPts val="1400"/>
            </a:pPr>
            <a:r>
              <a:rPr lang="en-US" sz="4400" b="1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REQUIREMENT SPECIFICATION</a:t>
            </a:r>
            <a:endParaRPr lang="en-US" sz="4400" dirty="0"/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2743199" y="1554162"/>
            <a:ext cx="8443337" cy="4618038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US" sz="2000" b="1" dirty="0" smtClean="0">
                <a:latin typeface="+mj-lt"/>
                <a:cs typeface="Times New Roman" panose="02020603050405020304" pitchFamily="18" charset="0"/>
              </a:rPr>
              <a:t>SOFTWARE REQUIREMENTS</a:t>
            </a:r>
            <a:endParaRPr lang="en-US" sz="2000" b="1" dirty="0" smtClean="0">
              <a:latin typeface="+mj-lt"/>
            </a:endParaRPr>
          </a:p>
          <a:p>
            <a:endParaRPr lang="en-US" sz="1800" b="1" dirty="0">
              <a:latin typeface="+mj-lt"/>
            </a:endParaRPr>
          </a:p>
          <a:p>
            <a:r>
              <a:rPr lang="en-US" sz="1800" b="1" dirty="0" smtClean="0">
                <a:latin typeface="+mj-lt"/>
              </a:rPr>
              <a:t>Frontend: React</a:t>
            </a:r>
            <a:r>
              <a:rPr lang="en-US" sz="1800" dirty="0" smtClean="0">
                <a:latin typeface="+mj-lt"/>
              </a:rPr>
              <a:t> </a:t>
            </a:r>
            <a:r>
              <a:rPr lang="en-US" sz="1800" dirty="0">
                <a:latin typeface="+mj-lt"/>
              </a:rPr>
              <a:t>19 (Create React App) </a:t>
            </a:r>
          </a:p>
          <a:p>
            <a:r>
              <a:rPr lang="en-US" sz="1800" b="1" dirty="0" smtClean="0">
                <a:latin typeface="+mj-lt"/>
              </a:rPr>
              <a:t>Backend:</a:t>
            </a:r>
            <a:r>
              <a:rPr lang="en-US" sz="1800" dirty="0" smtClean="0">
                <a:latin typeface="+mj-lt"/>
              </a:rPr>
              <a:t> Node.js  Express </a:t>
            </a:r>
            <a:r>
              <a:rPr lang="en-US" sz="1800" dirty="0">
                <a:latin typeface="+mj-lt"/>
              </a:rPr>
              <a:t>5 </a:t>
            </a:r>
            <a:r>
              <a:rPr lang="en-US" sz="1800" dirty="0" smtClean="0">
                <a:latin typeface="+mj-lt"/>
              </a:rPr>
              <a:t>JWT </a:t>
            </a:r>
            <a:r>
              <a:rPr lang="en-US" sz="1800" dirty="0">
                <a:latin typeface="+mj-lt"/>
              </a:rPr>
              <a:t>&amp; OTP-based Authentication </a:t>
            </a:r>
          </a:p>
          <a:p>
            <a:r>
              <a:rPr lang="en-US" sz="1800" b="1" dirty="0">
                <a:latin typeface="+mj-lt"/>
              </a:rPr>
              <a:t>OSINT </a:t>
            </a:r>
            <a:r>
              <a:rPr lang="en-US" sz="1800" b="1" dirty="0" smtClean="0">
                <a:latin typeface="+mj-lt"/>
              </a:rPr>
              <a:t>Service: Python</a:t>
            </a:r>
            <a:r>
              <a:rPr lang="en-US" sz="1800" dirty="0" smtClean="0">
                <a:latin typeface="+mj-lt"/>
              </a:rPr>
              <a:t> </a:t>
            </a:r>
            <a:r>
              <a:rPr lang="en-US" sz="1800" dirty="0">
                <a:latin typeface="+mj-lt"/>
              </a:rPr>
              <a:t>3.13 </a:t>
            </a:r>
            <a:r>
              <a:rPr lang="en-US" sz="1800" dirty="0" smtClean="0">
                <a:latin typeface="+mj-lt"/>
              </a:rPr>
              <a:t>, FastAPI </a:t>
            </a:r>
            <a:r>
              <a:rPr lang="en-US" sz="1800" dirty="0">
                <a:latin typeface="+mj-lt"/>
              </a:rPr>
              <a:t>,</a:t>
            </a:r>
            <a:r>
              <a:rPr lang="en-US" sz="1800" dirty="0" smtClean="0">
                <a:latin typeface="+mj-lt"/>
              </a:rPr>
              <a:t>Telethon </a:t>
            </a:r>
            <a:r>
              <a:rPr lang="en-US" sz="1800" dirty="0">
                <a:latin typeface="+mj-lt"/>
              </a:rPr>
              <a:t>(Telegram Client) </a:t>
            </a:r>
          </a:p>
          <a:p>
            <a:r>
              <a:rPr lang="en-US" sz="1800" b="1" dirty="0" smtClean="0">
                <a:latin typeface="+mj-lt"/>
              </a:rPr>
              <a:t>Database: MySQL</a:t>
            </a:r>
            <a:r>
              <a:rPr lang="en-US" sz="1800" dirty="0" smtClean="0">
                <a:latin typeface="+mj-lt"/>
              </a:rPr>
              <a:t> </a:t>
            </a:r>
            <a:r>
              <a:rPr lang="en-US" sz="1800" dirty="0">
                <a:latin typeface="+mj-lt"/>
              </a:rPr>
              <a:t>8.0 </a:t>
            </a:r>
            <a:r>
              <a:rPr lang="en-US" sz="1800" dirty="0" smtClean="0">
                <a:latin typeface="+mj-lt"/>
              </a:rPr>
              <a:t>JSON-based </a:t>
            </a:r>
            <a:r>
              <a:rPr lang="en-US" sz="1800" dirty="0">
                <a:latin typeface="+mj-lt"/>
              </a:rPr>
              <a:t>Local Storage (Fallback) </a:t>
            </a:r>
          </a:p>
          <a:p>
            <a:r>
              <a:rPr lang="en-US" sz="1800" b="1" dirty="0">
                <a:latin typeface="+mj-lt"/>
              </a:rPr>
              <a:t>Security &amp; </a:t>
            </a:r>
            <a:r>
              <a:rPr lang="en-US" sz="1800" b="1" dirty="0" smtClean="0">
                <a:latin typeface="+mj-lt"/>
              </a:rPr>
              <a:t>Authentication: crypt</a:t>
            </a:r>
            <a:r>
              <a:rPr lang="en-US" sz="1800" dirty="0" smtClean="0">
                <a:latin typeface="+mj-lt"/>
              </a:rPr>
              <a:t> JWT </a:t>
            </a:r>
            <a:endParaRPr lang="en-US" sz="1800" dirty="0">
              <a:latin typeface="+mj-lt"/>
            </a:endParaRPr>
          </a:p>
          <a:p>
            <a:r>
              <a:rPr lang="en-US" sz="1800" b="1" dirty="0">
                <a:latin typeface="+mj-lt"/>
              </a:rPr>
              <a:t>Development </a:t>
            </a:r>
            <a:r>
              <a:rPr lang="en-US" sz="1800" b="1" dirty="0" smtClean="0">
                <a:latin typeface="+mj-lt"/>
              </a:rPr>
              <a:t>Tools: </a:t>
            </a:r>
            <a:r>
              <a:rPr lang="en-US" sz="1800" dirty="0" smtClean="0">
                <a:latin typeface="+mj-lt"/>
              </a:rPr>
              <a:t>Git , npm , pip, Node </a:t>
            </a:r>
            <a:r>
              <a:rPr lang="en-US" sz="1800" dirty="0">
                <a:latin typeface="+mj-lt"/>
              </a:rPr>
              <a:t>Test Runner</a:t>
            </a:r>
          </a:p>
        </p:txBody>
      </p:sp>
    </p:spTree>
    <p:extLst>
      <p:ext uri="{BB962C8B-B14F-4D97-AF65-F5344CB8AC3E}">
        <p14:creationId xmlns:p14="http://schemas.microsoft.com/office/powerpoint/2010/main" val="3193188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ISE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0"/>
            <a:ext cx="8229600" cy="1143000"/>
          </a:xfrm>
        </p:spPr>
        <p:txBody>
          <a:bodyPr/>
          <a:lstStyle/>
          <a:p>
            <a:pPr marL="457200" lvl="0" indent="-228600" algn="ctr">
              <a:buSzPts val="1400"/>
            </a:pPr>
            <a:r>
              <a:rPr lang="en-US" sz="2800" b="1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SYSTEM DESIGN – DATA FLOW DIAGRAM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199" y="960120"/>
            <a:ext cx="844333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Data Flow Diagram — Search, k-Anonymity Lookup and Audit-Anchoring Flow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199" y="1417320"/>
            <a:ext cx="8443337" cy="2821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181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ISE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0"/>
            <a:ext cx="8229600" cy="1143000"/>
          </a:xfrm>
        </p:spPr>
        <p:txBody>
          <a:bodyPr/>
          <a:lstStyle/>
          <a:p>
            <a:pPr marL="457200" lvl="0" indent="-228600" algn="ctr">
              <a:buSzPts val="1400"/>
            </a:pPr>
            <a:r>
              <a:rPr lang="en-US" sz="2800" b="1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SYSTEM DESIGN – CLASS DIAGRAM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199" y="960120"/>
            <a:ext cx="844333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Class Diagram — Source Adapters, Search Service, Audit &amp; Anchoring Layer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694" y="1417320"/>
            <a:ext cx="6336346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181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ISE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0"/>
            <a:ext cx="8229600" cy="1143000"/>
          </a:xfrm>
        </p:spPr>
        <p:txBody>
          <a:bodyPr/>
          <a:lstStyle/>
          <a:p>
            <a:pPr marL="457200" lvl="0" indent="-228600" algn="ctr">
              <a:buSzPts val="1400"/>
            </a:pPr>
            <a:r>
              <a:rPr lang="en-US" sz="2800" b="1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SYSTEM DESIGN – SEQUENCE DIAGRAM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199" y="960120"/>
            <a:ext cx="844333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/>
              <a:t>Sequence Diagram — OTP Login, Search Request and Merkle Anchoring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199" y="1417320"/>
            <a:ext cx="8443337" cy="4676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181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ISE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0"/>
            <a:ext cx="8229600" cy="1143000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581AA"/>
              </a:buClr>
              <a:buSzPts val="2800"/>
              <a:buFont typeface="Calibri"/>
              <a:buNone/>
            </a:pPr>
            <a:r>
              <a:rPr lang="en-US" sz="4400" b="1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960120"/>
            <a:ext cx="8752800" cy="5035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+mj-lt"/>
              </a:rPr>
              <a:t>OSINT Source Module</a:t>
            </a:r>
            <a:r>
              <a:rPr lang="en-US" dirty="0">
                <a:latin typeface="+mj-lt"/>
              </a:rPr>
              <a:t> — Integrates live breach intelligence from Telegram using Telethon. Data is collected through a pluggable source architecture, allowing multiple OSINT sources to be added and queried independently.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• </a:t>
            </a:r>
            <a:r>
              <a:rPr lang="en-US" b="1" dirty="0">
                <a:latin typeface="+mj-lt"/>
              </a:rPr>
              <a:t>Authentication &amp; OTP Module</a:t>
            </a:r>
            <a:r>
              <a:rPr lang="en-US" dirty="0">
                <a:latin typeface="+mj-lt"/>
              </a:rPr>
              <a:t> — Secure email/SMS OTP verification with </a:t>
            </a:r>
            <a:r>
              <a:rPr lang="en-US" dirty="0" err="1">
                <a:latin typeface="+mj-lt"/>
              </a:rPr>
              <a:t>bcrypt</a:t>
            </a:r>
            <a:r>
              <a:rPr lang="en-US" dirty="0">
                <a:latin typeface="+mj-lt"/>
              </a:rPr>
              <a:t>-hashed OTP storage, JWT-based session management, resend rate limiting, and account lockout protection against unauthorized access.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• </a:t>
            </a:r>
            <a:r>
              <a:rPr lang="en-US" b="1" dirty="0">
                <a:latin typeface="+mj-lt"/>
              </a:rPr>
              <a:t>k-Anonymity Search Module</a:t>
            </a:r>
            <a:r>
              <a:rPr lang="en-US" dirty="0">
                <a:latin typeface="+mj-lt"/>
              </a:rPr>
              <a:t> — Privacy-preserving breach search where only a hash prefix of the user's identifier is shared with the server. Candidate matches are returned, while exact verification is performed without exposing the complete identifier.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• </a:t>
            </a:r>
            <a:r>
              <a:rPr lang="en-US" b="1" dirty="0">
                <a:latin typeface="+mj-lt"/>
              </a:rPr>
              <a:t>Admin &amp; Gateway Module</a:t>
            </a:r>
            <a:r>
              <a:rPr lang="en-US" dirty="0">
                <a:latin typeface="+mj-lt"/>
              </a:rPr>
              <a:t> — Role-based administrative controls with Android SMS Gateway integration for OTP delivery. Device registration and communication are secured using signed JWT tokens.</a:t>
            </a:r>
          </a:p>
        </p:txBody>
      </p:sp>
    </p:spTree>
    <p:extLst>
      <p:ext uri="{BB962C8B-B14F-4D97-AF65-F5344CB8AC3E}">
        <p14:creationId xmlns:p14="http://schemas.microsoft.com/office/powerpoint/2010/main" val="1315074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ISE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743200" y="0"/>
            <a:ext cx="8229600" cy="1143000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581AA"/>
              </a:buClr>
              <a:buSzPts val="2800"/>
              <a:buFont typeface="Calibri"/>
              <a:buNone/>
            </a:pPr>
            <a:r>
              <a:rPr lang="en-US" sz="4400" b="1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95463" y="868680"/>
            <a:ext cx="4450000" cy="5119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</a:pPr>
            <a:r>
              <a:rPr sz="800" dirty="0">
                <a:latin typeface="+mj-lt"/>
              </a:rPr>
              <a:t>[1] A. </a:t>
            </a:r>
            <a:r>
              <a:rPr sz="800" dirty="0" err="1">
                <a:latin typeface="+mj-lt"/>
              </a:rPr>
              <a:t>Aljofey</a:t>
            </a:r>
            <a:r>
              <a:rPr sz="800" dirty="0">
                <a:latin typeface="+mj-lt"/>
              </a:rPr>
              <a:t>, Q. Jiang, Q. Qu, M. Huang, and J.-P. </a:t>
            </a:r>
            <a:r>
              <a:rPr sz="800" dirty="0" err="1">
                <a:latin typeface="+mj-lt"/>
              </a:rPr>
              <a:t>Niyigena</a:t>
            </a:r>
            <a:r>
              <a:rPr sz="800" dirty="0">
                <a:latin typeface="+mj-lt"/>
              </a:rPr>
              <a:t>, "An effective phishing detection model based on character level CNN from URL," Electronics, vol. 9, no. 9, p. 1514, 2020.</a:t>
            </a:r>
          </a:p>
          <a:p>
            <a:pPr algn="just">
              <a:spcAft>
                <a:spcPts val="400"/>
              </a:spcAft>
            </a:pPr>
            <a:r>
              <a:rPr sz="800" dirty="0">
                <a:latin typeface="+mj-lt"/>
              </a:rPr>
              <a:t>[2] Z. </a:t>
            </a:r>
            <a:r>
              <a:rPr sz="800" dirty="0" err="1">
                <a:latin typeface="+mj-lt"/>
              </a:rPr>
              <a:t>Alshingiti</a:t>
            </a:r>
            <a:r>
              <a:rPr sz="800" dirty="0">
                <a:latin typeface="+mj-lt"/>
              </a:rPr>
              <a:t>, R. </a:t>
            </a:r>
            <a:r>
              <a:rPr sz="800" dirty="0" err="1">
                <a:latin typeface="+mj-lt"/>
              </a:rPr>
              <a:t>Alaqel</a:t>
            </a:r>
            <a:r>
              <a:rPr sz="800" dirty="0">
                <a:latin typeface="+mj-lt"/>
              </a:rPr>
              <a:t>, J. Al-</a:t>
            </a:r>
            <a:r>
              <a:rPr sz="800" dirty="0" err="1">
                <a:latin typeface="+mj-lt"/>
              </a:rPr>
              <a:t>Muhtadi</a:t>
            </a:r>
            <a:r>
              <a:rPr sz="800" dirty="0">
                <a:latin typeface="+mj-lt"/>
              </a:rPr>
              <a:t>, Q. E. U. </a:t>
            </a:r>
            <a:r>
              <a:rPr sz="800" dirty="0" err="1">
                <a:latin typeface="+mj-lt"/>
              </a:rPr>
              <a:t>Haq</a:t>
            </a:r>
            <a:r>
              <a:rPr sz="800" dirty="0">
                <a:latin typeface="+mj-lt"/>
              </a:rPr>
              <a:t>, K. </a:t>
            </a:r>
            <a:r>
              <a:rPr sz="800" dirty="0" err="1">
                <a:latin typeface="+mj-lt"/>
              </a:rPr>
              <a:t>Saleem</a:t>
            </a:r>
            <a:r>
              <a:rPr sz="800" dirty="0">
                <a:latin typeface="+mj-lt"/>
              </a:rPr>
              <a:t>, and M. H. Faheem, "A deep learning-based phishing detection system using CNN, LSTM, and LSTM-CNN," Electronics, vol. 12, no. 1, p. 232, 2023.</a:t>
            </a:r>
          </a:p>
          <a:p>
            <a:pPr algn="just">
              <a:spcAft>
                <a:spcPts val="400"/>
              </a:spcAft>
            </a:pPr>
            <a:r>
              <a:rPr sz="800" dirty="0">
                <a:latin typeface="+mj-lt"/>
              </a:rPr>
              <a:t>[3] Y. Su, "Research on website phishing detection based on LSTM RNN," in Proc. 2020 IEEE 4th ITNEC, 2020, pp. 284–288, </a:t>
            </a:r>
            <a:r>
              <a:rPr sz="800" dirty="0" err="1">
                <a:latin typeface="+mj-lt"/>
              </a:rPr>
              <a:t>doi</a:t>
            </a:r>
            <a:r>
              <a:rPr sz="800" dirty="0">
                <a:latin typeface="+mj-lt"/>
              </a:rPr>
              <a:t>: 10.1109/ITNEC48623.2020.9084799.</a:t>
            </a:r>
          </a:p>
          <a:p>
            <a:pPr algn="just">
              <a:spcAft>
                <a:spcPts val="400"/>
              </a:spcAft>
            </a:pPr>
            <a:r>
              <a:rPr sz="800" dirty="0">
                <a:latin typeface="+mj-lt"/>
              </a:rPr>
              <a:t>[4] O. K. </a:t>
            </a:r>
            <a:r>
              <a:rPr sz="800" dirty="0" err="1">
                <a:latin typeface="+mj-lt"/>
              </a:rPr>
              <a:t>Sahingoz</a:t>
            </a:r>
            <a:r>
              <a:rPr sz="800" dirty="0">
                <a:latin typeface="+mj-lt"/>
              </a:rPr>
              <a:t>, E. Buber, O. </a:t>
            </a:r>
            <a:r>
              <a:rPr sz="800" dirty="0" err="1">
                <a:latin typeface="+mj-lt"/>
              </a:rPr>
              <a:t>Demir</a:t>
            </a:r>
            <a:r>
              <a:rPr sz="800" dirty="0">
                <a:latin typeface="+mj-lt"/>
              </a:rPr>
              <a:t>, and B. </a:t>
            </a:r>
            <a:r>
              <a:rPr sz="800" dirty="0" err="1">
                <a:latin typeface="+mj-lt"/>
              </a:rPr>
              <a:t>Diri</a:t>
            </a:r>
            <a:r>
              <a:rPr sz="800" dirty="0">
                <a:latin typeface="+mj-lt"/>
              </a:rPr>
              <a:t>, "Machine learning based phishing detection from URLs," Expert Syst. Appl., vol. 117, pp. 345–357, 2019.</a:t>
            </a:r>
          </a:p>
          <a:p>
            <a:pPr algn="just">
              <a:spcAft>
                <a:spcPts val="400"/>
              </a:spcAft>
            </a:pPr>
            <a:r>
              <a:rPr sz="800" dirty="0">
                <a:latin typeface="+mj-lt"/>
              </a:rPr>
              <a:t>[5] N. Q. Do, A. </a:t>
            </a:r>
            <a:r>
              <a:rPr sz="800" dirty="0" err="1">
                <a:latin typeface="+mj-lt"/>
              </a:rPr>
              <a:t>Selamat</a:t>
            </a:r>
            <a:r>
              <a:rPr sz="800" dirty="0">
                <a:latin typeface="+mj-lt"/>
              </a:rPr>
              <a:t>, H. Fujita, and O. </a:t>
            </a:r>
            <a:r>
              <a:rPr sz="800" dirty="0" err="1">
                <a:latin typeface="+mj-lt"/>
              </a:rPr>
              <a:t>Krejcar</a:t>
            </a:r>
            <a:r>
              <a:rPr sz="800" dirty="0">
                <a:latin typeface="+mj-lt"/>
              </a:rPr>
              <a:t>, "An integrated model based on deep learning classifiers and pre-trained transformer for phishing URL detection," Future </a:t>
            </a:r>
            <a:r>
              <a:rPr sz="800" dirty="0" err="1">
                <a:latin typeface="+mj-lt"/>
              </a:rPr>
              <a:t>Gener</a:t>
            </a:r>
            <a:r>
              <a:rPr sz="800" dirty="0">
                <a:latin typeface="+mj-lt"/>
              </a:rPr>
              <a:t>. </a:t>
            </a:r>
            <a:r>
              <a:rPr sz="800" dirty="0" err="1">
                <a:latin typeface="+mj-lt"/>
              </a:rPr>
              <a:t>Comput</a:t>
            </a:r>
            <a:r>
              <a:rPr sz="800" dirty="0">
                <a:latin typeface="+mj-lt"/>
              </a:rPr>
              <a:t>. Syst., vol. 161, pp. 269–285, 2024.</a:t>
            </a:r>
          </a:p>
          <a:p>
            <a:pPr algn="just">
              <a:spcAft>
                <a:spcPts val="400"/>
              </a:spcAft>
            </a:pPr>
            <a:r>
              <a:rPr sz="800" dirty="0">
                <a:latin typeface="+mj-lt"/>
              </a:rPr>
              <a:t>[6] S. </a:t>
            </a:r>
            <a:r>
              <a:rPr sz="800" dirty="0" err="1">
                <a:latin typeface="+mj-lt"/>
              </a:rPr>
              <a:t>Alnemari</a:t>
            </a:r>
            <a:r>
              <a:rPr sz="800" dirty="0">
                <a:latin typeface="+mj-lt"/>
              </a:rPr>
              <a:t> and M. </a:t>
            </a:r>
            <a:r>
              <a:rPr sz="800" dirty="0" err="1">
                <a:latin typeface="+mj-lt"/>
              </a:rPr>
              <a:t>Alshammari</a:t>
            </a:r>
            <a:r>
              <a:rPr sz="800" dirty="0">
                <a:latin typeface="+mj-lt"/>
              </a:rPr>
              <a:t>, "Detecting phishing domains using machine learning," Appl. Sci., vol. 13, no. 8, p. 4649, 2023.</a:t>
            </a:r>
          </a:p>
          <a:p>
            <a:pPr algn="just">
              <a:spcAft>
                <a:spcPts val="400"/>
              </a:spcAft>
            </a:pPr>
            <a:r>
              <a:rPr sz="800" dirty="0">
                <a:latin typeface="+mj-lt"/>
              </a:rPr>
              <a:t>[7] C. </a:t>
            </a:r>
            <a:r>
              <a:rPr sz="800" dirty="0" err="1">
                <a:latin typeface="+mj-lt"/>
              </a:rPr>
              <a:t>Opara</a:t>
            </a:r>
            <a:r>
              <a:rPr sz="800" dirty="0">
                <a:latin typeface="+mj-lt"/>
              </a:rPr>
              <a:t>, Y. Chen, and B. Wei, "Look before you leap: Detecting phishing web pages by exploiting raw URL and HTML characteristics," Expert Syst. Appl., vol. 236, p. 121183, 2024.</a:t>
            </a:r>
          </a:p>
          <a:p>
            <a:pPr algn="just">
              <a:spcAft>
                <a:spcPts val="400"/>
              </a:spcAft>
            </a:pPr>
            <a:r>
              <a:rPr sz="800" dirty="0">
                <a:latin typeface="+mj-lt"/>
              </a:rPr>
              <a:t>[8] A. Karim, M. </a:t>
            </a:r>
            <a:r>
              <a:rPr sz="800" dirty="0" err="1">
                <a:latin typeface="+mj-lt"/>
              </a:rPr>
              <a:t>Shahroz</a:t>
            </a:r>
            <a:r>
              <a:rPr sz="800" dirty="0">
                <a:latin typeface="+mj-lt"/>
              </a:rPr>
              <a:t>, K. </a:t>
            </a:r>
            <a:r>
              <a:rPr sz="800" dirty="0" err="1">
                <a:latin typeface="+mj-lt"/>
              </a:rPr>
              <a:t>Mustofa</a:t>
            </a:r>
            <a:r>
              <a:rPr sz="800" dirty="0">
                <a:latin typeface="+mj-lt"/>
              </a:rPr>
              <a:t>, S. B. </a:t>
            </a:r>
            <a:r>
              <a:rPr sz="800" dirty="0" err="1">
                <a:latin typeface="+mj-lt"/>
              </a:rPr>
              <a:t>Belhaouari</a:t>
            </a:r>
            <a:r>
              <a:rPr sz="800" dirty="0">
                <a:latin typeface="+mj-lt"/>
              </a:rPr>
              <a:t>, and S. R. K. </a:t>
            </a:r>
            <a:r>
              <a:rPr sz="800" dirty="0" err="1">
                <a:latin typeface="+mj-lt"/>
              </a:rPr>
              <a:t>Joga</a:t>
            </a:r>
            <a:r>
              <a:rPr sz="800" dirty="0">
                <a:latin typeface="+mj-lt"/>
              </a:rPr>
              <a:t>, "Phishing detection system through hybrid machine learning based on URL," IEEE Access, vol. 11, pp. 36805–36822, 2023.</a:t>
            </a:r>
          </a:p>
          <a:p>
            <a:pPr algn="just">
              <a:spcAft>
                <a:spcPts val="400"/>
              </a:spcAft>
            </a:pPr>
            <a:r>
              <a:rPr sz="800" dirty="0">
                <a:latin typeface="+mj-lt"/>
              </a:rPr>
              <a:t>[9] E. A. </a:t>
            </a:r>
            <a:r>
              <a:rPr sz="800" dirty="0" err="1">
                <a:latin typeface="+mj-lt"/>
              </a:rPr>
              <a:t>Aldakheel</a:t>
            </a:r>
            <a:r>
              <a:rPr sz="800" dirty="0">
                <a:latin typeface="+mj-lt"/>
              </a:rPr>
              <a:t>, M. </a:t>
            </a:r>
            <a:r>
              <a:rPr sz="800" dirty="0" err="1">
                <a:latin typeface="+mj-lt"/>
              </a:rPr>
              <a:t>Zakariah</a:t>
            </a:r>
            <a:r>
              <a:rPr sz="800" dirty="0">
                <a:latin typeface="+mj-lt"/>
              </a:rPr>
              <a:t>, G. A. </a:t>
            </a:r>
            <a:r>
              <a:rPr sz="800" dirty="0" err="1">
                <a:latin typeface="+mj-lt"/>
              </a:rPr>
              <a:t>Gashgari</a:t>
            </a:r>
            <a:r>
              <a:rPr sz="800" dirty="0">
                <a:latin typeface="+mj-lt"/>
              </a:rPr>
              <a:t>, F. A. </a:t>
            </a:r>
            <a:r>
              <a:rPr sz="800" dirty="0" err="1">
                <a:latin typeface="+mj-lt"/>
              </a:rPr>
              <a:t>Almarshad</a:t>
            </a:r>
            <a:r>
              <a:rPr sz="800" dirty="0">
                <a:latin typeface="+mj-lt"/>
              </a:rPr>
              <a:t>, and A. I. A. </a:t>
            </a:r>
            <a:r>
              <a:rPr sz="800" dirty="0" err="1">
                <a:latin typeface="+mj-lt"/>
              </a:rPr>
              <a:t>Alzahrani</a:t>
            </a:r>
            <a:r>
              <a:rPr sz="800" dirty="0">
                <a:latin typeface="+mj-lt"/>
              </a:rPr>
              <a:t>, "A deep learning-based innovative technique for phishing detection using URLs," Sensors, vol. 23, no. 9, p. 4403, 2023.</a:t>
            </a:r>
          </a:p>
          <a:p>
            <a:pPr algn="just">
              <a:spcAft>
                <a:spcPts val="400"/>
              </a:spcAft>
            </a:pPr>
            <a:r>
              <a:rPr sz="800" dirty="0">
                <a:latin typeface="+mj-lt"/>
              </a:rPr>
              <a:t>[10] M. Sánchez-</a:t>
            </a:r>
            <a:r>
              <a:rPr sz="800" dirty="0" err="1">
                <a:latin typeface="+mj-lt"/>
              </a:rPr>
              <a:t>Paniagua</a:t>
            </a:r>
            <a:r>
              <a:rPr sz="800" dirty="0">
                <a:latin typeface="+mj-lt"/>
              </a:rPr>
              <a:t>, E. F. </a:t>
            </a:r>
            <a:r>
              <a:rPr sz="800" dirty="0" err="1">
                <a:latin typeface="+mj-lt"/>
              </a:rPr>
              <a:t>Fernández</a:t>
            </a:r>
            <a:r>
              <a:rPr sz="800" dirty="0">
                <a:latin typeface="+mj-lt"/>
              </a:rPr>
              <a:t>, E. Alegre, W. Al-</a:t>
            </a:r>
            <a:r>
              <a:rPr sz="800" dirty="0" err="1">
                <a:latin typeface="+mj-lt"/>
              </a:rPr>
              <a:t>Nabki</a:t>
            </a:r>
            <a:r>
              <a:rPr sz="800" dirty="0">
                <a:latin typeface="+mj-lt"/>
              </a:rPr>
              <a:t>, and V. González-Castro, "Phishing URL detection: A real-case scenario through login URLs," IEEE Access, vol. 10, pp. 42949–42960, 2022.</a:t>
            </a:r>
          </a:p>
          <a:p>
            <a:pPr algn="just">
              <a:spcAft>
                <a:spcPts val="400"/>
              </a:spcAft>
            </a:pPr>
            <a:r>
              <a:rPr sz="800" dirty="0">
                <a:latin typeface="+mj-lt"/>
              </a:rPr>
              <a:t>[11] Y. Liu et al., "Identifying, collecting, and monitoring personally identifiable information: From the dark web to the surface web," in Proc. 2020 IEEE ISI, 2020, </a:t>
            </a:r>
            <a:r>
              <a:rPr sz="800" dirty="0" err="1">
                <a:latin typeface="+mj-lt"/>
              </a:rPr>
              <a:t>doi</a:t>
            </a:r>
            <a:r>
              <a:rPr sz="800" dirty="0">
                <a:latin typeface="+mj-lt"/>
              </a:rPr>
              <a:t>: 10.1109/ISI49825.2020.9280540.</a:t>
            </a:r>
          </a:p>
          <a:p>
            <a:pPr algn="just">
              <a:spcAft>
                <a:spcPts val="400"/>
              </a:spcAft>
            </a:pPr>
            <a:r>
              <a:rPr sz="800" dirty="0">
                <a:latin typeface="+mj-lt"/>
              </a:rPr>
              <a:t>[12] M. </a:t>
            </a:r>
            <a:r>
              <a:rPr sz="800" dirty="0" err="1">
                <a:latin typeface="+mj-lt"/>
              </a:rPr>
              <a:t>Almukaynizi</a:t>
            </a:r>
            <a:r>
              <a:rPr sz="800" dirty="0">
                <a:latin typeface="+mj-lt"/>
              </a:rPr>
              <a:t> et al., "</a:t>
            </a:r>
            <a:r>
              <a:rPr sz="800" dirty="0" err="1">
                <a:latin typeface="+mj-lt"/>
              </a:rPr>
              <a:t>DarkMention</a:t>
            </a:r>
            <a:r>
              <a:rPr sz="800" dirty="0">
                <a:latin typeface="+mj-lt"/>
              </a:rPr>
              <a:t>: A deployed system to predict enterprise-targeted external cyberattacks," in Proc. 2018 IEEE ISI, 2018, pp. 31–36.</a:t>
            </a:r>
          </a:p>
          <a:p>
            <a:pPr algn="just">
              <a:spcAft>
                <a:spcPts val="400"/>
              </a:spcAft>
            </a:pPr>
            <a:r>
              <a:rPr sz="800" dirty="0">
                <a:latin typeface="+mj-lt"/>
              </a:rPr>
              <a:t>[13] R. Williams, S. </a:t>
            </a:r>
            <a:r>
              <a:rPr sz="800" dirty="0" err="1">
                <a:latin typeface="+mj-lt"/>
              </a:rPr>
              <a:t>Samtani</a:t>
            </a:r>
            <a:r>
              <a:rPr sz="800" dirty="0">
                <a:latin typeface="+mj-lt"/>
              </a:rPr>
              <a:t>, M. Patton, and H. Chen, "Incremental hacker forum exploit collection and classification for proactive cyber threat intelligence," in Proc. 2018 IEEE ISI, 2018, pp. 94–99.</a:t>
            </a:r>
          </a:p>
          <a:p>
            <a:pPr algn="just">
              <a:spcAft>
                <a:spcPts val="400"/>
              </a:spcAft>
            </a:pPr>
            <a:r>
              <a:rPr sz="800" dirty="0">
                <a:latin typeface="+mj-lt"/>
              </a:rPr>
              <a:t>[14] M. </a:t>
            </a:r>
            <a:r>
              <a:rPr sz="800" dirty="0" err="1">
                <a:latin typeface="+mj-lt"/>
              </a:rPr>
              <a:t>Schäfer</a:t>
            </a:r>
            <a:r>
              <a:rPr sz="800" dirty="0">
                <a:latin typeface="+mj-lt"/>
              </a:rPr>
              <a:t>, M. Fuchs, M. </a:t>
            </a:r>
            <a:r>
              <a:rPr sz="800" dirty="0" err="1">
                <a:latin typeface="+mj-lt"/>
              </a:rPr>
              <a:t>Strohmeier</a:t>
            </a:r>
            <a:r>
              <a:rPr sz="800" dirty="0">
                <a:latin typeface="+mj-lt"/>
              </a:rPr>
              <a:t>, M. Engel, M. </a:t>
            </a:r>
            <a:r>
              <a:rPr sz="800" dirty="0" err="1">
                <a:latin typeface="+mj-lt"/>
              </a:rPr>
              <a:t>Liechti</a:t>
            </a:r>
            <a:r>
              <a:rPr sz="800" dirty="0">
                <a:latin typeface="+mj-lt"/>
              </a:rPr>
              <a:t>, and V. Lenders, "</a:t>
            </a:r>
            <a:r>
              <a:rPr sz="800" dirty="0" err="1">
                <a:latin typeface="+mj-lt"/>
              </a:rPr>
              <a:t>BlackWidow</a:t>
            </a:r>
            <a:r>
              <a:rPr sz="800" dirty="0">
                <a:latin typeface="+mj-lt"/>
              </a:rPr>
              <a:t>: Monitoring the dark web for cyber security information," in Proc. 2019 11th Int. Conf. Cyber Conflict, vol. 900, 2019, pp. 1–21.</a:t>
            </a:r>
          </a:p>
          <a:p>
            <a:pPr algn="just">
              <a:spcAft>
                <a:spcPts val="400"/>
              </a:spcAft>
            </a:pPr>
            <a:r>
              <a:rPr sz="800" dirty="0">
                <a:latin typeface="+mj-lt"/>
              </a:rPr>
              <a:t>[15] S. </a:t>
            </a:r>
            <a:r>
              <a:rPr sz="800" dirty="0" err="1">
                <a:latin typeface="+mj-lt"/>
              </a:rPr>
              <a:t>Samtani</a:t>
            </a:r>
            <a:r>
              <a:rPr sz="800" dirty="0">
                <a:latin typeface="+mj-lt"/>
              </a:rPr>
              <a:t>, H. Zhu, and H. Chen, "Proactively identifying emerging hacker threats from the dark web: A diachronic graph embedding framework," ACM Trans. Privacy Security, vol. 23, no. 4, pp. 1–33, 2020.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93200" y="868680"/>
            <a:ext cx="4189187" cy="462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</a:pPr>
            <a:r>
              <a:rPr sz="800" dirty="0"/>
              <a:t>[16] Z. Liu, Q. Wang, T. Wang, and Y. Yang, "Data integrity audit scheme based on quad </a:t>
            </a:r>
            <a:r>
              <a:rPr sz="800" dirty="0" err="1"/>
              <a:t>Merkle</a:t>
            </a:r>
            <a:r>
              <a:rPr sz="800" dirty="0"/>
              <a:t> tree and blockchain," IEEE Access, vol. 11, 2023, </a:t>
            </a:r>
            <a:r>
              <a:rPr sz="800" dirty="0" err="1"/>
              <a:t>doi</a:t>
            </a:r>
            <a:r>
              <a:rPr sz="800" dirty="0"/>
              <a:t>: 10.1109/ACCESS.2023.3240066.</a:t>
            </a:r>
          </a:p>
          <a:p>
            <a:pPr algn="just">
              <a:spcAft>
                <a:spcPts val="400"/>
              </a:spcAft>
            </a:pPr>
            <a:r>
              <a:rPr sz="800" dirty="0"/>
              <a:t>[17] A. Ahmad, M. </a:t>
            </a:r>
            <a:r>
              <a:rPr sz="800" dirty="0" err="1"/>
              <a:t>Saad</a:t>
            </a:r>
            <a:r>
              <a:rPr sz="800" dirty="0"/>
              <a:t>, M. </a:t>
            </a:r>
            <a:r>
              <a:rPr sz="800" dirty="0" err="1"/>
              <a:t>Bassiouni</a:t>
            </a:r>
            <a:r>
              <a:rPr sz="800" dirty="0"/>
              <a:t>, and A. </a:t>
            </a:r>
            <a:r>
              <a:rPr sz="800" dirty="0" err="1"/>
              <a:t>Mohaisen</a:t>
            </a:r>
            <a:r>
              <a:rPr sz="800" dirty="0"/>
              <a:t>, "Towards blockchain-driven, secure and transparent audit logs," in Proc. 15th EAI </a:t>
            </a:r>
            <a:r>
              <a:rPr sz="800" dirty="0" err="1"/>
              <a:t>MobiQuitous</a:t>
            </a:r>
            <a:r>
              <a:rPr sz="800" dirty="0"/>
              <a:t>, 2018.</a:t>
            </a:r>
          </a:p>
          <a:p>
            <a:pPr algn="just">
              <a:spcAft>
                <a:spcPts val="400"/>
              </a:spcAft>
            </a:pPr>
            <a:r>
              <a:rPr sz="800" dirty="0"/>
              <a:t>[18] A. Ahmad, M. </a:t>
            </a:r>
            <a:r>
              <a:rPr sz="800" dirty="0" err="1"/>
              <a:t>Saad</a:t>
            </a:r>
            <a:r>
              <a:rPr sz="800" dirty="0"/>
              <a:t>, and A. </a:t>
            </a:r>
            <a:r>
              <a:rPr sz="800" dirty="0" err="1"/>
              <a:t>Mohaisen</a:t>
            </a:r>
            <a:r>
              <a:rPr sz="800" dirty="0"/>
              <a:t>, "</a:t>
            </a:r>
            <a:r>
              <a:rPr sz="800" dirty="0" err="1"/>
              <a:t>BlockTrail</a:t>
            </a:r>
            <a:r>
              <a:rPr sz="800" dirty="0"/>
              <a:t>: A scalable </a:t>
            </a:r>
            <a:r>
              <a:rPr sz="800" dirty="0" err="1"/>
              <a:t>multichain</a:t>
            </a:r>
            <a:r>
              <a:rPr sz="800" dirty="0"/>
              <a:t> solution for blockchain-based audit trails," in Proc. 2019 IEEE ICC, 2019.</a:t>
            </a:r>
          </a:p>
          <a:p>
            <a:pPr algn="just">
              <a:spcAft>
                <a:spcPts val="400"/>
              </a:spcAft>
            </a:pPr>
            <a:r>
              <a:rPr sz="800" dirty="0"/>
              <a:t>[19] A. </a:t>
            </a:r>
            <a:r>
              <a:rPr sz="800" dirty="0" err="1"/>
              <a:t>Margheri</a:t>
            </a:r>
            <a:r>
              <a:rPr sz="800" dirty="0"/>
              <a:t> and V. </a:t>
            </a:r>
            <a:r>
              <a:rPr sz="800" dirty="0" err="1"/>
              <a:t>Sassone</a:t>
            </a:r>
            <a:r>
              <a:rPr sz="800" dirty="0"/>
              <a:t>, "A prototype evaluation of a tamper-resistant high performance blockchain-based transaction log for a distributed database," in Proc. 2017 13th Eur. Dependable </a:t>
            </a:r>
            <a:r>
              <a:rPr sz="800" dirty="0" err="1"/>
              <a:t>Comput</a:t>
            </a:r>
            <a:r>
              <a:rPr sz="800" dirty="0"/>
              <a:t>. Conf., 2017.</a:t>
            </a:r>
          </a:p>
          <a:p>
            <a:pPr algn="just">
              <a:spcAft>
                <a:spcPts val="400"/>
              </a:spcAft>
            </a:pPr>
            <a:r>
              <a:rPr sz="800" dirty="0"/>
              <a:t>[20] P. Zhang and J. Wang, "Blockchain based data integrity verification for large-scale </a:t>
            </a:r>
            <a:r>
              <a:rPr sz="800" dirty="0" err="1"/>
              <a:t>IoT</a:t>
            </a:r>
            <a:r>
              <a:rPr sz="800" dirty="0"/>
              <a:t> data," IEEE Access, vol. 7, pp. 164401–164411, 2019, </a:t>
            </a:r>
            <a:r>
              <a:rPr sz="800" dirty="0" err="1"/>
              <a:t>doi</a:t>
            </a:r>
            <a:r>
              <a:rPr sz="800" dirty="0"/>
              <a:t>: 10.1109/ACCESS.2019.2952847.</a:t>
            </a:r>
          </a:p>
          <a:p>
            <a:pPr algn="just">
              <a:spcAft>
                <a:spcPts val="400"/>
              </a:spcAft>
            </a:pPr>
            <a:r>
              <a:rPr sz="800" dirty="0"/>
              <a:t>[21] R. C. </a:t>
            </a:r>
            <a:r>
              <a:rPr sz="800" dirty="0" err="1"/>
              <a:t>Merkle</a:t>
            </a:r>
            <a:r>
              <a:rPr sz="800" dirty="0"/>
              <a:t>, "A digital signature based on a conventional encryption function," in Advances in Cryptology—CRYPTO ’87, 1988.</a:t>
            </a:r>
          </a:p>
          <a:p>
            <a:pPr algn="just">
              <a:spcAft>
                <a:spcPts val="400"/>
              </a:spcAft>
            </a:pPr>
            <a:r>
              <a:rPr sz="800" dirty="0"/>
              <a:t>[22] L. Sweeney, "k-anonymity: A model for protecting privacy," Int. J. Uncertainty, Fuzziness Knowledge-Based Syst., vol. 10, no. 5, pp. 557–570, 2002.</a:t>
            </a:r>
          </a:p>
          <a:p>
            <a:pPr algn="just">
              <a:spcAft>
                <a:spcPts val="400"/>
              </a:spcAft>
            </a:pPr>
            <a:r>
              <a:rPr sz="800" dirty="0"/>
              <a:t>[23] K. El </a:t>
            </a:r>
            <a:r>
              <a:rPr sz="800" dirty="0" err="1"/>
              <a:t>Emam</a:t>
            </a:r>
            <a:r>
              <a:rPr sz="800" dirty="0"/>
              <a:t> and F. K. </a:t>
            </a:r>
            <a:r>
              <a:rPr sz="800" dirty="0" err="1"/>
              <a:t>Dankar</a:t>
            </a:r>
            <a:r>
              <a:rPr sz="800" dirty="0"/>
              <a:t>, "Protecting privacy using k-anonymity," J. Amer. Med. Inform. Assoc., vol. 15, no. 5, pp. 627–637, 2008, </a:t>
            </a:r>
            <a:r>
              <a:rPr sz="800" dirty="0" err="1"/>
              <a:t>doi</a:t>
            </a:r>
            <a:r>
              <a:rPr sz="800" dirty="0"/>
              <a:t>: 10.1197/jamia.M2716.</a:t>
            </a:r>
          </a:p>
          <a:p>
            <a:pPr algn="just">
              <a:spcAft>
                <a:spcPts val="400"/>
              </a:spcAft>
            </a:pPr>
            <a:r>
              <a:rPr sz="800" dirty="0"/>
              <a:t>[24] "Analysis of privacy preserving k-anonymity methods and techniques," in Proc. 2011 3rd Int. Conf. </a:t>
            </a:r>
            <a:r>
              <a:rPr sz="800" dirty="0" err="1"/>
              <a:t>Commun</a:t>
            </a:r>
            <a:r>
              <a:rPr sz="800" dirty="0"/>
              <a:t>. Syst. </a:t>
            </a:r>
            <a:r>
              <a:rPr sz="800" dirty="0" err="1"/>
              <a:t>Netw</a:t>
            </a:r>
            <a:r>
              <a:rPr sz="800" dirty="0"/>
              <a:t>. Technol., IEEE, 2011.</a:t>
            </a:r>
          </a:p>
          <a:p>
            <a:pPr algn="just">
              <a:spcAft>
                <a:spcPts val="400"/>
              </a:spcAft>
            </a:pPr>
            <a:r>
              <a:rPr sz="800" dirty="0"/>
              <a:t>[25] "Multi-level privacy preserving k-anonymity," IEEE Conf. Publication, IEEE </a:t>
            </a:r>
            <a:r>
              <a:rPr sz="800" dirty="0" err="1"/>
              <a:t>Xplore</a:t>
            </a:r>
            <a:r>
              <a:rPr sz="800" dirty="0"/>
              <a:t>, 2021.</a:t>
            </a:r>
          </a:p>
          <a:p>
            <a:pPr algn="just">
              <a:spcAft>
                <a:spcPts val="400"/>
              </a:spcAft>
            </a:pPr>
            <a:r>
              <a:rPr sz="800" dirty="0"/>
              <a:t>[26] T. Chen and C. </a:t>
            </a:r>
            <a:r>
              <a:rPr sz="800" dirty="0" err="1"/>
              <a:t>Guestrin</a:t>
            </a:r>
            <a:r>
              <a:rPr sz="800" dirty="0"/>
              <a:t>, "</a:t>
            </a:r>
            <a:r>
              <a:rPr sz="800" dirty="0" err="1"/>
              <a:t>XGBoost</a:t>
            </a:r>
            <a:r>
              <a:rPr sz="800" dirty="0"/>
              <a:t>: A scalable tree boosting system," in Proc. 22nd ACM SIGKDD Int. Conf. </a:t>
            </a:r>
            <a:r>
              <a:rPr sz="800" dirty="0" err="1"/>
              <a:t>Knowl</a:t>
            </a:r>
            <a:r>
              <a:rPr sz="800" dirty="0"/>
              <a:t>. Discovery Data Mining, 2016, pp. 785–794, </a:t>
            </a:r>
            <a:r>
              <a:rPr sz="800" dirty="0" err="1"/>
              <a:t>doi</a:t>
            </a:r>
            <a:r>
              <a:rPr sz="800" dirty="0"/>
              <a:t>: 10.1145/2939672.2939785.</a:t>
            </a:r>
          </a:p>
          <a:p>
            <a:pPr algn="just">
              <a:spcAft>
                <a:spcPts val="400"/>
              </a:spcAft>
            </a:pPr>
            <a:r>
              <a:rPr sz="800" dirty="0"/>
              <a:t>[27] "Extreme gradient boosting based tuning for classification in intrusion detection systems," in Proc. Int. Conf. </a:t>
            </a:r>
            <a:r>
              <a:rPr sz="800" dirty="0" err="1"/>
              <a:t>Comput</a:t>
            </a:r>
            <a:r>
              <a:rPr sz="800" dirty="0"/>
              <a:t>. </a:t>
            </a:r>
            <a:r>
              <a:rPr sz="800" dirty="0" err="1"/>
              <a:t>Intell</a:t>
            </a:r>
            <a:r>
              <a:rPr sz="800" dirty="0"/>
              <a:t>. </a:t>
            </a:r>
            <a:r>
              <a:rPr sz="800" dirty="0" err="1"/>
              <a:t>Commun</a:t>
            </a:r>
            <a:r>
              <a:rPr sz="800" dirty="0"/>
              <a:t>. Bus. Analytics, Springer, 2018.</a:t>
            </a:r>
          </a:p>
          <a:p>
            <a:pPr algn="just">
              <a:spcAft>
                <a:spcPts val="400"/>
              </a:spcAft>
            </a:pPr>
            <a:r>
              <a:rPr sz="800" dirty="0"/>
              <a:t>[28] "Enhancing Internet of Things security using performance gradient boosting for network intrusion detection systems," Ain Shams Eng. J., </a:t>
            </a:r>
            <a:r>
              <a:rPr sz="800" dirty="0" err="1"/>
              <a:t>ScienceDirect</a:t>
            </a:r>
            <a:r>
              <a:rPr sz="800" dirty="0"/>
              <a:t>, 2024.</a:t>
            </a:r>
          </a:p>
          <a:p>
            <a:pPr algn="just">
              <a:spcAft>
                <a:spcPts val="400"/>
              </a:spcAft>
            </a:pPr>
            <a:r>
              <a:rPr sz="800" dirty="0"/>
              <a:t>[29] "On using </a:t>
            </a:r>
            <a:r>
              <a:rPr sz="800" dirty="0" err="1"/>
              <a:t>eXtreme</a:t>
            </a:r>
            <a:r>
              <a:rPr sz="800" dirty="0"/>
              <a:t> Gradient Boosting (</a:t>
            </a:r>
            <a:r>
              <a:rPr sz="800" dirty="0" err="1"/>
              <a:t>XGBoost</a:t>
            </a:r>
            <a:r>
              <a:rPr sz="800" dirty="0"/>
              <a:t>) machine learning algorithm for home network traffic classification," in Proc. IEEE Conf., 2019, </a:t>
            </a:r>
            <a:r>
              <a:rPr sz="800" dirty="0" err="1"/>
              <a:t>doi</a:t>
            </a:r>
            <a:r>
              <a:rPr sz="800" dirty="0"/>
              <a:t>: 10.1109/access.</a:t>
            </a:r>
          </a:p>
          <a:p>
            <a:pPr algn="just">
              <a:spcAft>
                <a:spcPts val="400"/>
              </a:spcAft>
            </a:pPr>
            <a:r>
              <a:rPr sz="800" dirty="0"/>
              <a:t>[30] OWASP Foundation, "Testing JSON Web Tokens," OWASP Web Security Testing Guide (WSTG), 2024. [Online]. Available: https://owasp.org/www-project-web-security-testing-guide/</a:t>
            </a:r>
          </a:p>
        </p:txBody>
      </p:sp>
    </p:spTree>
    <p:extLst>
      <p:ext uri="{BB962C8B-B14F-4D97-AF65-F5344CB8AC3E}">
        <p14:creationId xmlns:p14="http://schemas.microsoft.com/office/powerpoint/2010/main" val="3774374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ISE</a:t>
            </a:r>
          </a:p>
        </p:txBody>
      </p:sp>
      <p:pic>
        <p:nvPicPr>
          <p:cNvPr id="9" name="Google Shape;152;p12" descr="Icon">
            <a:extLst>
              <a:ext uri="{FF2B5EF4-FFF2-40B4-BE49-F238E27FC236}">
                <a16:creationId xmlns:a16="http://schemas.microsoft.com/office/drawing/2014/main" xmlns="" id="{FDAFB584-BF40-37EB-175E-1830A3AC319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00634" y="1463754"/>
            <a:ext cx="3612192" cy="32129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32394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3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ISE</a:t>
            </a:r>
          </a:p>
        </p:txBody>
      </p:sp>
      <p:pic>
        <p:nvPicPr>
          <p:cNvPr id="2" name="Google Shape;160;p13" descr="A picture containing text, stationary, writing implement, pen">
            <a:extLst>
              <a:ext uri="{FF2B5EF4-FFF2-40B4-BE49-F238E27FC236}">
                <a16:creationId xmlns:a16="http://schemas.microsoft.com/office/drawing/2014/main" xmlns="" id="{579D041A-6922-0AD4-4281-0C6415314B1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13339" y="1805439"/>
            <a:ext cx="7017705" cy="32471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8064255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Custom 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2170</Words>
  <Application>Microsoft Office PowerPoint</Application>
  <PresentationFormat>Widescreen</PresentationFormat>
  <Paragraphs>126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</vt:lpstr>
      <vt:lpstr>Calibri</vt:lpstr>
      <vt:lpstr>Calibri Light</vt:lpstr>
      <vt:lpstr>Futura Cyrillic Book</vt:lpstr>
      <vt:lpstr>Graphik</vt:lpstr>
      <vt:lpstr>Times New Roman</vt:lpstr>
      <vt:lpstr>1_Custom Design</vt:lpstr>
      <vt:lpstr>Custom Design</vt:lpstr>
      <vt:lpstr>2_Custom Design</vt:lpstr>
      <vt:lpstr>3_Custom Design</vt:lpstr>
      <vt:lpstr>PowerPoint Presentation</vt:lpstr>
      <vt:lpstr>Agenda</vt:lpstr>
      <vt:lpstr>ABSTRACT</vt:lpstr>
      <vt:lpstr>INTRODUCTION</vt:lpstr>
      <vt:lpstr>PROBLEM STATEMENT</vt:lpstr>
      <vt:lpstr>REQUIREMENT SPECIFICATION</vt:lpstr>
      <vt:lpstr>REQUIREMENT SPECIFICATION</vt:lpstr>
      <vt:lpstr>SYSTEM DESIGN – DATA FLOW DIAGRAM</vt:lpstr>
      <vt:lpstr>SYSTEM DESIGN – CLASS DIAGRAM</vt:lpstr>
      <vt:lpstr>SYSTEM DESIGN – SEQUENCE DIAGRAM</vt:lpstr>
      <vt:lpstr>IMPLEMENTATION</vt:lpstr>
      <vt:lpstr>REFERENCES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Principal aip</dc:creator>
  <cp:lastModifiedBy>Microsoft account</cp:lastModifiedBy>
  <cp:revision>57</cp:revision>
  <dcterms:created xsi:type="dcterms:W3CDTF">2021-09-07T04:22:00Z</dcterms:created>
  <dcterms:modified xsi:type="dcterms:W3CDTF">2026-09-09T05:21:17Z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0398283ACE364599A240D38F3F474187_13</vt:lpwstr>
  </property>
  <property fmtid="{D5CDD505-2E9C-101B-9397-08002B2CF9AE}" pid="3" name="KSOProductBuildVer">
    <vt:lpwstr>1033-12.2.0.13489</vt:lpwstr>
  </property>
</Properties>
</file>