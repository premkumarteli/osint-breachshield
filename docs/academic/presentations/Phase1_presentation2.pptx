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77" r:id="rId7"/>
    <p:sldId id="283" r:id="rId8"/>
    <p:sldId id="260" r:id="rId9"/>
    <p:sldId id="284" r:id="rId10"/>
    <p:sldId id="261" r:id="rId11"/>
    <p:sldId id="285" r:id="rId12"/>
    <p:sldId id="282" r:id="rId13"/>
    <p:sldId id="270" r:id="rId14"/>
    <p:sldId id="286" r:id="rId15"/>
    <p:sldId id="267" r:id="rId16"/>
    <p:sldId id="268" r:id="rId17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g9wjYg4pY/HyKhMt35MO99UX9l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45362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1309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57842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94667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8260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6313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1267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836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0103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190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7079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2498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9911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6C7F4C-843C-B31F-6984-B15876E12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390B0EC-2550-1C96-9092-C533F387D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95350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76D170-920A-2D4E-2C5D-328923F85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5547E0-1F1B-23B9-C03F-0953AB5DD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AEDC67-AE64-C63B-B7CE-4AA8D549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6E849F-29B7-899D-3820-8F86BD90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B07280-235B-4ED5-298E-91AFFDFD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91321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6FC0DB-E068-DF61-DDA8-E88C33A0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FE3A397-B2B1-D55D-AC35-46099923A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91DC97-FC27-881A-C302-43DFC47F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878D8F-7705-7C40-8876-BC621971C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452762-5F64-A15D-A7CC-0FB472C8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62411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6FA8F8-4C93-6C45-FFA3-0CE44CA9C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04C966F-149B-29C8-59D7-567514BE9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ED2363F-78F5-7B35-F066-AF272E2DA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0062309-E80B-985C-BDDA-03ACE6AC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AD5085E-2B82-6149-4E7B-AB94F3EEE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193A52D-B2C3-0693-0D97-E8700E8C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59034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1C9BE3-B161-CDE6-0FBC-9B24B6F66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6F76472-6036-0C33-802A-E101A562F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2DE027D-9414-AE87-0606-47B274383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CC5607B-F5B0-2140-62B5-38049D226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58897D3-EAF3-1D5C-44D4-BE2D94975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FA53B1B-C430-7121-F572-605CD864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126D1BD-5319-D9BE-0D46-939882A34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F9A6116-76D8-1059-3F84-D8E57254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97224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9FB6AF-9B37-ACB1-2D61-FC38E6A7D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221F720-D105-DE9E-909B-4B47F4CCBD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CC88AEE-19B7-BD80-0B69-68BF3A77E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5834046-CE68-8199-39C8-252798D7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92086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66C08FC-5528-A37F-FFA5-BCF571AF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9CEC528-3997-C8C5-2D66-179D5788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C7F1F73-0C07-C38B-22E3-7BE16BCF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90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95ED29-4B17-1B9D-84F8-DC8B063D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6F5440-402A-D481-EC74-766C6CCED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D7797F4-7184-32C9-88E7-4D8CC2621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C5934A6-0699-7C79-008F-5EB7EA1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D8AE608-3D8E-D8E2-BCE3-7F4E8462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545A092-B516-BAA9-9210-C87D41E7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9323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051674-2773-85B9-5D13-675502CD0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2E6DBA7-288B-BB8F-6F19-2C72232DB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DBBEB4E-A422-51B8-5DD6-793D4AB09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6AA1595-DD64-C3D9-52C7-00EDCF340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29E52C-6BAC-58A5-711E-C06A6B137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7C40756-A897-E5AA-D34C-CC3F5F5E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8431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F30B52-4AF4-56B9-F5A4-F6A4DBBF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D469D48-FE6E-F35E-6A39-B7CC694B2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01AA4F-6C0D-14ED-49FE-30E8B81A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90EC5AA-7C76-2051-AD8F-A563A0D5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88ABAB0-99F8-7686-147F-47249B3E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21634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4783786-01A4-B97D-B4F8-9273FBC8B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29461E9-48A1-C875-9B58-6A9C57793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EB4078-23E0-090E-90DC-0E02B8A9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B3A882A-0914-E019-7EBA-F983A19A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7DED0D4-35D8-4EF4-8158-517A6658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2760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>
            <a:spLocks noGrp="1"/>
          </p:cNvSpPr>
          <p:nvPr>
            <p:ph type="pic" idx="2"/>
          </p:nvPr>
        </p:nvSpPr>
        <p:spPr>
          <a:xfrm>
            <a:off x="3429000" y="971550"/>
            <a:ext cx="236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1"/>
          </p:nvPr>
        </p:nvSpPr>
        <p:spPr>
          <a:xfrm>
            <a:off x="381000" y="5715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4800600" y="57150"/>
            <a:ext cx="3276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dt" idx="10"/>
          </p:nvPr>
        </p:nvSpPr>
        <p:spPr>
          <a:xfrm>
            <a:off x="7772400" y="4602163"/>
            <a:ext cx="76676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ftr" idx="11"/>
          </p:nvPr>
        </p:nvSpPr>
        <p:spPr>
          <a:xfrm>
            <a:off x="1943100" y="4602163"/>
            <a:ext cx="57165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 sz="14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18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6876A83-E534-8A8B-1483-F5618D6B4F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53738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1ACC8704-CF87-8F5E-4EF2-FEAE9785955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6" y="1182082"/>
            <a:ext cx="1658405" cy="23005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28474A41-4E7C-3B2B-B301-C6B54F5541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040" y="0"/>
            <a:ext cx="1932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3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body" idx="1"/>
          </p:nvPr>
        </p:nvSpPr>
        <p:spPr>
          <a:xfrm>
            <a:off x="1416557" y="3136359"/>
            <a:ext cx="3788207" cy="154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Times New Roman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   Under the Guidance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Clr>
                <a:srgbClr val="353535"/>
              </a:buClr>
              <a:buSzPts val="550"/>
            </a:pPr>
            <a:r>
              <a:rPr lang="en-US" sz="22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             </a:t>
            </a:r>
            <a:r>
              <a:rPr lang="en-US" sz="1800" b="1" i="0" u="none" strike="noStrike" cap="none" dirty="0" smtClean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Prof</a:t>
            </a:r>
            <a:r>
              <a:rPr lang="en-US" sz="18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800" b="1" dirty="0" err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Sushma</a:t>
            </a:r>
            <a:r>
              <a:rPr lang="en-US" sz="18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 smtClean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T.M</a:t>
            </a:r>
            <a:endParaRPr lang="en-US" sz="1800" b="1" i="0" u="none" strike="noStrike" cap="none" dirty="0" smtClean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Times New Roman"/>
              <a:buNone/>
            </a:pPr>
            <a:r>
              <a:rPr lang="en-US" sz="1800" b="1" dirty="0" smtClean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                   Assistant </a:t>
            </a:r>
            <a:r>
              <a:rPr lang="en-US" sz="18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Professor</a:t>
            </a:r>
            <a:r>
              <a:rPr lang="en-US" sz="1800" b="1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          </a:t>
            </a: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Times New Roman"/>
              <a:buNone/>
            </a:pPr>
            <a:r>
              <a:rPr lang="en-US" sz="1800" b="1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                </a:t>
            </a:r>
            <a:r>
              <a:rPr lang="en-US" sz="1800" b="1" dirty="0" smtClean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1800" b="1" i="0" u="none" strike="noStrike" cap="none" dirty="0" smtClean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Department </a:t>
            </a:r>
            <a:r>
              <a:rPr lang="en-US" sz="1800" b="1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of ISE</a:t>
            </a:r>
            <a:endParaRPr sz="1800" b="1" i="0" u="none" strike="noStrike" cap="none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45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        Acharya Institute Of Technology </a:t>
            </a:r>
            <a:endParaRPr sz="1800" b="1" i="0" u="none" strike="noStrike" cap="none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600"/>
              <a:buFont typeface="Noto Sans Symbols"/>
              <a:buNone/>
            </a:pPr>
            <a:endParaRPr sz="2400" b="1" i="0" u="none" strike="noStrike" cap="none" dirty="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Noto Sans Symbols"/>
              <a:buNone/>
            </a:pP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Times New Roman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                       											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Noto Sans Symbols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Noto Sans Symbols"/>
              <a:buNone/>
            </a:pP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750"/>
              <a:buFont typeface="Noto Sans Symbols"/>
              <a:buNone/>
            </a:pP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53535"/>
              </a:buClr>
              <a:buSzPts val="750"/>
              <a:buFont typeface="Noto Sans Symbols"/>
              <a:buNone/>
            </a:pPr>
            <a:endParaRPr sz="3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 idx="4294967295"/>
          </p:nvPr>
        </p:nvSpPr>
        <p:spPr>
          <a:xfrm>
            <a:off x="2114967" y="1360159"/>
            <a:ext cx="6371488" cy="1424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BreachShield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 Powered OSINT Breach Detection &amp; Dark Web Protection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b="1" i="0" u="none" strike="noStrike" cap="none" dirty="0">
              <a:solidFill>
                <a:srgbClr val="7030A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034337" y="3006435"/>
            <a:ext cx="3940016" cy="2138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No</a:t>
            </a:r>
            <a:r>
              <a:rPr lang="en-US" sz="1800" b="1" i="0" u="sng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:-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+mj-lt"/>
                <a:ea typeface="Arial"/>
                <a:cs typeface="Arial"/>
                <a:sym typeface="Arial"/>
              </a:rPr>
              <a:t>05</a:t>
            </a:r>
            <a:endParaRPr b="1" dirty="0">
              <a:latin typeface="+mj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Team  Members: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Arvind D H</a:t>
            </a:r>
            <a:r>
              <a:rPr lang="en-IN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IN" sz="1800" b="1" dirty="0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IN" sz="1800" b="1" i="0" u="none" strike="noStrike" cap="none" dirty="0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IN" sz="1800" b="1" dirty="0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1AY24IS400</a:t>
            </a:r>
            <a:r>
              <a:rPr lang="en-IN" sz="1800" b="1" i="0" u="none" strike="noStrike" cap="none" dirty="0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IN" sz="1800" b="1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 err="1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Girishkumar</a:t>
            </a:r>
            <a:r>
              <a:rPr lang="en-IN" sz="1800" b="1" i="0" u="none" strike="noStrike" cap="none" dirty="0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                 (1AY24IS404)</a:t>
            </a:r>
            <a:endParaRPr lang="en-IN" sz="1800" b="1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IN" b="1" dirty="0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Manoj</a:t>
            </a:r>
            <a:r>
              <a:rPr lang="en-IN" sz="1800" b="1" dirty="0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IN" sz="1800" b="1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              </a:t>
            </a:r>
            <a:r>
              <a:rPr lang="en-IN" sz="1800" b="1" i="0" u="none" strike="noStrike" cap="none" dirty="0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  (1AY24IS406)</a:t>
            </a:r>
            <a:endParaRPr lang="en-IN" sz="1800" b="1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IN" b="1" dirty="0" err="1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Premkumar</a:t>
            </a:r>
            <a:r>
              <a:rPr lang="en-IN" sz="1800" b="1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          </a:t>
            </a:r>
            <a:r>
              <a:rPr lang="en-IN" sz="1800" b="1" i="0" u="none" strike="noStrike" cap="none" dirty="0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n-IN" sz="1800" b="1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IN" sz="1800" b="1" i="0" u="none" strike="noStrike" cap="none" dirty="0" smtClean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1AY24IS407)</a:t>
            </a:r>
            <a:endParaRPr lang="en-IN" sz="1800" b="1" i="0" u="none" strike="noStrike" cap="none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800" b="0" i="0" u="none" strike="noStrike" cap="none" dirty="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416557" y="75486"/>
            <a:ext cx="7557796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Project Phase 1 </a:t>
            </a:r>
            <a:r>
              <a:rPr lang="en-US" sz="3100" b="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Presentation 2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(2025-2026)</a:t>
            </a:r>
            <a:endParaRPr sz="3100" dirty="0">
              <a:solidFill>
                <a:srgbClr val="C00000"/>
              </a:solidFill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xmlns="" id="{25D59EBE-BC85-3287-B29E-CC3CCF5DDE14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55;p1">
            <a:extLst>
              <a:ext uri="{FF2B5EF4-FFF2-40B4-BE49-F238E27FC236}">
                <a16:creationId xmlns:a16="http://schemas.microsoft.com/office/drawing/2014/main" xmlns="" id="{AC3DC087-E359-93E6-4B99-7D7CF607A2B7}"/>
              </a:ext>
            </a:extLst>
          </p:cNvPr>
          <p:cNvSpPr txBox="1">
            <a:spLocks/>
          </p:cNvSpPr>
          <p:nvPr/>
        </p:nvSpPr>
        <p:spPr>
          <a:xfrm>
            <a:off x="3396746" y="2342288"/>
            <a:ext cx="4349969" cy="66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800" b="1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Subject Code</a:t>
            </a:r>
            <a:r>
              <a:rPr lang="en-US" sz="3600" b="1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sz="2800" b="1" dirty="0">
                <a:solidFill>
                  <a:srgbClr val="7030A0"/>
                </a:solidFill>
                <a:latin typeface="Calibri"/>
                <a:ea typeface="Calibri"/>
                <a:cs typeface="Calibri"/>
              </a:rPr>
              <a:t>BIS685</a:t>
            </a:r>
            <a:endParaRPr lang="en-US" sz="2800" b="1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endParaRPr sz="2000" b="1" i="1" u="none" strike="noStrike" cap="none">
              <a:solidFill>
                <a:srgbClr val="FE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ctrTitle" idx="4294967295"/>
          </p:nvPr>
        </p:nvSpPr>
        <p:spPr>
          <a:xfrm>
            <a:off x="1377950" y="121386"/>
            <a:ext cx="776605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581AA"/>
                </a:solidFill>
                <a:ea typeface="Calibri"/>
                <a:cs typeface="Calibri"/>
                <a:sym typeface="Calibri"/>
              </a:rPr>
              <a:t>AGENDA</a:t>
            </a:r>
            <a:endParaRPr lang="en-US" sz="2800" b="1" dirty="0">
              <a:solidFill>
                <a:srgbClr val="1581AA"/>
              </a:solidFill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98768" y="1076011"/>
            <a:ext cx="65314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Abstract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Introduction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Problem Statement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Requirement Specification(Hardware &amp; Software)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Literature Survey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System Design [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Any two designs from the list </a:t>
            </a:r>
            <a:r>
              <a:rPr lang="en-US" dirty="0">
                <a:latin typeface="+mj-lt"/>
              </a:rPr>
              <a:t>(</a:t>
            </a:r>
            <a:r>
              <a:rPr lang="en-US" dirty="0"/>
              <a:t>Data Flow Diagram ,Flow </a:t>
            </a:r>
            <a:r>
              <a:rPr lang="en-US" dirty="0" err="1"/>
              <a:t>Charts,Class</a:t>
            </a:r>
            <a:r>
              <a:rPr lang="en-US" dirty="0"/>
              <a:t> Diagram, Use Case Diagram, Sequence </a:t>
            </a:r>
            <a:r>
              <a:rPr lang="en-US" dirty="0" err="1"/>
              <a:t>Diagram,Object</a:t>
            </a:r>
            <a:r>
              <a:rPr lang="en-US" dirty="0"/>
              <a:t> Diagram, State Chart Diagram, Collaboration </a:t>
            </a:r>
            <a:r>
              <a:rPr lang="en-US" dirty="0" err="1"/>
              <a:t>Diagram,Activity</a:t>
            </a:r>
            <a:r>
              <a:rPr lang="en-US" dirty="0"/>
              <a:t> diagram)]</a:t>
            </a:r>
          </a:p>
          <a:p>
            <a:pPr marL="342900" indent="-342900">
              <a:buAutoNum type="arabicPeriod"/>
            </a:pPr>
            <a:r>
              <a:rPr lang="en-US" dirty="0"/>
              <a:t>List of Modules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j-lt"/>
              </a:rPr>
              <a:t>Conclusion</a:t>
            </a:r>
          </a:p>
          <a:p>
            <a:pPr marL="342900" indent="-342900">
              <a:buAutoNum type="arabicPeriod"/>
            </a:pPr>
            <a:r>
              <a:rPr lang="en-US" dirty="0">
                <a:latin typeface="+mn-lt"/>
              </a:rPr>
              <a:t>References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xmlns="" id="{7360C5C6-BDAD-D446-C1E8-2502C8F2F53E}"/>
              </a:ext>
            </a:extLst>
          </p:cNvPr>
          <p:cNvSpPr txBox="1"/>
          <p:nvPr/>
        </p:nvSpPr>
        <p:spPr>
          <a:xfrm>
            <a:off x="201496" y="2805452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 sz="2000" b="1" i="1" u="none" strike="noStrike" cap="none" dirty="0">
              <a:solidFill>
                <a:srgbClr val="FE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72;p3"/>
          <p:cNvSpPr txBox="1">
            <a:spLocks noGrp="1"/>
          </p:cNvSpPr>
          <p:nvPr>
            <p:ph type="ctrTitle" idx="4294967295"/>
          </p:nvPr>
        </p:nvSpPr>
        <p:spPr>
          <a:xfrm>
            <a:off x="1182026" y="57150"/>
            <a:ext cx="7694613" cy="7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581AA"/>
                </a:solidFill>
                <a:ea typeface="Calibri"/>
                <a:cs typeface="Calibri"/>
                <a:sym typeface="Calibri"/>
              </a:rPr>
              <a:t>ABSTRACT</a:t>
            </a:r>
            <a:r>
              <a:rPr lang="en-US" sz="2800" b="1" i="0" u="none" strike="noStrike" cap="none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/>
            </a:r>
            <a:br>
              <a:rPr lang="en-US" sz="2800" b="1" i="0" u="none" strike="noStrike" cap="none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</a:br>
            <a:endParaRPr sz="2800" b="1" i="0" u="none" strike="noStrike" cap="none" dirty="0">
              <a:solidFill>
                <a:srgbClr val="1581AA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790530" y="2610736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 sz="2000" b="0" i="0" u="none" strike="noStrike" cap="none">
              <a:solidFill>
                <a:srgbClr val="FE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253EA77-B8EE-4465-E7C5-BE5FA9C44F92}"/>
              </a:ext>
            </a:extLst>
          </p:cNvPr>
          <p:cNvSpPr txBox="1"/>
          <p:nvPr/>
        </p:nvSpPr>
        <p:spPr>
          <a:xfrm>
            <a:off x="1825262" y="717910"/>
            <a:ext cx="67433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This project proposes an OSINT-based breach monitoring and AI-assisted threat detection system for real-time cybersecurity monitoring. The system collects threat intelligence data such as phishing URLs, suspicious domains, and leaked credentials using OSINT and Telegram-based intelligence sources, and displays the information through a centralized dashboard. AI-based analysis and alert mechanisms help identify suspicious activities and generate real-time notifications. The system also implements secure authentication, encrypted communication, and role-based access control to ensure data security and privacy. The proposed solution aims to improve cybersecurity awareness, support proactive threat monitoring, and reduce manual investigation effort.</a:t>
            </a:r>
            <a:endParaRPr lang="en-US" sz="1600" dirty="0"/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xmlns="" id="{FC7A7703-DD32-0F5F-9961-81D1C0535EA5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5941" y="102222"/>
            <a:ext cx="3886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INTRODUCTION</a:t>
            </a:r>
            <a:endParaRPr lang="en-US" sz="3200" b="1" dirty="0">
              <a:solidFill>
                <a:srgbClr val="1581AA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xmlns="" id="{FCF587C3-1CE2-9C7A-4C68-5B6CC8D32B75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80;p4">
            <a:extLst>
              <a:ext uri="{FF2B5EF4-FFF2-40B4-BE49-F238E27FC236}">
                <a16:creationId xmlns:a16="http://schemas.microsoft.com/office/drawing/2014/main" xmlns="" id="{F93F0E30-BBAE-DB74-DE4E-53F0AFDAAE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/>
            <a:r>
              <a:rPr lang="en-US" sz="2000" b="1" i="1" dirty="0">
                <a:solidFill>
                  <a:srgbClr val="FEFFFF"/>
                </a:solidFill>
                <a:latin typeface="Century Gothic"/>
                <a:sym typeface="Century Gothic"/>
              </a:rPr>
              <a:t>4</a:t>
            </a:r>
            <a:endParaRPr sz="2000" b="1" i="1" dirty="0">
              <a:solidFill>
                <a:srgbClr val="FEFFFF"/>
              </a:solidFill>
              <a:latin typeface="Century Gothic"/>
              <a:sym typeface="Century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253EA77-B8EE-4465-E7C5-BE5FA9C44F92}"/>
              </a:ext>
            </a:extLst>
          </p:cNvPr>
          <p:cNvSpPr txBox="1"/>
          <p:nvPr/>
        </p:nvSpPr>
        <p:spPr>
          <a:xfrm>
            <a:off x="1825262" y="717910"/>
            <a:ext cx="674338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Cybersecurity threats such as phishing attacks, data breaches, and credential leaks are increasing rapidly</a:t>
            </a:r>
            <a:r>
              <a:rPr lang="en-US" sz="16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Traditional </a:t>
            </a:r>
            <a:r>
              <a:rPr lang="en-US" sz="1600" dirty="0"/>
              <a:t>security systems mainly focus on post-incident detection and lack centralized real-time monitoring</a:t>
            </a:r>
            <a:r>
              <a:rPr lang="en-US" sz="16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OSINT </a:t>
            </a:r>
            <a:r>
              <a:rPr lang="en-US" sz="1600" dirty="0"/>
              <a:t>and real-time threat intelligence can help identify suspicious activities and exposed data at an early </a:t>
            </a:r>
            <a:r>
              <a:rPr lang="en-US" sz="1600" dirty="0" smtClean="0"/>
              <a:t>stage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.</a:t>
            </a:r>
            <a:r>
              <a:rPr lang="en-US" sz="1600" dirty="0"/>
              <a:t>Real-time monitoring and automated alerts help users respond quickly to potential cybersecurity threats</a:t>
            </a:r>
            <a:r>
              <a:rPr lang="en-US" sz="1600" dirty="0" smtClean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/>
              <a:t>The </a:t>
            </a:r>
            <a:r>
              <a:rPr lang="en-US" sz="1600" dirty="0"/>
              <a:t>proposed system provides OSINT-based threat monitoring, secure authentication, and dashboard visualization for proactive cybersecurity awareness.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7705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1522287" y="174661"/>
            <a:ext cx="6908947" cy="636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PROBLEM STATEMENT</a:t>
            </a:r>
            <a:endParaRPr lang="en-US" sz="2800" b="1" dirty="0">
              <a:solidFill>
                <a:srgbClr val="1581AA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80" name="Google Shape;80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40E7B5E-18A2-365F-C875-0BE204B9C7DF}"/>
              </a:ext>
            </a:extLst>
          </p:cNvPr>
          <p:cNvSpPr txBox="1"/>
          <p:nvPr/>
        </p:nvSpPr>
        <p:spPr>
          <a:xfrm>
            <a:off x="1899805" y="811658"/>
            <a:ext cx="6531429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cybersecurity systems rely on reactive tools like firewalls and antivirus, detecting threats only after damage occurs. Existing solutions are fragmented and lack integration of OSINT, dark web monitoring, AI-based phishing detection, and secure logging. They also suffer from high false positives and limited transparency.</a:t>
            </a:r>
          </a:p>
          <a:p>
            <a:pPr algn="just">
              <a:lnSpc>
                <a:spcPct val="150000"/>
              </a:lnSpc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intelligent, unified system combining deep learning, real-time monitoring, explainable AI, and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blockchain.This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 enables proactive, transparent, and reliable cybersecurity protection.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xmlns="" id="{0C27BA88-17AE-9E7C-5A6F-8F837CC2F6F9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</a:t>
            </a:r>
            <a:endParaRPr lang="en-US" sz="1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50929" y="73599"/>
            <a:ext cx="60762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228600" algn="ctr">
              <a:buSzPts val="1400"/>
            </a:pPr>
            <a:r>
              <a:rPr lang="en-US" sz="2800" b="1" dirty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REQUIREMENT SPECIFICATION</a:t>
            </a:r>
            <a:endParaRPr lang="en-US" sz="28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CFB1F71-7504-1621-1A25-A33645877DAA}"/>
              </a:ext>
            </a:extLst>
          </p:cNvPr>
          <p:cNvSpPr txBox="1"/>
          <p:nvPr/>
        </p:nvSpPr>
        <p:spPr>
          <a:xfrm>
            <a:off x="1923321" y="685145"/>
            <a:ext cx="653142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Functional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system should collect threat intelligence data such as phishing URLs, suspicious domains, leaked credentials, and breach-related information from OSINT and Telegram-based intelligence sources.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system should provide real-time monitoring and display threat information through a centralized dashboard.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system should generate alerts and notifications whenever suspicious or high-risk activities are detected.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system should allow users to monitor specific keywords, domains, usernames, or email addresses using </a:t>
            </a:r>
            <a:r>
              <a:rPr lang="en-US" sz="1600" dirty="0" err="1"/>
              <a:t>watchlists</a:t>
            </a:r>
            <a:r>
              <a:rPr lang="en-US" sz="1600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system should provide secure login, OTP verification, and role-based access for authorized users. </a:t>
            </a:r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xmlns="" id="{3B0895E0-374A-FAF6-61BF-433B33DA3A14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862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</a:t>
            </a:r>
            <a:endParaRPr lang="en-US" sz="1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50929" y="73599"/>
            <a:ext cx="60762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228600" algn="ctr">
              <a:buSzPts val="1400"/>
            </a:pPr>
            <a:r>
              <a:rPr lang="en-US" sz="2800" b="1" dirty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REQUIREMENT SPECIFICATION</a:t>
            </a:r>
            <a:endParaRPr lang="en-US" sz="28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CFB1F71-7504-1621-1A25-A33645877DAA}"/>
              </a:ext>
            </a:extLst>
          </p:cNvPr>
          <p:cNvSpPr txBox="1"/>
          <p:nvPr/>
        </p:nvSpPr>
        <p:spPr>
          <a:xfrm>
            <a:off x="1923321" y="685145"/>
            <a:ext cx="653142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Non-Functional </a:t>
            </a:r>
            <a:r>
              <a:rPr lang="en-US" sz="2000" b="1" dirty="0"/>
              <a:t>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system should ensure secure handling of sensitive monitoring data using encryption and authentication mechanisms</a:t>
            </a:r>
            <a:r>
              <a:rPr lang="en-US" sz="1600" dirty="0" smtClean="0"/>
              <a:t>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system should provide reliable real-time monitoring with minimum delay</a:t>
            </a:r>
            <a:r>
              <a:rPr lang="en-US" sz="1600" dirty="0" smtClean="0"/>
              <a:t>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system should be scalable and capable of handling multiple monitoring requests simultaneously</a:t>
            </a:r>
            <a:r>
              <a:rPr lang="en-US" sz="1600" dirty="0" smtClean="0"/>
              <a:t>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user interface should be simple, responsive, and user-friendly for efficient monitoring</a:t>
            </a:r>
            <a:r>
              <a:rPr lang="en-US" sz="1600" dirty="0" smtClean="0"/>
              <a:t>.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system should maintain data integrity and prevent unauthorized access to monitoring </a:t>
            </a:r>
            <a:r>
              <a:rPr lang="en-US" sz="1600" dirty="0" smtClean="0"/>
              <a:t>information</a:t>
            </a:r>
            <a:endParaRPr lang="en-US" sz="1600" dirty="0"/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xmlns="" id="{3B0895E0-374A-FAF6-61BF-433B33DA3A14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9502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1431498" y="44609"/>
            <a:ext cx="7045224" cy="7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SYSTEM DESIGN</a:t>
            </a:r>
            <a:endParaRPr sz="1100" b="1" dirty="0">
              <a:latin typeface="+mj-lt"/>
            </a:endParaRPr>
          </a:p>
        </p:txBody>
      </p:sp>
      <p:sp>
        <p:nvSpPr>
          <p:cNvPr id="89" name="Google Shape;89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7</a:t>
            </a:r>
            <a:endParaRPr dirty="0"/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xmlns="" id="{76D7E253-DC2B-55DC-D1C0-07446D746AC7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995" y="1132034"/>
            <a:ext cx="6600378" cy="36812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82913" y="731924"/>
            <a:ext cx="2167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1.System Design</a:t>
            </a:r>
            <a:endParaRPr lang="en-US" sz="2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1431498" y="44609"/>
            <a:ext cx="7045224" cy="52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SYSTEM </a:t>
            </a:r>
            <a:r>
              <a:rPr lang="en-US" sz="2800" b="1" dirty="0" smtClean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DESIGN</a:t>
            </a:r>
          </a:p>
        </p:txBody>
      </p:sp>
      <p:sp>
        <p:nvSpPr>
          <p:cNvPr id="89" name="Google Shape;89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7</a:t>
            </a:r>
            <a:endParaRPr dirty="0"/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xmlns="" id="{76D7E253-DC2B-55DC-D1C0-07446D746AC7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97" y="1132034"/>
            <a:ext cx="6709025" cy="38285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82913" y="731924"/>
            <a:ext cx="2167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2.Flow Diagram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77517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1096963" y="0"/>
            <a:ext cx="7538184" cy="87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LIST OF MODULES</a:t>
            </a:r>
          </a:p>
        </p:txBody>
      </p:sp>
      <p:sp>
        <p:nvSpPr>
          <p:cNvPr id="97" name="Google Shape;97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</a:t>
            </a:r>
            <a:endParaRPr dirty="0"/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xmlns="" id="{FF6B9C51-B311-53F9-703C-AC46CFBA1B0E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67155" y="330163"/>
            <a:ext cx="6867992" cy="5216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/>
              <a:t>OSINT </a:t>
            </a:r>
            <a:r>
              <a:rPr lang="en-US" b="1" dirty="0"/>
              <a:t>Data Collection </a:t>
            </a:r>
            <a:r>
              <a:rPr lang="en-US" b="1" dirty="0" smtClean="0"/>
              <a:t>Module</a:t>
            </a:r>
          </a:p>
          <a:p>
            <a:pPr lvl="1" algn="just"/>
            <a:r>
              <a:rPr lang="en-US" dirty="0" smtClean="0"/>
              <a:t>Collects </a:t>
            </a:r>
            <a:r>
              <a:rPr lang="en-US" dirty="0"/>
              <a:t>phishing URLs, leaked credentials, suspicious domains, and threat intelligence data from OSINT and Telegram sources</a:t>
            </a:r>
            <a:r>
              <a:rPr lang="en-US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/>
              <a:t>Threat </a:t>
            </a:r>
            <a:r>
              <a:rPr lang="en-US" b="1" dirty="0"/>
              <a:t>Monitoring </a:t>
            </a:r>
            <a:r>
              <a:rPr lang="en-US" b="1" dirty="0" smtClean="0"/>
              <a:t>Module</a:t>
            </a:r>
          </a:p>
          <a:p>
            <a:pPr lvl="1" algn="just"/>
            <a:r>
              <a:rPr lang="en-US" dirty="0" smtClean="0"/>
              <a:t>Continuously </a:t>
            </a:r>
            <a:r>
              <a:rPr lang="en-US" dirty="0"/>
              <a:t>monitors suspicious activities, breach information, and </a:t>
            </a:r>
            <a:r>
              <a:rPr lang="en-US" dirty="0" err="1"/>
              <a:t>watchlist</a:t>
            </a:r>
            <a:r>
              <a:rPr lang="en-US" dirty="0"/>
              <a:t>-based threats in real time</a:t>
            </a:r>
            <a:r>
              <a:rPr lang="en-US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/>
              <a:t>Secure </a:t>
            </a:r>
            <a:r>
              <a:rPr lang="en-US" b="1" dirty="0"/>
              <a:t>Data Transmission </a:t>
            </a:r>
            <a:r>
              <a:rPr lang="en-US" b="1" dirty="0" smtClean="0"/>
              <a:t>Module</a:t>
            </a:r>
          </a:p>
          <a:p>
            <a:pPr lvl="1" algn="just"/>
            <a:r>
              <a:rPr lang="en-US" dirty="0" smtClean="0"/>
              <a:t>Transfers </a:t>
            </a:r>
            <a:r>
              <a:rPr lang="en-US" dirty="0"/>
              <a:t>monitoring data securely using HTTPS, API authentication, and encrypted communication </a:t>
            </a:r>
            <a:r>
              <a:rPr lang="en-US" dirty="0" smtClean="0"/>
              <a:t>protocols.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/>
              <a:t>Backend </a:t>
            </a:r>
            <a:r>
              <a:rPr lang="en-US" b="1" dirty="0"/>
              <a:t>Processing </a:t>
            </a:r>
            <a:r>
              <a:rPr lang="en-US" b="1" dirty="0" smtClean="0"/>
              <a:t>Module</a:t>
            </a:r>
          </a:p>
          <a:p>
            <a:pPr lvl="1" algn="just"/>
            <a:r>
              <a:rPr lang="en-US" dirty="0" smtClean="0"/>
              <a:t>Processes </a:t>
            </a:r>
            <a:r>
              <a:rPr lang="en-US" dirty="0"/>
              <a:t>incoming threat intelligence data and manages communication between services, database, and dashboard</a:t>
            </a:r>
            <a:r>
              <a:rPr lang="en-US" dirty="0" smtClean="0"/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/>
              <a:t>Threat </a:t>
            </a:r>
            <a:r>
              <a:rPr lang="en-US" b="1" dirty="0"/>
              <a:t>Analysis Module</a:t>
            </a:r>
          </a:p>
          <a:p>
            <a:pPr lvl="1" algn="just"/>
            <a:r>
              <a:rPr lang="en-US" dirty="0"/>
              <a:t>Analyzes collected threat data to identify phishing attacks, suspicious activities, and potential security risks.</a:t>
            </a:r>
          </a:p>
          <a:p>
            <a:pPr marL="342900" indent="-342900" algn="just"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1075198" y="118948"/>
            <a:ext cx="7538184" cy="87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 smtClean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LIST </a:t>
            </a:r>
            <a:r>
              <a:rPr lang="en-US" sz="2800" b="1" dirty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OF MODULES</a:t>
            </a:r>
          </a:p>
        </p:txBody>
      </p:sp>
      <p:sp>
        <p:nvSpPr>
          <p:cNvPr id="97" name="Google Shape;97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</a:t>
            </a:r>
            <a:endParaRPr dirty="0"/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xmlns="" id="{FF6B9C51-B311-53F9-703C-AC46CFBA1B0E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106202" y="586591"/>
            <a:ext cx="650717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6. Database Management </a:t>
            </a:r>
            <a:r>
              <a:rPr lang="en-US" b="1" dirty="0" smtClean="0"/>
              <a:t>Module</a:t>
            </a:r>
          </a:p>
          <a:p>
            <a:pPr lvl="1"/>
            <a:r>
              <a:rPr lang="en-US" dirty="0" smtClean="0"/>
              <a:t>Stores </a:t>
            </a:r>
            <a:r>
              <a:rPr lang="en-US" dirty="0"/>
              <a:t>user details, monitoring history, alerts, </a:t>
            </a:r>
            <a:r>
              <a:rPr lang="en-US" dirty="0" err="1"/>
              <a:t>watchlists</a:t>
            </a:r>
            <a:r>
              <a:rPr lang="en-US" dirty="0"/>
              <a:t>, and threat intelligence records securely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7</a:t>
            </a:r>
            <a:r>
              <a:rPr lang="en-US" b="1" dirty="0"/>
              <a:t>. Real-Time Dashboard </a:t>
            </a:r>
            <a:r>
              <a:rPr lang="en-US" b="1" dirty="0" smtClean="0"/>
              <a:t>Module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live monitoring, alerts, threat statistics, and dashboard visualization for users and administrators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8</a:t>
            </a:r>
            <a:r>
              <a:rPr lang="en-US" b="1" dirty="0"/>
              <a:t>. Alert &amp; Notification </a:t>
            </a:r>
            <a:r>
              <a:rPr lang="en-US" b="1" dirty="0" smtClean="0"/>
              <a:t>Module</a:t>
            </a:r>
          </a:p>
          <a:p>
            <a:pPr lvl="1"/>
            <a:r>
              <a:rPr lang="en-US" dirty="0" smtClean="0"/>
              <a:t>Generates </a:t>
            </a:r>
            <a:r>
              <a:rPr lang="en-US" dirty="0"/>
              <a:t>real-time alerts and notifications whenever suspicious or high-risk activities are detected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9</a:t>
            </a:r>
            <a:r>
              <a:rPr lang="en-US" b="1" dirty="0"/>
              <a:t>. Authentication &amp; Security </a:t>
            </a:r>
            <a:r>
              <a:rPr lang="en-US" b="1" dirty="0" smtClean="0"/>
              <a:t>Module</a:t>
            </a:r>
          </a:p>
          <a:p>
            <a:pPr lvl="1"/>
            <a:r>
              <a:rPr lang="en-US" dirty="0" smtClean="0"/>
              <a:t>Implements </a:t>
            </a:r>
            <a:r>
              <a:rPr lang="en-US" dirty="0"/>
              <a:t>secure login, OTP verification, JWT authentication, and role-based access control for system security.</a:t>
            </a:r>
          </a:p>
        </p:txBody>
      </p:sp>
    </p:spTree>
    <p:extLst>
      <p:ext uri="{BB962C8B-B14F-4D97-AF65-F5344CB8AC3E}">
        <p14:creationId xmlns:p14="http://schemas.microsoft.com/office/powerpoint/2010/main" val="1761678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EA1A492-DC90-E017-4A7D-4FC71B18C8F2}"/>
              </a:ext>
            </a:extLst>
          </p:cNvPr>
          <p:cNvSpPr/>
          <p:nvPr/>
        </p:nvSpPr>
        <p:spPr>
          <a:xfrm>
            <a:off x="2435552" y="130309"/>
            <a:ext cx="58935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800" b="1" dirty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CONCLUSION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xmlns="" id="{2058C148-CECC-2E0B-9332-3E051389814A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80;p4">
            <a:extLst>
              <a:ext uri="{FF2B5EF4-FFF2-40B4-BE49-F238E27FC236}">
                <a16:creationId xmlns:a16="http://schemas.microsoft.com/office/drawing/2014/main" xmlns="" id="{1428E42C-0D5D-4ED2-D098-AC5B2672F6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9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03460" y="653529"/>
            <a:ext cx="6482993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proposed OSINT-Based Breach Finder and Real-Time Threat Monitoring System provides an efficient and intelligent cybersecurity solution for monitoring phishing attacks, leaked credentials, and suspicious activities. The system integrates OSINT intelligence retrieval, real-time monitoring, threat analysis, and cybersecurity mechanisms to improve cybersecurity awareness and support proactive threat detection. By providing real-time alerts, secure access control, and dashboard-based monitoring, the system reduces manual investigation effort and enhances the overall efficiency and reliability of cybersecurity monitoring services.</a:t>
            </a:r>
          </a:p>
        </p:txBody>
      </p:sp>
    </p:spTree>
    <p:extLst>
      <p:ext uri="{BB962C8B-B14F-4D97-AF65-F5344CB8AC3E}">
        <p14:creationId xmlns:p14="http://schemas.microsoft.com/office/powerpoint/2010/main" val="3837824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1164408" y="81778"/>
            <a:ext cx="7538184" cy="88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0320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REFERENCES </a:t>
            </a:r>
            <a:endParaRPr b="1" dirty="0">
              <a:latin typeface="+mj-lt"/>
            </a:endParaRPr>
          </a:p>
        </p:txBody>
      </p:sp>
      <p:sp>
        <p:nvSpPr>
          <p:cNvPr id="97" name="Google Shape;97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280863" y="1130157"/>
            <a:ext cx="6154220" cy="287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99265" y="524319"/>
            <a:ext cx="7103327" cy="438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429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429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A. K. Jain and B. B. Gupta, “Phishing Detection Systems: A Comprehensive Survey of Deep Learning-Based Approaches,” IEEE Access, vol. 12, pp. 12345–12360, 2024.</a:t>
            </a:r>
          </a:p>
          <a:p>
            <a:pPr algn="just">
              <a:lnSpc>
                <a:spcPct val="150000"/>
              </a:lnSpc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S. S.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Tyagi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BreachShield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 Novel Framework for Real-Time Data Breach Detection Using OSINT and Dark Web Monitoring,” Computers &amp; Security, vol. 115, p. 102612, 2025.</a:t>
            </a:r>
          </a:p>
          <a:p>
            <a:pPr algn="just">
              <a:lnSpc>
                <a:spcPct val="150000"/>
              </a:lnSpc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M. Al-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Sarem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F. Saeed, and W.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Boulila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“An Ensemble Learning Approach for Phishing Website Detection using Hybrid Features,” Electronics, vol. 13, no. 5, p. 245, 2024.</a:t>
            </a:r>
          </a:p>
          <a:p>
            <a:pPr algn="just">
              <a:lnSpc>
                <a:spcPct val="150000"/>
              </a:lnSpc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R. Sharma and P. Kumar, “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-Based Secure and Immutable Log Management System for Cloud Forensics,” Journal of Information Security and Applications, vol. 78, p. 103598, 2023.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55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1164408" y="81778"/>
            <a:ext cx="7538184" cy="88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0320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1581AA"/>
                </a:solidFill>
                <a:latin typeface="+mj-lt"/>
                <a:ea typeface="Calibri"/>
                <a:cs typeface="Calibri"/>
                <a:sym typeface="Calibri"/>
              </a:rPr>
              <a:t>REFERENCES </a:t>
            </a:r>
            <a:endParaRPr b="1" dirty="0">
              <a:latin typeface="+mj-lt"/>
            </a:endParaRPr>
          </a:p>
        </p:txBody>
      </p:sp>
      <p:sp>
        <p:nvSpPr>
          <p:cNvPr id="97" name="Google Shape;97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280863" y="1130157"/>
            <a:ext cx="6154220" cy="287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99265" y="524319"/>
            <a:ext cx="7103327" cy="438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429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3429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4290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T. Zhang, “Deep Web and Dark Web Monitoring for Threat Intelligence: A Systematic Review,” ACM Computing Surveys, vol. 56, no. 2, pp. 1–35, 2024.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J. Singh and N. Kumar, “Addressing Class Imbalance in Phishing Detection Systems using SMOTE and Deep Learning,” Expert Systems with Applications, vol. 238, p. 121888, 2024.</a:t>
            </a:r>
          </a:p>
        </p:txBody>
      </p:sp>
    </p:spTree>
    <p:extLst>
      <p:ext uri="{BB962C8B-B14F-4D97-AF65-F5344CB8AC3E}">
        <p14:creationId xmlns:p14="http://schemas.microsoft.com/office/powerpoint/2010/main" val="3520395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43760" y="730424"/>
            <a:ext cx="3612192" cy="320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2"/>
          <p:cNvSpPr txBox="1"/>
          <p:nvPr/>
        </p:nvSpPr>
        <p:spPr>
          <a:xfrm>
            <a:off x="564062" y="4740710"/>
            <a:ext cx="57463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r>
            <a:endParaRPr sz="2000" i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xmlns="" id="{7F4EB0A8-1808-F7F2-F796-174F5E11C465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/>
        </p:nvSpPr>
        <p:spPr>
          <a:xfrm>
            <a:off x="650081" y="4743450"/>
            <a:ext cx="64293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r>
            <a:endParaRPr sz="2000" b="1" i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3200400" y="2343150"/>
            <a:ext cx="2743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3" descr="A picture containing text, stationary, writing implement, pe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1982" y="1136073"/>
            <a:ext cx="6147176" cy="324164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xmlns="" id="{DA73314A-428B-36EA-2C38-BC6CD16A4E61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harya-I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harya-ISE" id="{DB94E7EE-DE31-4F29-AA83-14CD25B5A065}" vid="{1A5B67FE-FD36-4B9E-AA94-BCA7123422E5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Acharya-ISE</Template>
  <TotalTime>1294</TotalTime>
  <Words>1142</Words>
  <Application>Microsoft Office PowerPoint</Application>
  <PresentationFormat>On-screen Show (16:9)</PresentationFormat>
  <Paragraphs>120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Century Gothic</vt:lpstr>
      <vt:lpstr>Times New Roman</vt:lpstr>
      <vt:lpstr>Arial</vt:lpstr>
      <vt:lpstr>Noto Sans Symbols</vt:lpstr>
      <vt:lpstr>Calibri</vt:lpstr>
      <vt:lpstr>Acharya-ISE</vt:lpstr>
      <vt:lpstr>BreachShield: AI Powered OSINT Breach Detection &amp; Dark Web Protection </vt:lpstr>
      <vt:lpstr>AGENDA</vt:lpstr>
      <vt:lpstr>ABSTRACT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&lt;write your project title&gt;</dc:title>
  <dc:creator>CHAYAPATHI-CPN</dc:creator>
  <cp:lastModifiedBy>Microsoft account</cp:lastModifiedBy>
  <cp:revision>57</cp:revision>
  <dcterms:modified xsi:type="dcterms:W3CDTF">2026-05-17T18:42:56Z</dcterms:modified>
</cp:coreProperties>
</file>