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17"/>
  </p:notesMasterIdLst>
  <p:handoutMasterIdLst>
    <p:handoutMasterId r:id="rId18"/>
  </p:handoutMasterIdLst>
  <p:sldIdLst>
    <p:sldId id="25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9" r:id="rId23"/>
    <p:sldId id="29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2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E01"/>
    <a:srgbClr val="000000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howGuides="1">
      <p:cViewPr varScale="1">
        <p:scale>
          <a:sx n="106" d="100"/>
          <a:sy n="106" d="100"/>
        </p:scale>
        <p:origin x="618" y="138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Relationship Id="rId24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pPr/>
              <a:t>9/3/2026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pPr/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13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1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65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22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403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727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680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020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823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3773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27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944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969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9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80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0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40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121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40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24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4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924148" y="1398020"/>
            <a:ext cx="7772400" cy="86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Project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9144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 Project Phase 2 (BIS786) Presentation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7420" y="2255276"/>
            <a:ext cx="142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09834" y="2755342"/>
          <a:ext cx="81369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Guide Name:</a:t>
                      </a:r>
                    </a:p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Designation: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2667000" y="0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Department of Information Science and Engineering  </a:t>
            </a:r>
            <a:r>
              <a:rPr lang="en-US" sz="2000" b="1" dirty="0"/>
              <a:t>Acharya Institute of Technology</a:t>
            </a:r>
            <a:endParaRPr lang="en-IN" sz="2000" dirty="0"/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aseline="0" dirty="0">
                <a:ea typeface="+mj-ea"/>
                <a:cs typeface="+mj-cs"/>
              </a:rPr>
              <a:t>Soladevanahalli,</a:t>
            </a:r>
            <a:r>
              <a:rPr lang="en-IN" sz="1600" dirty="0">
                <a:ea typeface="+mj-ea"/>
                <a:cs typeface="+mj-cs"/>
              </a:rPr>
              <a:t> Bengaluru 560 107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381000"/>
            <a:ext cx="8229600" cy="1143000"/>
          </a:xfrm>
        </p:spPr>
        <p:txBody>
          <a:bodyPr/>
          <a:lstStyle/>
          <a:p>
            <a:r>
              <a:rPr lang="en-IN" b="1" dirty="0"/>
              <a:t>Agenda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200" y="1706562"/>
            <a:ext cx="8229600" cy="4846637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IN" dirty="0"/>
          </a:p>
          <a:p>
            <a:pPr marL="342900" indent="-342900">
              <a:buAutoNum type="arabicPeriod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buAutoNum type="arabicPeriod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AutoNum type="arabicPeriod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Specification(Hardware &amp; Software)</a:t>
            </a: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(Data Flow Diagram ,Flow Charts, Class Diagram, Use Case Diagram, Sequence Diagram, Object Diagram, State Chart Diagram, Collaboration Diagram, Activity diagram) </a:t>
            </a:r>
            <a:r>
              <a:rPr lang="en-US" sz="9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3 design is fine</a:t>
            </a:r>
          </a:p>
          <a:p>
            <a:pPr marL="342900" indent="-342900">
              <a:buAutoNum type="arabicPeriod" startAt="7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(Modules and Functions)</a:t>
            </a:r>
          </a:p>
          <a:p>
            <a:pPr marL="342900" indent="-342900">
              <a:buAutoNum type="arabicPeriod" startAt="7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/>
          </a:p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Note: Avoid Paragraphs , Content to be in bullets, figures and tables only</a:t>
            </a:r>
            <a:endParaRPr lang="en-IN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algn="ctr"/>
            <a:r>
              <a:rPr lang="en-US" sz="4400" b="1" i="0" u="none" strike="noStrike" cap="none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lang="en-IN" b="1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066800"/>
            <a:ext cx="8443337" cy="46180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sz="1400" b="0">
                <a:latin typeface="Calibri"/>
              </a:rPr>
              <a:t>BreachShield is an AI-powered OSINT breach detection and dark web monitoring system designed for real-time cybersecurity protection. The system integrates multiple security components into a unified platform for proactive threat intelligence.</a:t>
            </a:r>
            <a:endParaRPr lang="en-US" dirty="0"/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Key Capabilities: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OSINT-based breach monitoring using HIBP API and Telegram intelligence channels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AI-powered phishing URL detection using HuggingFace transformers (89% accuracy)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Client-side k-anonymity hashing (SHA-256) for privacy-preserving breach queries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Local blockchain anchoring via Hardhat with Merkle tree audit logs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Real-time Telegram channel monitoring for threat intelligence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Role-based access control with OTP verification and JWT authentication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The system demonstrates practical integration of OSINT techniques, machine learning, and distributed ledger technology for cybersecurity applications, while maintaining honest documentation of all architectural limitations.</a:t>
            </a:r>
          </a:p>
        </p:txBody>
      </p:sp>
    </p:spTree>
    <p:extLst>
      <p:ext uri="{BB962C8B-B14F-4D97-AF65-F5344CB8AC3E}">
        <p14:creationId xmlns:p14="http://schemas.microsoft.com/office/powerpoint/2010/main" val="55427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IN" b="1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066800"/>
            <a:ext cx="8443337" cy="4618038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1">
                <a:latin typeface="Calibri"/>
              </a:rPr>
              <a:t>Background &amp; Motivation:</a:t>
            </a:r>
            <a:endParaRPr lang="en-IN" sz="9600" dirty="0"/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Cybersecurity threats (phishing, data breaches, credential leaks) increasing rapidly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Traditional systems are reactive - detect threats only after damage occurs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Existing solutions are fragmented - no unified OSINT + AI + monitoring platform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Manual investigation is time-consuming and error-prone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Proposed Solution: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Unified platform combining OSINT intelligence, AI analysis, and real-time monitoring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Automated breach detection with email-based k-anonymity queries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Telegram channel monitoring for real-time threat intelligence feeds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Blockchain-based tamper-evident audit trail for forensic integrity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ML-powered risk scoring and threat classification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Objective: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Build a proactive cybersecurity monitoring system using OSINT and AI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Demonstrate honest architecture with documented limitations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Achieve practical threat detection with measurable accuracy metrics</a:t>
            </a:r>
          </a:p>
        </p:txBody>
      </p:sp>
    </p:spTree>
    <p:extLst>
      <p:ext uri="{BB962C8B-B14F-4D97-AF65-F5344CB8AC3E}">
        <p14:creationId xmlns:p14="http://schemas.microsoft.com/office/powerpoint/2010/main" val="222069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lang="en-US" sz="4400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249362"/>
            <a:ext cx="8443337" cy="46180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sz="1300" b="1">
                <a:latin typeface="Calibri"/>
              </a:rPr>
              <a:t>Problem: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>Traditional cybersecurity relies on reactive tools (firewalls, antivirus) that detect threats only after damage occurs. Existing solutions are fragmented and lack integration of OSINT intelligence, AI-based phishing detection, dark web monitoring, and secure logging. They suffer from high false positives and limited transparency.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Challenges: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No unified platform combining OSINT + AI + real-time monitoring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High false positive rates in existing phishing detection systems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Lack of tamper-evident audit trails for forensic investigation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Privacy concerns when querying breach databases with sensitive data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Manual threat investigation is slow and doesn't scale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Proposed Approach: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An intelligent, unified system combining deep learning-based phishing detection, real-time OSINT monitoring, k-anonymity privacy protection, and blockchain-anchored audit logs for proactive, transparent cybersecurity protection.</a:t>
            </a:r>
          </a:p>
        </p:txBody>
      </p:sp>
    </p:spTree>
    <p:extLst>
      <p:ext uri="{BB962C8B-B14F-4D97-AF65-F5344CB8AC3E}">
        <p14:creationId xmlns:p14="http://schemas.microsoft.com/office/powerpoint/2010/main" val="359226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457200" lvl="0" indent="-228600" algn="ctr">
              <a:buSzPts val="1400"/>
            </a:pPr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REQUIREMENT SPECIFICATION</a:t>
            </a:r>
            <a:endParaRPr lang="en-US" sz="4400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554162"/>
            <a:ext cx="8443337" cy="46180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sz="1300" b="1">
                <a:latin typeface="Calibri"/>
              </a:rPr>
              <a:t>Development Environment: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Processor: Intel Core i5 or higher (or equivalent AMD)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RAM: 8 GB minimum (16 GB recommended)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Storage: 256 GB SSD minimum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Network: Broadband internet connection for OSINT data collection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Deployment Environment: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Backend Server: Node.js + Python FastAPI (dual-service architecture)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Database: MySQL 8.0 for authentication, JSON files for session/audit storage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Blockchain: Local Hardhat node (EVM-compatible, Solidity 0.8.20)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ML Models: CPU inference (HuggingFace transformers, SentenceTransformer)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Frontend: React.js SPA served via Vercel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Production Considerations: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Minimum 2 GB RAM for backend + Python services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4 GB RAM recommended for full stack (frontend + backend + scraper)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SSL/TLS certificates for HTTPS in production</a:t>
            </a:r>
          </a:p>
        </p:txBody>
      </p:sp>
    </p:spTree>
    <p:extLst>
      <p:ext uri="{BB962C8B-B14F-4D97-AF65-F5344CB8AC3E}">
        <p14:creationId xmlns:p14="http://schemas.microsoft.com/office/powerpoint/2010/main" val="107512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457200" lvl="0" indent="-228600" algn="ctr">
              <a:buSzPts val="1400"/>
            </a:pPr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REQUIREMENT SPECIFICATION</a:t>
            </a:r>
            <a:endParaRPr lang="en-US" sz="4400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554162"/>
            <a:ext cx="8443337" cy="46180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sz="1300" b="1">
                <a:latin typeface="Calibri"/>
              </a:rPr>
              <a:t>Frontend: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React.js 18+ (Create React App)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Axios for HTTP requests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Web Crypto API for client-side SHA-256 hashing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Backend: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Node.js 18+ with Express.js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MySQL 8.0 (authentication, user management)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JSON file storage (sessions, audit logs, Merkle batches)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JWT + OTP authentication (Nodemailer for email OTP)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Ethers.js v6 (blockchain interaction)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Hardhat (local Ethereum node, contract deployment)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Python Services: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FastAPI (threat analysis API)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HuggingFace Transformers (phishing classifier)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SentenceTransformer (semantic entity correlation)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Telethon (Telegram channel monitoring)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XGBoost (breach severity model - trained, not deployed)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400" b="0">
                <a:latin typeface="Calibri"/>
              </a:rPr>
              <a:t/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>
                <a:latin typeface="Calibri"/>
              </a:rPr>
              <a:t>Tools: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Git version control, Hardhat CLI, npm/yarn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Vercel (frontend hosting)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0">
                <a:latin typeface="Calibri"/>
              </a:rPr>
              <a:t>Solidity 0.8.20 (smart contracts)</a:t>
            </a:r>
          </a:p>
        </p:txBody>
      </p:sp>
    </p:spTree>
    <p:extLst>
      <p:ext uri="{BB962C8B-B14F-4D97-AF65-F5344CB8AC3E}">
        <p14:creationId xmlns:p14="http://schemas.microsoft.com/office/powerpoint/2010/main" val="319318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457200" lvl="0" indent="-228600" algn="ctr">
              <a:buSzPts val="1400"/>
            </a:pPr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1069848"/>
            <a:ext cx="843991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100"/>
              </a:spcAft>
            </a:pPr>
          </a:p>
          <a:p>
            <a:pPr algn="just">
              <a:spcBef>
                <a:spcPts val="300"/>
              </a:spcBef>
              <a:spcAft>
                <a:spcPts val="100"/>
              </a:spcAft>
            </a:pPr>
          </a:p>
          <a:p>
            <a:pPr algn="just">
              <a:spcBef>
                <a:spcPts val="300"/>
              </a:spcBef>
              <a:spcAft>
                <a:spcPts val="100"/>
              </a:spcAft>
            </a:pPr>
          </a:p>
          <a:p>
            <a:pPr>
              <a:spcBef>
                <a:spcPts val="300"/>
              </a:spcBef>
              <a:spcAft>
                <a:spcPts val="100"/>
              </a:spcAft>
            </a:pPr>
          </a:p>
          <a:p>
            <a:pPr lvl="1">
              <a:spcBef>
                <a:spcPts val="300"/>
              </a:spcBef>
              <a:spcAft>
                <a:spcPts val="100"/>
              </a:spcAft>
            </a:pPr>
          </a:p>
          <a:p>
            <a:pPr lvl="1">
              <a:spcBef>
                <a:spcPts val="300"/>
              </a:spcBef>
              <a:spcAft>
                <a:spcPts val="100"/>
              </a:spcAft>
            </a:pPr>
          </a:p>
          <a:p>
            <a:pPr lvl="1">
              <a:spcBef>
                <a:spcPts val="300"/>
              </a:spcBef>
              <a:spcAft>
                <a:spcPts val="100"/>
              </a:spcAft>
            </a:pPr>
          </a:p>
          <a:p>
            <a:pPr algn="just">
              <a:spcBef>
                <a:spcPts val="300"/>
              </a:spcBef>
              <a:spcAft>
                <a:spcPts val="100"/>
              </a:spcAft>
            </a:pPr>
          </a:p>
          <a:p>
            <a:pPr algn="just">
              <a:spcBef>
                <a:spcPts val="300"/>
              </a:spcBef>
              <a:spcAft>
                <a:spcPts val="100"/>
              </a:spcAft>
            </a:pPr>
          </a:p>
          <a:p>
            <a:pPr>
              <a:spcBef>
                <a:spcPts val="300"/>
              </a:spcBef>
              <a:spcAft>
                <a:spcPts val="100"/>
              </a:spcAft>
            </a:pPr>
          </a:p>
          <a:p>
            <a:pPr>
              <a:spcBef>
                <a:spcPts val="300"/>
              </a:spcBef>
              <a:spcAft>
                <a:spcPts val="100"/>
              </a:spcAft>
            </a:pPr>
          </a:p>
          <a:p>
            <a:pPr>
              <a:spcBef>
                <a:spcPts val="300"/>
              </a:spcBef>
              <a:spcAft>
                <a:spcPts val="100"/>
              </a:spcAft>
            </a:pPr>
          </a:p>
          <a:p>
            <a:pPr algn="just">
              <a:spcBef>
                <a:spcPts val="300"/>
              </a:spcBef>
              <a:spcAft>
                <a:spcPts val="100"/>
              </a:spcAft>
            </a:pPr>
          </a:p>
          <a:p>
            <a:pPr algn="just">
              <a:spcBef>
                <a:spcPts val="300"/>
              </a:spcBef>
              <a:spcAft>
                <a:spcPts val="100"/>
              </a:spcAft>
            </a:pPr>
          </a:p>
          <a:p>
            <a:pPr>
              <a:spcBef>
                <a:spcPts val="300"/>
              </a:spcBef>
              <a:spcAft>
                <a:spcPts val="100"/>
              </a:spcAft>
            </a:pPr>
          </a:p>
          <a:p>
            <a:pPr>
              <a:spcBef>
                <a:spcPts val="300"/>
              </a:spcBef>
              <a:spcAft>
                <a:spcPts val="100"/>
              </a:spcAft>
            </a:pPr>
          </a:p>
          <a:p>
            <a:pPr>
              <a:spcBef>
                <a:spcPts val="300"/>
              </a:spcBef>
              <a:spcAft>
                <a:spcPts val="100"/>
              </a:spcAft>
            </a:pPr>
          </a:p>
          <a:p>
            <a:pPr>
              <a:spcBef>
                <a:spcPts val="300"/>
              </a:spcBef>
              <a:spcAft>
                <a:spcPts val="100"/>
              </a:spcAft>
            </a:pPr>
          </a:p>
          <a:p>
            <a:pPr>
              <a:spcBef>
                <a:spcPts val="300"/>
              </a:spcBef>
              <a:spcAft>
                <a:spcPts val="100"/>
              </a:spcAft>
            </a:pPr>
          </a:p>
        </p:txBody>
      </p:sp>
      <p:pic>
        <p:nvPicPr>
          <p:cNvPr id="25" name="Picture 24" descr="dfd_leve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188720"/>
            <a:ext cx="9601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8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892F3-3336-DD0F-C089-1509F7234F89}"/>
              </a:ext>
            </a:extLst>
          </p:cNvPr>
          <p:cNvSpPr txBox="1"/>
          <p:nvPr/>
        </p:nvSpPr>
        <p:spPr>
          <a:xfrm>
            <a:off x="2743200" y="1069848"/>
            <a:ext cx="843991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2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sz="1100" b="1">
                <a:latin typeface="Calibri"/>
              </a:rPr>
              <a:t>Module 1: Authentication &amp; Access Control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Email-based OTP generation with 300-second cooldown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JWT token issuance with 24-hour expiry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Role-based access (user/admin) with separate token validation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Guard middleware: verifyOtpToken() + requireAdminToken()</a:t>
            </a: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r>
              <a:rPr sz="1200" b="0">
                <a:latin typeface="Calibri"/>
              </a:rPr>
              <a:t/>
            </a: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r>
              <a:rPr sz="1100" b="1">
                <a:latin typeface="Calibri"/>
              </a:rPr>
              <a:t>Module 2: Breach Detection with k-Anonymity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Client-side SHA-256 hashing via Web Crypto API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Range query: first 5 hash chars as prefix → match suffix locally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Raw PII never leaves the browser (privacy by design)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Backend proxies HIBP API with rate limiting and retry logic</a:t>
            </a: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r>
              <a:rPr sz="1200" b="0">
                <a:latin typeface="Calibri"/>
              </a:rPr>
              <a:t/>
            </a: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r>
              <a:rPr sz="1100" b="1">
                <a:latin typeface="Calibri"/>
              </a:rPr>
              <a:t>Module 3: ML Threat Analysis (Python Service)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Phishing classifier: HuggingFace model, real inference (89% accuracy)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Entity correlator: SentenceTransformer embeddings + cosine similarity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Risk engine: Rule-based scoring with ML-enhanced risk levels</a:t>
            </a: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r>
              <a:rPr sz="1200" b="0">
                <a:latin typeface="Calibri"/>
              </a:rPr>
              <a:t/>
            </a: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r>
              <a:rPr sz="1100" b="1">
                <a:latin typeface="Calibri"/>
              </a:rPr>
              <a:t>Module 4: Blockchain Audit Trail (Local Hardhat)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Merkle tree construction from audit event hashes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AnchorRegistry.sol: Solidity 0.8.20, stores Merkle roots on-chain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Auto-redeploy on startup: ensureContractDeployed() → recoverPendingBatches()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Audit events persisted with anchorStatus (pending/anchored/enqueued)</a:t>
            </a: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r>
              <a:rPr sz="1200" b="0">
                <a:latin typeface="Calibri"/>
              </a:rPr>
              <a:t/>
            </a: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r>
              <a:rPr sz="1100" b="1">
                <a:latin typeface="Calibri"/>
              </a:rPr>
              <a:t>Module 5: Telegram Intelligence Monitoring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Real-time channel monitoring via Telethon API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Keyword matching and threat event extraction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latin typeface="Calibri"/>
              </a:rPr>
              <a:t>Integration with backend audit logging pipeline</a:t>
            </a:r>
          </a:p>
        </p:txBody>
      </p:sp>
    </p:spTree>
    <p:extLst>
      <p:ext uri="{BB962C8B-B14F-4D97-AF65-F5344CB8AC3E}">
        <p14:creationId xmlns:p14="http://schemas.microsoft.com/office/powerpoint/2010/main" val="131507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892F3-3336-DD0F-C089-1509F7234F89}"/>
              </a:ext>
            </a:extLst>
          </p:cNvPr>
          <p:cNvSpPr txBox="1"/>
          <p:nvPr/>
        </p:nvSpPr>
        <p:spPr>
          <a:xfrm>
            <a:off x="2743200" y="1069848"/>
            <a:ext cx="843991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0" lvl="0" indent="0" algn="just" rtl="0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lang="en-IN" sz="9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sz="9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sz="9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[1] A. K. Jain and B. B. Gupta, "Phishing Detection Systems: A Comprehensive Survey of Deep Learning-Based Approaches," IEEE Access, vol. 12, pp. 12345-12360,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[2] S. S. Tyagi, "BreachShield: A Novel Framework for Real-Time Data Breach Detection Using OSINT and Dark Web Monitoring," Computers &amp; Security, vol. 115, p. 102612, 2025.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[3] M. Al-Sarem, F. Saeed, and W. Boulila, "An Ensemble Learning Approach for Phishing Website Detection using Hybrid Features," Electronics, vol. 13, no. 5, p. 245,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[4] R. Sharma and P. Kumar, "Blockchain-Based Secure and Immutable Log Management System for Cloud Forensics," Journal of Information Security and Applications, vol. 78, p. 103598,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[5] T. Zhang, "Deep Web and Dark Web Monitoring for Threat Intelligence: A Systematic Review," ACM Computing Surveys, vol. 56, no. 2, pp. 1-35,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[6] J. Singh and N. Kumar, "Addressing Class Imbalance in Phishing Detection Systems using SMOTE and Deep Learning," Expert Systems with Applications, vol. 238, p. 121888,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[7] L. Wei et al., "Real-Time Phishing URL Detection Using Deep Learning: A Comprehensive Survey," IEEE Transactions on Information Forensics and Security, vol. 19, pp. 4567-4582,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[8] M. A. Habib et al., "Blockchain-Based Intrusion Detection System: A Systematic Literature Review," Computers &amp; Security, vol. 120, p. 102806,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[9] K. Fatima et al., "OSINT-Based Threat Intelligence Framework for Cybersecurity," IEEE Access, vol. 11, pp. 89234-89251,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[10] S. M. Faisal et al., "Explainable AI for Cybersecurity: A Systematic Review," ACM Computing Surveys, vol. 55, no. 8, pp. 1-38,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[11] P. Kumar et al., "Federated Learning for Privacy-Preserving Breach Detection," IEEE Transactions on Dependable and Secure Computing, vol. 20, no. 3, pp. 1234-1248,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[12] R. A. Khan et al., "K-Anonymity Techniques for Privacy-Preserving Data Publishing," IEEE Access, vol. 10, pp. 56789-56805, 2022.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[13] Y. Wang et al., "Merkle Tree-Based Authentication for IoT Devices," IEEE Internet of Things Journal, vol. 10, no. 15, pp. 13423-13437,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[14] A. A. Alshehri et al., "Dark Web Monitoring for Cyber Threat Intelligence: Challenges and Solutions," IEEE Communications Surveys &amp; Tutorials, vol. 25, no. 2, pp. 1234-1267,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[15] H. Chen et al., "Deep Learning for Malware Detection: A Comprehensive Survey," IEEE Transactions on Neural Networks and Learning Systems, vol. 34, no. 12, pp. 9876-9891,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[16] N. B. A. Bakar et al., "Machine Learning-Based Phishing Detection: A Systematic Review," ACM Computing Surveys, vol. 56, no. 5, pp. 1-32,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[17] J. Li et al., "Real-Time Threat Intelligence Sharing Using Blockchain," IEEE Transactions on Industrial Informatics, vol. 19, no. 8, pp. 9021-9034,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[18] S. A. Al-Aqrabi et al., "Telegram-Based OSINT for Cyber Threat Intelligence," IEEE Access, vol. 11, pp. 78901-78918,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[19] W. Liu et al., "Transformer-Based Models for Phishing URL Detection," IEEE Transactions on Information Forensics and Security, vol. 18, pp. 3456-3470,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[20] M. R. Islam et al., "XGBoost for Cybersecurity Applications: A Survey," ACM Computing Surveys, vol. 55, no. 12, pp. 1-36,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[21] T. Wang et al., "K-Anonymity with Differential Privacy: A Unified Framework," IEEE Transactions on Knowledge and Data Engineering, vol. 35, no. 6, pp. 5678-5692,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[22] A. Singh and K. Kumar, "Ethereum Smart Contract Security: A Systematic Review," IEEE Access, vol. 11, pp. 45678-45701,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[23] F. Li et al., "Automated Phishing Email Detection Using Natural Language Processing," IEEE Transactions on Dependable and Secure Computing, vol. 20, no. 5, pp. 3456-3470,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[24] R. Borges et al., "K-Anonymity in Practice: A Survey," ACM Computing Surveys, vol. 56, no. 3, pp. 1-34,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[25] Y. Zhang et al., "Blockchain for IoT Security: Challenges and Future Directions," IEEE Internet of Things Journal, vol. 10, no. 8, pp. 6789-6805,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[26] S. K. Singh et al., "Federated Learning for Cybersecurity: A Comprehensive Survey," ACM Computing Surveys, vol. 56, no. 7, pp. 1-38,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[27] M. A. Rahman et al., "Explainable AI for Network Intrusion Detection: A Systematic Review," IEEE Transactions on Information Forensics and Security, vol. 19, pp. 2345-2360,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[28] L. Zhang et al., "Privacy-Preserving Breach Detection Using Secure Multi-Party Computation," IEEE Access, vol. 11, pp. 23456-23472, 2023.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[29] H. Wang et al., "SentenceTransformer for Semantic Similarity in Cybersecurity," ACM Transactions on Privacy and Security, vol. 27, no. 2, pp. 1-25, 2024.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0">
                <a:latin typeface="Calibri"/>
              </a:rPr>
              <a:t>[30] P. K. Reddy et al., "Sentinel: A Graph-Based Framework for Scalable Threat Intelligence," USENIX Security Symposium, pp. 1234-1251, 2023.</a:t>
            </a:r>
          </a:p>
        </p:txBody>
      </p:sp>
    </p:spTree>
    <p:extLst>
      <p:ext uri="{BB962C8B-B14F-4D97-AF65-F5344CB8AC3E}">
        <p14:creationId xmlns:p14="http://schemas.microsoft.com/office/powerpoint/2010/main" val="377437421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05456" y="0"/>
            <a:ext cx="7525512" cy="104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latin typeface="Calibri"/>
              </a:rPr>
              <a:t>CLASS DIAGRAM</a:t>
            </a:r>
          </a:p>
        </p:txBody>
      </p:sp>
      <p:pic>
        <p:nvPicPr>
          <p:cNvPr id="3" name="Picture 2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5456" y="0"/>
            <a:ext cx="7525512" cy="104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latin typeface="Calibri"/>
              </a:rPr>
              <a:t>CLASS 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05456" y="0"/>
            <a:ext cx="7525512" cy="104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latin typeface="Calibri"/>
              </a:rPr>
              <a:t>USE CASE DIAGRAM</a:t>
            </a:r>
          </a:p>
        </p:txBody>
      </p:sp>
      <p:pic>
        <p:nvPicPr>
          <p:cNvPr id="3" name="Picture 2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5456" y="0"/>
            <a:ext cx="7525512" cy="104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latin typeface="Calibri"/>
              </a:rPr>
              <a:t>USE CASE 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262</Words>
  <Application>Microsoft Office PowerPoint</Application>
  <PresentationFormat>Widescreen</PresentationFormat>
  <Paragraphs>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Futura Cyrillic Book</vt:lpstr>
      <vt:lpstr>Times New Roman</vt:lpstr>
      <vt:lpstr>1_Custom Design</vt:lpstr>
      <vt:lpstr>Custom Design</vt:lpstr>
      <vt:lpstr>2_Custom Design</vt:lpstr>
      <vt:lpstr>3_Custom Design</vt:lpstr>
      <vt:lpstr>PowerPoint Presentation</vt:lpstr>
      <vt:lpstr>Agenda</vt:lpstr>
      <vt:lpstr>ABSTRACT</vt:lpstr>
      <vt:lpstr>INTRODUCTION</vt:lpstr>
      <vt:lpstr>PROBLEM STATEMENT</vt:lpstr>
      <vt:lpstr>REQUIREMENT SPECIFICATION</vt:lpstr>
      <vt:lpstr>REQUIREMENT SPECIFICATION</vt:lpstr>
      <vt:lpstr>SYSTEM DESIGN</vt:lpstr>
      <vt:lpstr>IMPLEMENTATION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pankaj kumar</cp:lastModifiedBy>
  <cp:revision>54</cp:revision>
  <dcterms:created xsi:type="dcterms:W3CDTF">2021-09-07T04:22:00Z</dcterms:created>
  <dcterms:modified xsi:type="dcterms:W3CDTF">2026-09-03T08:47:39Z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