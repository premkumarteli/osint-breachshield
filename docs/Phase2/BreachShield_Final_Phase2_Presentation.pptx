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1" r:id="rId1"/>
  </p:sldMasterIdLst>
  <p:notesMasterIdLst>
    <p:notesMasterId r:id="rId19"/>
  </p:notesMasterIdLst>
  <p:sldIdLst>
    <p:sldId id="256" r:id="rId2"/>
    <p:sldId id="257" r:id="rId3"/>
    <p:sldId id="258" r:id="rId4"/>
    <p:sldId id="271" r:id="rId5"/>
    <p:sldId id="259" r:id="rId6"/>
    <p:sldId id="277" r:id="rId7"/>
    <p:sldId id="260" r:id="rId8"/>
    <p:sldId id="261" r:id="rId9"/>
    <p:sldId id="280" r:id="rId10"/>
    <p:sldId id="281" r:id="rId11"/>
    <p:sldId id="284" r:id="rId12"/>
    <p:sldId id="282" r:id="rId13"/>
    <p:sldId id="283" r:id="rId14"/>
    <p:sldId id="285" r:id="rId15"/>
    <p:sldId id="270" r:id="rId16"/>
    <p:sldId id="267" r:id="rId17"/>
    <p:sldId id="268" r:id="rId18"/>
  </p:sldIdLst>
  <p:sldSz cx="9144000" cy="5143500" type="screen16x9"/>
  <p:notesSz cx="6858000" cy="9144000"/>
  <p:embeddedFontLst>
    <p:embeddedFont>
      <p:font typeface="Century Gothic" panose="020B0502020202020204" pitchFamily="34" charset="0"/>
      <p:regular r:id="rId20"/>
      <p:bold r:id="rId21"/>
      <p:italic r:id="rId22"/>
      <p:boldItalic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g9wjYg4pY/HyKhMt35MO99UX9lQ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3" d="100"/>
          <a:sy n="133" d="100"/>
        </p:scale>
        <p:origin x="984" y="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 Id="rId23" Type="http://schemas.openxmlformats.org/officeDocument/2006/relationships/font" Target="fonts/font4.fntdata"/><Relationship Id="rId28" Type="http://customschemas.google.com/relationships/presentationmetadata" Target="meta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2374536244"/>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p:cNvGrpSpPr/>
        <p:nvPr/>
      </p:nvGrpSpPr>
      <p:grpSpPr>
        <a:xfrm>
          <a:off x="0" y="0"/>
          <a:ext cx="0" cy="0"/>
          <a:chOff x="0" y="0"/>
          <a:chExt cx="0" cy="0"/>
        </a:xfrm>
      </p:grpSpPr>
      <p:sp>
        <p:nvSpPr>
          <p:cNvPr id="52" name="Google Shape;52;p1:notes"/>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2:notes"/>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3:notes"/>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8" name="Google Shape;7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31905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6" name="Google Shape;15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C7F4C-843C-B31F-6984-B15876E12AC6}"/>
              </a:ext>
            </a:extLst>
          </p:cNvPr>
          <p:cNvSpPr>
            <a:spLocks noGrp="1"/>
          </p:cNvSpPr>
          <p:nvPr>
            <p:ph type="ctrTitle"/>
          </p:nvPr>
        </p:nvSpPr>
        <p:spPr>
          <a:xfrm>
            <a:off x="1143000" y="841772"/>
            <a:ext cx="6858000" cy="1790700"/>
          </a:xfrm>
          <a:prstGeom prst="rect">
            <a:avLst/>
          </a:prstGeom>
        </p:spPr>
        <p:txBody>
          <a:bodyPr anchor="b"/>
          <a:lstStyle>
            <a:lvl1pPr algn="ctr">
              <a:defRPr sz="4500"/>
            </a:lvl1pPr>
          </a:lstStyle>
          <a:p>
            <a:r>
              <a:rPr lang="en-US"/>
              <a:t>Click to edit Master title style</a:t>
            </a:r>
            <a:endParaRPr lang="en-IN" dirty="0"/>
          </a:p>
        </p:txBody>
      </p:sp>
      <p:sp>
        <p:nvSpPr>
          <p:cNvPr id="3" name="Subtitle 2">
            <a:extLst>
              <a:ext uri="{FF2B5EF4-FFF2-40B4-BE49-F238E27FC236}">
                <a16:creationId xmlns:a16="http://schemas.microsoft.com/office/drawing/2014/main" id="{2390B0EC-2550-1C96-9092-C533F387D237}"/>
              </a:ext>
            </a:extLst>
          </p:cNvPr>
          <p:cNvSpPr>
            <a:spLocks noGrp="1"/>
          </p:cNvSpPr>
          <p:nvPr>
            <p:ph type="subTitle" idx="1"/>
          </p:nvPr>
        </p:nvSpPr>
        <p:spPr>
          <a:xfrm>
            <a:off x="1143000" y="2701528"/>
            <a:ext cx="6858000" cy="124182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IN" dirty="0"/>
          </a:p>
        </p:txBody>
      </p:sp>
    </p:spTree>
    <p:extLst>
      <p:ext uri="{BB962C8B-B14F-4D97-AF65-F5344CB8AC3E}">
        <p14:creationId xmlns:p14="http://schemas.microsoft.com/office/powerpoint/2010/main" val="4106953508"/>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6D170-920A-2D4E-2C5D-328923F85D71}"/>
              </a:ext>
            </a:extLst>
          </p:cNvPr>
          <p:cNvSpPr>
            <a:spLocks noGrp="1"/>
          </p:cNvSpPr>
          <p:nvPr>
            <p:ph type="title"/>
          </p:nvPr>
        </p:nvSpPr>
        <p:spPr>
          <a:xfrm>
            <a:off x="628650" y="273844"/>
            <a:ext cx="7886700" cy="994172"/>
          </a:xfrm>
          <a:prstGeom prst="rect">
            <a:avLst/>
          </a:prstGeom>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5547E0-1F1B-23B9-C03F-0953AB5DDE3D}"/>
              </a:ext>
            </a:extLst>
          </p:cNvPr>
          <p:cNvSpPr>
            <a:spLocks noGrp="1"/>
          </p:cNvSpPr>
          <p:nvPr>
            <p:ph idx="1"/>
          </p:nvPr>
        </p:nvSpPr>
        <p:spPr>
          <a:xfrm>
            <a:off x="628650" y="1369219"/>
            <a:ext cx="7886700" cy="326350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AEDC67-AE64-C63B-B7CE-4AA8D5491284}"/>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5" name="Footer Placeholder 4">
            <a:extLst>
              <a:ext uri="{FF2B5EF4-FFF2-40B4-BE49-F238E27FC236}">
                <a16:creationId xmlns:a16="http://schemas.microsoft.com/office/drawing/2014/main" id="{086E849F-29B7-899D-3820-8F86BD90A586}"/>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6" name="Slide Number Placeholder 5">
            <a:extLst>
              <a:ext uri="{FF2B5EF4-FFF2-40B4-BE49-F238E27FC236}">
                <a16:creationId xmlns:a16="http://schemas.microsoft.com/office/drawing/2014/main" id="{3EB07280-235B-4ED5-298E-91AFFDFDA34D}"/>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3708913215"/>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FC0DB-E068-DF61-DDA8-E88C33A09F48}"/>
              </a:ext>
            </a:extLst>
          </p:cNvPr>
          <p:cNvSpPr>
            <a:spLocks noGrp="1"/>
          </p:cNvSpPr>
          <p:nvPr>
            <p:ph type="title"/>
          </p:nvPr>
        </p:nvSpPr>
        <p:spPr>
          <a:xfrm>
            <a:off x="623888" y="1282304"/>
            <a:ext cx="7886700" cy="2139553"/>
          </a:xfrm>
          <a:prstGeom prst="rect">
            <a:avLst/>
          </a:prstGeom>
        </p:spPr>
        <p:txBody>
          <a:bodyPr anchor="b"/>
          <a:lstStyle>
            <a:lvl1pPr>
              <a:defRPr sz="45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FE3A397-B2B1-D55D-AC35-46099923AC3B}"/>
              </a:ext>
            </a:extLst>
          </p:cNvPr>
          <p:cNvSpPr>
            <a:spLocks noGrp="1"/>
          </p:cNvSpPr>
          <p:nvPr>
            <p:ph type="body" idx="1"/>
          </p:nvPr>
        </p:nvSpPr>
        <p:spPr>
          <a:xfrm>
            <a:off x="623888" y="3442098"/>
            <a:ext cx="7886700" cy="1125140"/>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B91DC97-FC27-881A-C302-43DFC47F3CF1}"/>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5" name="Footer Placeholder 4">
            <a:extLst>
              <a:ext uri="{FF2B5EF4-FFF2-40B4-BE49-F238E27FC236}">
                <a16:creationId xmlns:a16="http://schemas.microsoft.com/office/drawing/2014/main" id="{21878D8F-7705-7C40-8876-BC621971CD6B}"/>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6" name="Slide Number Placeholder 5">
            <a:extLst>
              <a:ext uri="{FF2B5EF4-FFF2-40B4-BE49-F238E27FC236}">
                <a16:creationId xmlns:a16="http://schemas.microsoft.com/office/drawing/2014/main" id="{A3452762-5F64-A15D-A7CC-0FB472C84BFB}"/>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86262411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FA8F8-4C93-6C45-FFA3-0CE44CA9CFD5}"/>
              </a:ext>
            </a:extLst>
          </p:cNvPr>
          <p:cNvSpPr>
            <a:spLocks noGrp="1"/>
          </p:cNvSpPr>
          <p:nvPr>
            <p:ph type="title"/>
          </p:nvPr>
        </p:nvSpPr>
        <p:spPr>
          <a:xfrm>
            <a:off x="628650" y="273844"/>
            <a:ext cx="7886700" cy="994172"/>
          </a:xfrm>
          <a:prstGeom prst="rect">
            <a:avLst/>
          </a:prstGeom>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04C966F-149B-29C8-59D7-567514BE9686}"/>
              </a:ext>
            </a:extLst>
          </p:cNvPr>
          <p:cNvSpPr>
            <a:spLocks noGrp="1"/>
          </p:cNvSpPr>
          <p:nvPr>
            <p:ph sz="half" idx="1"/>
          </p:nvPr>
        </p:nvSpPr>
        <p:spPr>
          <a:xfrm>
            <a:off x="628650" y="1369219"/>
            <a:ext cx="3886200" cy="326350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ED2363F-78F5-7B35-F066-AF272E2DA693}"/>
              </a:ext>
            </a:extLst>
          </p:cNvPr>
          <p:cNvSpPr>
            <a:spLocks noGrp="1"/>
          </p:cNvSpPr>
          <p:nvPr>
            <p:ph sz="half" idx="2"/>
          </p:nvPr>
        </p:nvSpPr>
        <p:spPr>
          <a:xfrm>
            <a:off x="4629150" y="1369219"/>
            <a:ext cx="3886200" cy="326350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0062309-E80B-985C-BDDA-03ACE6AC5948}"/>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6" name="Footer Placeholder 5">
            <a:extLst>
              <a:ext uri="{FF2B5EF4-FFF2-40B4-BE49-F238E27FC236}">
                <a16:creationId xmlns:a16="http://schemas.microsoft.com/office/drawing/2014/main" id="{1AD5085E-2B82-6149-4E7B-AB94F3EEEF9F}"/>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7" name="Slide Number Placeholder 6">
            <a:extLst>
              <a:ext uri="{FF2B5EF4-FFF2-40B4-BE49-F238E27FC236}">
                <a16:creationId xmlns:a16="http://schemas.microsoft.com/office/drawing/2014/main" id="{F193A52D-B2C3-0693-0D97-E8700E8CACE2}"/>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172659034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C9BE3-B161-CDE6-0FBC-9B24B6F668AF}"/>
              </a:ext>
            </a:extLst>
          </p:cNvPr>
          <p:cNvSpPr>
            <a:spLocks noGrp="1"/>
          </p:cNvSpPr>
          <p:nvPr>
            <p:ph type="title"/>
          </p:nvPr>
        </p:nvSpPr>
        <p:spPr>
          <a:xfrm>
            <a:off x="629841" y="273844"/>
            <a:ext cx="7886700" cy="994172"/>
          </a:xfrm>
          <a:prstGeom prst="rect">
            <a:avLst/>
          </a:prstGeo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6F76472-6036-0C33-802A-E101A562F390}"/>
              </a:ext>
            </a:extLst>
          </p:cNvPr>
          <p:cNvSpPr>
            <a:spLocks noGrp="1"/>
          </p:cNvSpPr>
          <p:nvPr>
            <p:ph type="body" idx="1"/>
          </p:nvPr>
        </p:nvSpPr>
        <p:spPr>
          <a:xfrm>
            <a:off x="629842" y="1260872"/>
            <a:ext cx="3868340" cy="617934"/>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D2DE027D-9414-AE87-0606-47B2743834E3}"/>
              </a:ext>
            </a:extLst>
          </p:cNvPr>
          <p:cNvSpPr>
            <a:spLocks noGrp="1"/>
          </p:cNvSpPr>
          <p:nvPr>
            <p:ph sz="half" idx="2"/>
          </p:nvPr>
        </p:nvSpPr>
        <p:spPr>
          <a:xfrm>
            <a:off x="629842" y="1878806"/>
            <a:ext cx="3868340" cy="276344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CC5607B-F5B0-2140-62B5-38049D226FC8}"/>
              </a:ext>
            </a:extLst>
          </p:cNvPr>
          <p:cNvSpPr>
            <a:spLocks noGrp="1"/>
          </p:cNvSpPr>
          <p:nvPr>
            <p:ph type="body" sz="quarter" idx="3"/>
          </p:nvPr>
        </p:nvSpPr>
        <p:spPr>
          <a:xfrm>
            <a:off x="4629150" y="1260872"/>
            <a:ext cx="3887391" cy="617934"/>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F58897D3-EAF3-1D5C-44D4-BE2D9497539C}"/>
              </a:ext>
            </a:extLst>
          </p:cNvPr>
          <p:cNvSpPr>
            <a:spLocks noGrp="1"/>
          </p:cNvSpPr>
          <p:nvPr>
            <p:ph sz="quarter" idx="4"/>
          </p:nvPr>
        </p:nvSpPr>
        <p:spPr>
          <a:xfrm>
            <a:off x="4629150" y="1878806"/>
            <a:ext cx="3887391" cy="276344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FA53B1B-C430-7121-F572-605CD864C737}"/>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8" name="Footer Placeholder 7">
            <a:extLst>
              <a:ext uri="{FF2B5EF4-FFF2-40B4-BE49-F238E27FC236}">
                <a16:creationId xmlns:a16="http://schemas.microsoft.com/office/drawing/2014/main" id="{E126D1BD-5319-D9BE-0D46-939882A34BC3}"/>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9" name="Slide Number Placeholder 8">
            <a:extLst>
              <a:ext uri="{FF2B5EF4-FFF2-40B4-BE49-F238E27FC236}">
                <a16:creationId xmlns:a16="http://schemas.microsoft.com/office/drawing/2014/main" id="{7F9A6116-76D8-1059-3F84-D8E57254865C}"/>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2991972243"/>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FB6AF-9B37-ACB1-2D61-FC38E6A7D08A}"/>
              </a:ext>
            </a:extLst>
          </p:cNvPr>
          <p:cNvSpPr>
            <a:spLocks noGrp="1"/>
          </p:cNvSpPr>
          <p:nvPr>
            <p:ph type="title"/>
          </p:nvPr>
        </p:nvSpPr>
        <p:spPr>
          <a:xfrm>
            <a:off x="628650" y="273844"/>
            <a:ext cx="7886700" cy="994172"/>
          </a:xfrm>
          <a:prstGeom prst="rect">
            <a:avLst/>
          </a:prstGeom>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221F720-D105-DE9E-909B-4B47F4CCBD10}"/>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4" name="Footer Placeholder 3">
            <a:extLst>
              <a:ext uri="{FF2B5EF4-FFF2-40B4-BE49-F238E27FC236}">
                <a16:creationId xmlns:a16="http://schemas.microsoft.com/office/drawing/2014/main" id="{0CC88AEE-19B7-BD80-0B69-68BF3A77EC7A}"/>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5" name="Slide Number Placeholder 4">
            <a:extLst>
              <a:ext uri="{FF2B5EF4-FFF2-40B4-BE49-F238E27FC236}">
                <a16:creationId xmlns:a16="http://schemas.microsoft.com/office/drawing/2014/main" id="{55834046-CE68-8199-39C8-252798D71B83}"/>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351892086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6C08FC-5528-A37F-FFA5-BCF571AF23B6}"/>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3" name="Footer Placeholder 2">
            <a:extLst>
              <a:ext uri="{FF2B5EF4-FFF2-40B4-BE49-F238E27FC236}">
                <a16:creationId xmlns:a16="http://schemas.microsoft.com/office/drawing/2014/main" id="{A9CEC528-3997-C8C5-2D66-179D57880179}"/>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4" name="Slide Number Placeholder 3">
            <a:extLst>
              <a:ext uri="{FF2B5EF4-FFF2-40B4-BE49-F238E27FC236}">
                <a16:creationId xmlns:a16="http://schemas.microsoft.com/office/drawing/2014/main" id="{DC7F1F73-0C07-C38B-22E3-7BE16BCF8239}"/>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15889074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ED29-4B17-1B9D-84F8-DC8B063DA9AB}"/>
              </a:ext>
            </a:extLst>
          </p:cNvPr>
          <p:cNvSpPr>
            <a:spLocks noGrp="1"/>
          </p:cNvSpPr>
          <p:nvPr>
            <p:ph type="title"/>
          </p:nvPr>
        </p:nvSpPr>
        <p:spPr>
          <a:xfrm>
            <a:off x="629841" y="342900"/>
            <a:ext cx="2949178" cy="1200150"/>
          </a:xfrm>
          <a:prstGeom prst="rect">
            <a:avLst/>
          </a:prstGeom>
        </p:spPr>
        <p:txBody>
          <a:bodyPr anchor="b"/>
          <a:lstStyle>
            <a:lvl1pPr>
              <a:defRPr sz="24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06F5440-402A-D481-EC74-766C6CCED535}"/>
              </a:ext>
            </a:extLst>
          </p:cNvPr>
          <p:cNvSpPr>
            <a:spLocks noGrp="1"/>
          </p:cNvSpPr>
          <p:nvPr>
            <p:ph idx="1"/>
          </p:nvPr>
        </p:nvSpPr>
        <p:spPr>
          <a:xfrm>
            <a:off x="3887391" y="740569"/>
            <a:ext cx="4629150" cy="3655219"/>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D7797F4-7184-32C9-88E7-4D8CC262182F}"/>
              </a:ext>
            </a:extLst>
          </p:cNvPr>
          <p:cNvSpPr>
            <a:spLocks noGrp="1"/>
          </p:cNvSpPr>
          <p:nvPr>
            <p:ph type="body" sz="half" idx="2"/>
          </p:nvPr>
        </p:nvSpPr>
        <p:spPr>
          <a:xfrm>
            <a:off x="629841" y="1543050"/>
            <a:ext cx="2949178" cy="2858691"/>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C5934A6-0699-7C79-008F-5EB7EA19B8EC}"/>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6" name="Footer Placeholder 5">
            <a:extLst>
              <a:ext uri="{FF2B5EF4-FFF2-40B4-BE49-F238E27FC236}">
                <a16:creationId xmlns:a16="http://schemas.microsoft.com/office/drawing/2014/main" id="{ED8AE608-3D8E-D8E2-BCE3-7F4E8462BF00}"/>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7" name="Slide Number Placeholder 6">
            <a:extLst>
              <a:ext uri="{FF2B5EF4-FFF2-40B4-BE49-F238E27FC236}">
                <a16:creationId xmlns:a16="http://schemas.microsoft.com/office/drawing/2014/main" id="{A545A092-B516-BAA9-9210-C87D41E7A949}"/>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145219323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51674-2773-85B9-5D13-675502CD092B}"/>
              </a:ext>
            </a:extLst>
          </p:cNvPr>
          <p:cNvSpPr>
            <a:spLocks noGrp="1"/>
          </p:cNvSpPr>
          <p:nvPr>
            <p:ph type="title"/>
          </p:nvPr>
        </p:nvSpPr>
        <p:spPr>
          <a:xfrm>
            <a:off x="629841" y="342900"/>
            <a:ext cx="2949178" cy="1200150"/>
          </a:xfrm>
          <a:prstGeom prst="rect">
            <a:avLst/>
          </a:prstGeom>
        </p:spPr>
        <p:txBody>
          <a:bodyPr anchor="b"/>
          <a:lstStyle>
            <a:lvl1pPr>
              <a:defRPr sz="24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2E6DBA7-288B-BB8F-6F19-2C72232DBD7D}"/>
              </a:ext>
            </a:extLst>
          </p:cNvPr>
          <p:cNvSpPr>
            <a:spLocks noGrp="1"/>
          </p:cNvSpPr>
          <p:nvPr>
            <p:ph type="pic" idx="1"/>
          </p:nvPr>
        </p:nvSpPr>
        <p:spPr>
          <a:xfrm>
            <a:off x="3887391" y="740569"/>
            <a:ext cx="4629150" cy="365521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IN"/>
          </a:p>
        </p:txBody>
      </p:sp>
      <p:sp>
        <p:nvSpPr>
          <p:cNvPr id="4" name="Text Placeholder 3">
            <a:extLst>
              <a:ext uri="{FF2B5EF4-FFF2-40B4-BE49-F238E27FC236}">
                <a16:creationId xmlns:a16="http://schemas.microsoft.com/office/drawing/2014/main" id="{FDBBEB4E-A422-51B8-5DD6-793D4AB09F06}"/>
              </a:ext>
            </a:extLst>
          </p:cNvPr>
          <p:cNvSpPr>
            <a:spLocks noGrp="1"/>
          </p:cNvSpPr>
          <p:nvPr>
            <p:ph type="body" sz="half" idx="2"/>
          </p:nvPr>
        </p:nvSpPr>
        <p:spPr>
          <a:xfrm>
            <a:off x="629841" y="1543050"/>
            <a:ext cx="2949178" cy="2858691"/>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56AA1595-DD64-C3D9-52C7-00EDCF340D11}"/>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6" name="Footer Placeholder 5">
            <a:extLst>
              <a:ext uri="{FF2B5EF4-FFF2-40B4-BE49-F238E27FC236}">
                <a16:creationId xmlns:a16="http://schemas.microsoft.com/office/drawing/2014/main" id="{8229E52C-6BAC-58A5-711E-C06A6B1371F3}"/>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7" name="Slide Number Placeholder 6">
            <a:extLst>
              <a:ext uri="{FF2B5EF4-FFF2-40B4-BE49-F238E27FC236}">
                <a16:creationId xmlns:a16="http://schemas.microsoft.com/office/drawing/2014/main" id="{47C40756-A897-E5AA-D34C-CC3F5F5E3D78}"/>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149258431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30B52-4AF4-56B9-F5A4-F6A4DBBF708C}"/>
              </a:ext>
            </a:extLst>
          </p:cNvPr>
          <p:cNvSpPr>
            <a:spLocks noGrp="1"/>
          </p:cNvSpPr>
          <p:nvPr>
            <p:ph type="title"/>
          </p:nvPr>
        </p:nvSpPr>
        <p:spPr>
          <a:xfrm>
            <a:off x="628650" y="273844"/>
            <a:ext cx="7886700" cy="994172"/>
          </a:xfrm>
          <a:prstGeom prst="rect">
            <a:avLst/>
          </a:prstGeom>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D469D48-FE6E-F35E-6A39-B7CC694B2223}"/>
              </a:ext>
            </a:extLst>
          </p:cNvPr>
          <p:cNvSpPr>
            <a:spLocks noGrp="1"/>
          </p:cNvSpPr>
          <p:nvPr>
            <p:ph type="body" orient="vert" idx="1"/>
          </p:nvPr>
        </p:nvSpPr>
        <p:spPr>
          <a:xfrm>
            <a:off x="628650" y="1369219"/>
            <a:ext cx="7886700" cy="3263504"/>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01AA4F-6C0D-14ED-49FE-30E8B81A5E63}"/>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5" name="Footer Placeholder 4">
            <a:extLst>
              <a:ext uri="{FF2B5EF4-FFF2-40B4-BE49-F238E27FC236}">
                <a16:creationId xmlns:a16="http://schemas.microsoft.com/office/drawing/2014/main" id="{790EC5AA-7C76-2051-AD8F-A563A0D5312D}"/>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6" name="Slide Number Placeholder 5">
            <a:extLst>
              <a:ext uri="{FF2B5EF4-FFF2-40B4-BE49-F238E27FC236}">
                <a16:creationId xmlns:a16="http://schemas.microsoft.com/office/drawing/2014/main" id="{B88ABAB0-99F8-7686-147F-47249B3E47DC}"/>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375021634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783786-01A4-B97D-B4F8-9273FBC8BAE5}"/>
              </a:ext>
            </a:extLst>
          </p:cNvPr>
          <p:cNvSpPr>
            <a:spLocks noGrp="1"/>
          </p:cNvSpPr>
          <p:nvPr>
            <p:ph type="title" orient="vert"/>
          </p:nvPr>
        </p:nvSpPr>
        <p:spPr>
          <a:xfrm>
            <a:off x="6543675" y="273844"/>
            <a:ext cx="1971675" cy="4358879"/>
          </a:xfrm>
          <a:prstGeom prst="rect">
            <a:avLst/>
          </a:prstGeo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29461E9-48A1-C875-9B58-6A9C57793D35}"/>
              </a:ext>
            </a:extLst>
          </p:cNvPr>
          <p:cNvSpPr>
            <a:spLocks noGrp="1"/>
          </p:cNvSpPr>
          <p:nvPr>
            <p:ph type="body" orient="vert" idx="1"/>
          </p:nvPr>
        </p:nvSpPr>
        <p:spPr>
          <a:xfrm>
            <a:off x="628650" y="273844"/>
            <a:ext cx="5800725" cy="435887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6EB4078-23E0-090E-90DC-0E02B8A9AB0C}"/>
              </a:ext>
            </a:extLst>
          </p:cNvPr>
          <p:cNvSpPr>
            <a:spLocks noGrp="1"/>
          </p:cNvSpPr>
          <p:nvPr>
            <p:ph type="dt" sz="half" idx="10"/>
          </p:nvPr>
        </p:nvSpPr>
        <p:spPr>
          <a:xfrm>
            <a:off x="628650" y="4767263"/>
            <a:ext cx="2057400" cy="273844"/>
          </a:xfrm>
          <a:prstGeom prst="rect">
            <a:avLst/>
          </a:prstGeom>
        </p:spPr>
        <p:txBody>
          <a:bodyPr/>
          <a:lstStyle/>
          <a:p>
            <a:endParaRPr lang="en-IN"/>
          </a:p>
        </p:txBody>
      </p:sp>
      <p:sp>
        <p:nvSpPr>
          <p:cNvPr id="5" name="Footer Placeholder 4">
            <a:extLst>
              <a:ext uri="{FF2B5EF4-FFF2-40B4-BE49-F238E27FC236}">
                <a16:creationId xmlns:a16="http://schemas.microsoft.com/office/drawing/2014/main" id="{1B3A882A-0914-E019-7EBA-F983A19A5CD7}"/>
              </a:ext>
            </a:extLst>
          </p:cNvPr>
          <p:cNvSpPr>
            <a:spLocks noGrp="1"/>
          </p:cNvSpPr>
          <p:nvPr>
            <p:ph type="ftr" sz="quarter" idx="11"/>
          </p:nvPr>
        </p:nvSpPr>
        <p:spPr>
          <a:xfrm>
            <a:off x="3028950" y="4767263"/>
            <a:ext cx="3086100" cy="273844"/>
          </a:xfrm>
          <a:prstGeom prst="rect">
            <a:avLst/>
          </a:prstGeom>
        </p:spPr>
        <p:txBody>
          <a:bodyPr/>
          <a:lstStyle/>
          <a:p>
            <a:endParaRPr lang="en-IN"/>
          </a:p>
        </p:txBody>
      </p:sp>
      <p:sp>
        <p:nvSpPr>
          <p:cNvPr id="6" name="Slide Number Placeholder 5">
            <a:extLst>
              <a:ext uri="{FF2B5EF4-FFF2-40B4-BE49-F238E27FC236}">
                <a16:creationId xmlns:a16="http://schemas.microsoft.com/office/drawing/2014/main" id="{17DED0D4-35D8-4EF4-8158-517A665808A4}"/>
              </a:ext>
            </a:extLst>
          </p:cNvPr>
          <p:cNvSpPr>
            <a:spLocks noGrp="1"/>
          </p:cNvSpPr>
          <p:nvPr>
            <p:ph type="sldNum" sz="quarter" idx="12"/>
          </p:nvPr>
        </p:nvSpPr>
        <p:spPr>
          <a:xfrm>
            <a:off x="6457950" y="4767263"/>
            <a:ext cx="2057400" cy="273844"/>
          </a:xfrm>
          <a:prstGeom prst="rect">
            <a:avLst/>
          </a:prstGeom>
        </p:spPr>
        <p:txBody>
          <a:bodyPr/>
          <a:lstStyle/>
          <a:p>
            <a:fld id="{1FB72222-6C3A-4325-989C-6ACC575FA01E}" type="slidenum">
              <a:rPr lang="en-IN" smtClean="0"/>
              <a:t>‹#›</a:t>
            </a:fld>
            <a:endParaRPr lang="en-IN"/>
          </a:p>
        </p:txBody>
      </p:sp>
    </p:spTree>
    <p:extLst>
      <p:ext uri="{BB962C8B-B14F-4D97-AF65-F5344CB8AC3E}">
        <p14:creationId xmlns:p14="http://schemas.microsoft.com/office/powerpoint/2010/main" val="340892760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1_Title Slide">
    <p:spTree>
      <p:nvGrpSpPr>
        <p:cNvPr id="1" name="Shape 41"/>
        <p:cNvGrpSpPr/>
        <p:nvPr/>
      </p:nvGrpSpPr>
      <p:grpSpPr>
        <a:xfrm>
          <a:off x="0" y="0"/>
          <a:ext cx="0" cy="0"/>
          <a:chOff x="0" y="0"/>
          <a:chExt cx="0" cy="0"/>
        </a:xfrm>
      </p:grpSpPr>
      <p:sp>
        <p:nvSpPr>
          <p:cNvPr id="42" name="Google Shape;42;p15"/>
          <p:cNvSpPr>
            <a:spLocks noGrp="1"/>
          </p:cNvSpPr>
          <p:nvPr>
            <p:ph type="pic" idx="2"/>
          </p:nvPr>
        </p:nvSpPr>
        <p:spPr>
          <a:xfrm>
            <a:off x="3429000" y="971550"/>
            <a:ext cx="2362200" cy="3200400"/>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1pPr>
            <a:lvl2pPr marR="0" lvl="1" algn="l" rtl="0">
              <a:spcBef>
                <a:spcPts val="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R="0" lvl="2" algn="l" rtl="0">
              <a:spcBef>
                <a:spcPts val="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3pPr>
            <a:lvl4pPr marR="0" lvl="3" algn="l" rtl="0">
              <a:spcBef>
                <a:spcPts val="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4pPr>
            <a:lvl5pPr marR="0" lvl="4" algn="l" rtl="0">
              <a:spcBef>
                <a:spcPts val="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3" name="Google Shape;43;p15"/>
          <p:cNvSpPr txBox="1">
            <a:spLocks noGrp="1"/>
          </p:cNvSpPr>
          <p:nvPr>
            <p:ph type="body" idx="1"/>
          </p:nvPr>
        </p:nvSpPr>
        <p:spPr>
          <a:xfrm>
            <a:off x="381000" y="57150"/>
            <a:ext cx="4191000" cy="762000"/>
          </a:xfrm>
          <a:prstGeom prst="rect">
            <a:avLst/>
          </a:prstGeom>
          <a:noFill/>
          <a:ln>
            <a:noFill/>
          </a:ln>
        </p:spPr>
        <p:txBody>
          <a:bodyPr spcFirstLastPara="1" wrap="square" lIns="91425" tIns="91425" rIns="91425" bIns="91425" anchor="t" anchorCtr="0">
            <a:noAutofit/>
          </a:bodyPr>
          <a:lstStyle>
            <a:lvl1pPr marL="457200" lvl="0" indent="-228600" algn="l">
              <a:spcBef>
                <a:spcPts val="0"/>
              </a:spcBef>
              <a:spcAft>
                <a:spcPts val="0"/>
              </a:spcAft>
              <a:buClr>
                <a:srgbClr val="000000"/>
              </a:buClr>
              <a:buSzPts val="1400"/>
              <a:buFont typeface="Arial"/>
              <a:buNone/>
              <a:defRPr/>
            </a:lvl1pPr>
            <a:lvl2pPr marL="914400" lvl="1" indent="-342900" algn="l">
              <a:spcBef>
                <a:spcPts val="0"/>
              </a:spcBef>
              <a:spcAft>
                <a:spcPts val="0"/>
              </a:spcAft>
              <a:buClr>
                <a:srgbClr val="000000"/>
              </a:buClr>
              <a:buSzPts val="1800"/>
              <a:buChar char="–"/>
              <a:defRPr/>
            </a:lvl2pPr>
            <a:lvl3pPr marL="1371600" lvl="2" indent="-342900" algn="l">
              <a:spcBef>
                <a:spcPts val="0"/>
              </a:spcBef>
              <a:spcAft>
                <a:spcPts val="0"/>
              </a:spcAft>
              <a:buClr>
                <a:srgbClr val="000000"/>
              </a:buClr>
              <a:buSzPts val="1800"/>
              <a:buChar char="•"/>
              <a:defRPr/>
            </a:lvl3pPr>
            <a:lvl4pPr marL="1828800" lvl="3" indent="-342900" algn="l">
              <a:spcBef>
                <a:spcPts val="0"/>
              </a:spcBef>
              <a:spcAft>
                <a:spcPts val="0"/>
              </a:spcAft>
              <a:buClr>
                <a:srgbClr val="000000"/>
              </a:buClr>
              <a:buSzPts val="1800"/>
              <a:buChar char="–"/>
              <a:defRPr/>
            </a:lvl4pPr>
            <a:lvl5pPr marL="2286000" lvl="4" indent="-342900" algn="l">
              <a:spcBef>
                <a:spcPts val="0"/>
              </a:spcBef>
              <a:spcAft>
                <a:spcPts val="0"/>
              </a:spcAft>
              <a:buClr>
                <a:srgbClr val="000000"/>
              </a:buClr>
              <a:buSzPts val="1800"/>
              <a:buChar char="»"/>
              <a:defRPr/>
            </a:lvl5pPr>
            <a:lvl6pPr marL="2743200" lvl="5" indent="-228600" algn="l">
              <a:lnSpc>
                <a:spcPct val="100000"/>
              </a:lnSpc>
              <a:spcBef>
                <a:spcPts val="0"/>
              </a:spcBef>
              <a:spcAft>
                <a:spcPts val="0"/>
              </a:spcAft>
              <a:buClr>
                <a:srgbClr val="000000"/>
              </a:buClr>
              <a:buSzPts val="1800"/>
              <a:buNone/>
              <a:defRPr/>
            </a:lvl6pPr>
            <a:lvl7pPr marL="3200400" lvl="6" indent="-228600" algn="l">
              <a:lnSpc>
                <a:spcPct val="100000"/>
              </a:lnSpc>
              <a:spcBef>
                <a:spcPts val="0"/>
              </a:spcBef>
              <a:spcAft>
                <a:spcPts val="0"/>
              </a:spcAft>
              <a:buClr>
                <a:srgbClr val="000000"/>
              </a:buClr>
              <a:buSzPts val="1800"/>
              <a:buNone/>
              <a:defRPr/>
            </a:lvl7pPr>
            <a:lvl8pPr marL="3657600" lvl="7" indent="-228600" algn="l">
              <a:lnSpc>
                <a:spcPct val="100000"/>
              </a:lnSpc>
              <a:spcBef>
                <a:spcPts val="0"/>
              </a:spcBef>
              <a:spcAft>
                <a:spcPts val="0"/>
              </a:spcAft>
              <a:buClr>
                <a:srgbClr val="000000"/>
              </a:buClr>
              <a:buSzPts val="1800"/>
              <a:buNone/>
              <a:defRPr/>
            </a:lvl8pPr>
            <a:lvl9pPr marL="4114800" lvl="8" indent="-228600" algn="l">
              <a:lnSpc>
                <a:spcPct val="100000"/>
              </a:lnSpc>
              <a:spcBef>
                <a:spcPts val="0"/>
              </a:spcBef>
              <a:spcAft>
                <a:spcPts val="0"/>
              </a:spcAft>
              <a:buClr>
                <a:srgbClr val="000000"/>
              </a:buClr>
              <a:buSzPts val="1800"/>
              <a:buNone/>
              <a:defRPr/>
            </a:lvl9pPr>
          </a:lstStyle>
          <a:p>
            <a:endParaRPr/>
          </a:p>
        </p:txBody>
      </p:sp>
      <p:sp>
        <p:nvSpPr>
          <p:cNvPr id="44" name="Google Shape;44;p15"/>
          <p:cNvSpPr txBox="1">
            <a:spLocks noGrp="1"/>
          </p:cNvSpPr>
          <p:nvPr>
            <p:ph type="body" idx="3"/>
          </p:nvPr>
        </p:nvSpPr>
        <p:spPr>
          <a:xfrm>
            <a:off x="4800600" y="57150"/>
            <a:ext cx="3276600" cy="762000"/>
          </a:xfrm>
          <a:prstGeom prst="rect">
            <a:avLst/>
          </a:prstGeom>
          <a:noFill/>
          <a:ln>
            <a:noFill/>
          </a:ln>
        </p:spPr>
        <p:txBody>
          <a:bodyPr spcFirstLastPara="1" wrap="square" lIns="91425" tIns="91425" rIns="91425" bIns="91425" anchor="t" anchorCtr="0">
            <a:noAutofit/>
          </a:bodyPr>
          <a:lstStyle>
            <a:lvl1pPr marL="457200" lvl="0" indent="-228600" algn="l">
              <a:spcBef>
                <a:spcPts val="0"/>
              </a:spcBef>
              <a:spcAft>
                <a:spcPts val="0"/>
              </a:spcAft>
              <a:buClr>
                <a:srgbClr val="000000"/>
              </a:buClr>
              <a:buSzPts val="1400"/>
              <a:buFont typeface="Arial"/>
              <a:buNone/>
              <a:defRPr/>
            </a:lvl1pPr>
            <a:lvl2pPr marL="914400" lvl="1" indent="-342900" algn="l">
              <a:spcBef>
                <a:spcPts val="0"/>
              </a:spcBef>
              <a:spcAft>
                <a:spcPts val="0"/>
              </a:spcAft>
              <a:buClr>
                <a:srgbClr val="000000"/>
              </a:buClr>
              <a:buSzPts val="1800"/>
              <a:buChar char="–"/>
              <a:defRPr/>
            </a:lvl2pPr>
            <a:lvl3pPr marL="1371600" lvl="2" indent="-342900" algn="l">
              <a:spcBef>
                <a:spcPts val="0"/>
              </a:spcBef>
              <a:spcAft>
                <a:spcPts val="0"/>
              </a:spcAft>
              <a:buClr>
                <a:srgbClr val="000000"/>
              </a:buClr>
              <a:buSzPts val="1800"/>
              <a:buChar char="•"/>
              <a:defRPr/>
            </a:lvl3pPr>
            <a:lvl4pPr marL="1828800" lvl="3" indent="-342900" algn="l">
              <a:spcBef>
                <a:spcPts val="0"/>
              </a:spcBef>
              <a:spcAft>
                <a:spcPts val="0"/>
              </a:spcAft>
              <a:buClr>
                <a:srgbClr val="000000"/>
              </a:buClr>
              <a:buSzPts val="1800"/>
              <a:buChar char="–"/>
              <a:defRPr/>
            </a:lvl4pPr>
            <a:lvl5pPr marL="2286000" lvl="4" indent="-342900" algn="l">
              <a:spcBef>
                <a:spcPts val="0"/>
              </a:spcBef>
              <a:spcAft>
                <a:spcPts val="0"/>
              </a:spcAft>
              <a:buClr>
                <a:srgbClr val="000000"/>
              </a:buClr>
              <a:buSzPts val="1800"/>
              <a:buChar char="»"/>
              <a:defRPr/>
            </a:lvl5pPr>
            <a:lvl6pPr marL="2743200" lvl="5" indent="-228600" algn="l">
              <a:lnSpc>
                <a:spcPct val="100000"/>
              </a:lnSpc>
              <a:spcBef>
                <a:spcPts val="0"/>
              </a:spcBef>
              <a:spcAft>
                <a:spcPts val="0"/>
              </a:spcAft>
              <a:buClr>
                <a:srgbClr val="000000"/>
              </a:buClr>
              <a:buSzPts val="1800"/>
              <a:buNone/>
              <a:defRPr/>
            </a:lvl6pPr>
            <a:lvl7pPr marL="3200400" lvl="6" indent="-228600" algn="l">
              <a:lnSpc>
                <a:spcPct val="100000"/>
              </a:lnSpc>
              <a:spcBef>
                <a:spcPts val="0"/>
              </a:spcBef>
              <a:spcAft>
                <a:spcPts val="0"/>
              </a:spcAft>
              <a:buClr>
                <a:srgbClr val="000000"/>
              </a:buClr>
              <a:buSzPts val="1800"/>
              <a:buNone/>
              <a:defRPr/>
            </a:lvl7pPr>
            <a:lvl8pPr marL="3657600" lvl="7" indent="-228600" algn="l">
              <a:lnSpc>
                <a:spcPct val="100000"/>
              </a:lnSpc>
              <a:spcBef>
                <a:spcPts val="0"/>
              </a:spcBef>
              <a:spcAft>
                <a:spcPts val="0"/>
              </a:spcAft>
              <a:buClr>
                <a:srgbClr val="000000"/>
              </a:buClr>
              <a:buSzPts val="1800"/>
              <a:buNone/>
              <a:defRPr/>
            </a:lvl8pPr>
            <a:lvl9pPr marL="4114800" lvl="8" indent="-228600" algn="l">
              <a:lnSpc>
                <a:spcPct val="100000"/>
              </a:lnSpc>
              <a:spcBef>
                <a:spcPts val="0"/>
              </a:spcBef>
              <a:spcAft>
                <a:spcPts val="0"/>
              </a:spcAft>
              <a:buClr>
                <a:srgbClr val="000000"/>
              </a:buClr>
              <a:buSzPts val="1800"/>
              <a:buNone/>
              <a:defRPr/>
            </a:lvl9pPr>
          </a:lstStyle>
          <a:p>
            <a:endParaRPr/>
          </a:p>
        </p:txBody>
      </p:sp>
      <p:sp>
        <p:nvSpPr>
          <p:cNvPr id="45" name="Google Shape;45;p15"/>
          <p:cNvSpPr txBox="1">
            <a:spLocks noGrp="1"/>
          </p:cNvSpPr>
          <p:nvPr>
            <p:ph type="dt" idx="10"/>
          </p:nvPr>
        </p:nvSpPr>
        <p:spPr>
          <a:xfrm>
            <a:off x="7772400" y="4602163"/>
            <a:ext cx="766763" cy="276225"/>
          </a:xfrm>
          <a:prstGeom prst="rect">
            <a:avLst/>
          </a:prstGeom>
          <a:noFill/>
          <a:ln>
            <a:noFill/>
          </a:ln>
        </p:spPr>
        <p:txBody>
          <a:bodyPr spcFirstLastPara="1" wrap="square" lIns="91425" tIns="91425" rIns="91425" bIns="91425"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15"/>
          <p:cNvSpPr txBox="1">
            <a:spLocks noGrp="1"/>
          </p:cNvSpPr>
          <p:nvPr>
            <p:ph type="ftr" idx="11"/>
          </p:nvPr>
        </p:nvSpPr>
        <p:spPr>
          <a:xfrm>
            <a:off x="1943100" y="4602163"/>
            <a:ext cx="5716588" cy="273050"/>
          </a:xfrm>
          <a:prstGeom prst="rect">
            <a:avLst/>
          </a:prstGeom>
          <a:noFill/>
          <a:ln>
            <a:noFill/>
          </a:ln>
        </p:spPr>
        <p:txBody>
          <a:bodyPr spcFirstLastPara="1" wrap="square" lIns="91425" tIns="91425" rIns="91425" bIns="914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5"/>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1pPr>
            <a:lvl2pPr marL="0" marR="0" lvl="1"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2pPr>
            <a:lvl3pPr marL="0" marR="0" lvl="2"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3pPr>
            <a:lvl4pPr marL="0" marR="0" lvl="3"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4pPr>
            <a:lvl5pPr marL="0" marR="0" lvl="4"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5pPr>
            <a:lvl6pPr marL="0" marR="0" lvl="5"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6pPr>
            <a:lvl7pPr marL="0" marR="0" lvl="6"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7pPr>
            <a:lvl8pPr marL="0" marR="0" lvl="7"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8pPr>
            <a:lvl9pPr marL="0" marR="0" lvl="8" indent="0" algn="r" rtl="0">
              <a:spcBef>
                <a:spcPts val="0"/>
              </a:spcBef>
              <a:spcAft>
                <a:spcPts val="0"/>
              </a:spcAft>
              <a:buNone/>
              <a:defRPr sz="2000" b="1" i="1" u="none" strike="noStrike" cap="none">
                <a:solidFill>
                  <a:srgbClr val="FEFFFF"/>
                </a:solidFill>
                <a:latin typeface="Century Gothic"/>
                <a:ea typeface="Century Gothic"/>
                <a:cs typeface="Century Gothic"/>
                <a:sym typeface="Century Gothic"/>
              </a:defRPr>
            </a:lvl9pPr>
          </a:lstStyle>
          <a:p>
            <a:pPr marL="0" lvl="0" indent="0" algn="r" rtl="0">
              <a:spcBef>
                <a:spcPts val="0"/>
              </a:spcBef>
              <a:spcAft>
                <a:spcPts val="0"/>
              </a:spcAft>
              <a:buNone/>
            </a:pPr>
            <a:r>
              <a:rPr lang="en-US"/>
              <a:t>1</a:t>
            </a:r>
            <a:endParaRPr sz="1400" b="0" i="0">
              <a:solidFill>
                <a:srgbClr val="000000"/>
              </a:solidFill>
              <a:latin typeface="Arial"/>
              <a:ea typeface="Arial"/>
              <a:cs typeface="Arial"/>
              <a:sym typeface="Arial"/>
            </a:endParaRPr>
          </a:p>
        </p:txBody>
      </p:sp>
    </p:spTree>
    <p:extLst>
      <p:ext uri="{BB962C8B-B14F-4D97-AF65-F5344CB8AC3E}">
        <p14:creationId xmlns:p14="http://schemas.microsoft.com/office/powerpoint/2010/main" val="24118450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 Id="rId15" Type="http://schemas.openxmlformats.org/officeDocument/2006/relationships/image" Target="../media/image2.png"/><Relationship Id="rId16"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6876A83-E534-8A8B-1483-F5618D6B4F6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853738" cy="5143500"/>
          </a:xfrm>
          <a:prstGeom prst="rect">
            <a:avLst/>
          </a:prstGeom>
        </p:spPr>
      </p:pic>
      <p:pic>
        <p:nvPicPr>
          <p:cNvPr id="10" name="Picture 9">
            <a:extLst>
              <a:ext uri="{FF2B5EF4-FFF2-40B4-BE49-F238E27FC236}">
                <a16:creationId xmlns:a16="http://schemas.microsoft.com/office/drawing/2014/main" id="{1ACC8704-CF87-8F5E-4EF2-FEAE9785955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4136" y="1182082"/>
            <a:ext cx="1658405" cy="2300570"/>
          </a:xfrm>
          <a:prstGeom prst="rect">
            <a:avLst/>
          </a:prstGeom>
        </p:spPr>
      </p:pic>
      <p:pic>
        <p:nvPicPr>
          <p:cNvPr id="12" name="Picture 11">
            <a:extLst>
              <a:ext uri="{FF2B5EF4-FFF2-40B4-BE49-F238E27FC236}">
                <a16:creationId xmlns:a16="http://schemas.microsoft.com/office/drawing/2014/main" id="{28474A41-4E7C-3B2B-B301-C6B54F5541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652040" y="0"/>
            <a:ext cx="193271" cy="5143500"/>
          </a:xfrm>
          <a:prstGeom prst="rect">
            <a:avLst/>
          </a:prstGeom>
        </p:spPr>
      </p:pic>
    </p:spTree>
    <p:extLst>
      <p:ext uri="{BB962C8B-B14F-4D97-AF65-F5344CB8AC3E}">
        <p14:creationId xmlns:p14="http://schemas.microsoft.com/office/powerpoint/2010/main" val="760332930"/>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g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4"/>
        <p:cNvGrpSpPr/>
        <p:nvPr/>
      </p:nvGrpSpPr>
      <p:grpSpPr>
        <a:xfrm>
          <a:off x="0" y="0"/>
          <a:ext cx="0" cy="0"/>
          <a:chOff x="0" y="0"/>
          <a:chExt cx="0" cy="0"/>
        </a:xfrm>
      </p:grpSpPr>
      <p:sp>
        <p:nvSpPr>
          <p:cNvPr id="56" name="Google Shape;56;p1"/>
          <p:cNvSpPr txBox="1">
            <a:spLocks noGrp="1"/>
          </p:cNvSpPr>
          <p:nvPr>
            <p:ph type="body" idx="1"/>
          </p:nvPr>
        </p:nvSpPr>
        <p:spPr>
          <a:xfrm>
            <a:off x="1450182" y="2623741"/>
            <a:ext cx="3754582" cy="154543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53535"/>
              </a:buClr>
              <a:buSzPts val="550"/>
              <a:buFont typeface="Times New Roman"/>
              <a:buNone/>
            </a:pPr>
            <a:r>
              <a:rPr lang="en-US" sz="2200" b="1" i="0" u="none" strike="noStrike" cap="none" dirty="0">
                <a:solidFill>
                  <a:srgbClr val="000000"/>
                </a:solidFill>
                <a:latin typeface="Times New Roman"/>
                <a:ea typeface="Times New Roman"/>
                <a:cs typeface="Times New Roman"/>
                <a:sym typeface="Times New Roman"/>
              </a:rPr>
              <a:t/>
            </a:r>
            <a:r>
              <a:rPr lang="en-US" sz="2200" b="0" i="0" u="none" strike="noStrike" cap="none" dirty="0">
                <a:solidFill>
                  <a:srgbClr val="000000"/>
                </a:solidFill>
                <a:latin typeface="Times New Roman"/>
                <a:ea typeface="Times New Roman"/>
                <a:cs typeface="Times New Roman"/>
                <a:sym typeface="Times New Roman"/>
              </a:rPr>
              <a:t/>
            </a:r>
            <a:r>
              <a:rPr lang="en-US" sz="2200" b="1" i="0" u="none" strike="noStrike" cap="none" dirty="0">
                <a:solidFill>
                  <a:srgbClr val="000000"/>
                </a:solidFill>
                <a:latin typeface="Times New Roman"/>
                <a:ea typeface="Times New Roman"/>
                <a:cs typeface="Times New Roman"/>
                <a:sym typeface="Times New Roman"/>
              </a:rPr>
              <a:t/>
            </a:r>
            <a:r>
              <a:rPr lang="en-US" sz="2200" b="0" i="0" u="none" strike="noStrike" cap="none" dirty="0">
                <a:solidFill>
                  <a:srgbClr val="000000"/>
                </a:solidFill>
                <a:latin typeface="Times New Roman"/>
                <a:ea typeface="Times New Roman"/>
                <a:cs typeface="Times New Roman"/>
                <a:sym typeface="Times New Roman"/>
              </a:rPr>
              <a:t/>
            </a:r>
            <a:r>
              <a:rPr sz="1100" b="1"/>
              <a:t>Under the Guidance of
</a:t>
            </a:r>
            <a:r>
              <a:rPr sz="1300" b="1">
                <a:solidFill>
                  <a:srgbClr val="102C57"/>
                </a:solidFill>
              </a:rPr>
              <a:t>Prof. Sushma T. M.
</a:t>
            </a:r>
            <a:r>
              <a:rPr sz="1000"/>
              <a:t>Assistant Professor
Dept. of ISE, Acharya Institute of Technology</a:t>
            </a:r>
            <a:endParaRPr sz="2200" b="0" i="0" u="none" strike="noStrike" cap="none" dirty="0">
              <a:solidFill>
                <a:srgbClr val="000000"/>
              </a:solidFill>
              <a:latin typeface="Times New Roman"/>
              <a:ea typeface="Times New Roman"/>
              <a:cs typeface="Times New Roman"/>
              <a:sym typeface="Times New Roman"/>
            </a:endParaRPr>
          </a:p>
          <a:p>
            <a:pPr marL="0" marR="0" lvl="0" indent="0" algn="l" rtl="0">
              <a:lnSpc>
                <a:spcPct val="90000"/>
              </a:lnSpc>
              <a:spcBef>
                <a:spcPts val="0"/>
              </a:spcBef>
              <a:spcAft>
                <a:spcPts val="0"/>
              </a:spcAft>
              <a:buClr>
                <a:srgbClr val="353535"/>
              </a:buClr>
              <a:buSzPts val="550"/>
              <a:buFont typeface="Times New Roman"/>
              <a:buNone/>
            </a:pPr>
            <a:r>
              <a:rPr lang="en-US" sz="2200" b="1" i="0" u="none" strike="noStrike" cap="none" dirty="0">
                <a:solidFill>
                  <a:srgbClr val="000000"/>
                </a:solidFill>
                <a:latin typeface="Times New Roman"/>
                <a:ea typeface="Times New Roman"/>
                <a:cs typeface="Times New Roman"/>
                <a:sym typeface="Times New Roman"/>
              </a:rPr>
              <a:t/>
            </a:r>
            <a:r>
              <a:rPr lang="en-US" sz="1800" b="1" i="0" u="none" strike="noStrike" cap="none" dirty="0">
                <a:solidFill>
                  <a:srgbClr val="404040"/>
                </a:solidFill>
                <a:latin typeface="Calibri"/>
                <a:ea typeface="Calibri"/>
                <a:cs typeface="Calibri"/>
                <a:sym typeface="Calibri"/>
              </a:rPr>
              <a:t/>
            </a:r>
          </a:p>
          <a:p>
            <a:pPr marL="0" marR="0" lvl="0" indent="0" algn="l" rtl="0">
              <a:lnSpc>
                <a:spcPct val="90000"/>
              </a:lnSpc>
              <a:spcBef>
                <a:spcPts val="0"/>
              </a:spcBef>
              <a:spcAft>
                <a:spcPts val="0"/>
              </a:spcAft>
              <a:buClr>
                <a:srgbClr val="353535"/>
              </a:buClr>
              <a:buSzPts val="550"/>
              <a:buFont typeface="Times New Roman"/>
              <a:buNone/>
            </a:pPr>
            <a:r>
              <a:rPr lang="en-US" sz="1800" b="1" dirty="0">
                <a:solidFill>
                  <a:srgbClr val="404040"/>
                </a:solidFill>
                <a:latin typeface="Calibri"/>
                <a:ea typeface="Calibri"/>
                <a:cs typeface="Calibri"/>
                <a:sym typeface="Calibri"/>
              </a:rPr>
              <a:t/>
            </a:r>
            <a:r>
              <a:rPr lang="en-US" sz="1800" b="1" i="0" u="none" strike="noStrike" cap="none" dirty="0">
                <a:solidFill>
                  <a:srgbClr val="404040"/>
                </a:solidFill>
                <a:latin typeface="Calibri"/>
                <a:ea typeface="Calibri"/>
                <a:cs typeface="Calibri"/>
                <a:sym typeface="Calibri"/>
              </a:rPr>
              <a:t/>
            </a:r>
          </a:p>
          <a:p>
            <a:pPr marL="0" marR="0" lvl="0" indent="0" algn="l" rtl="0">
              <a:lnSpc>
                <a:spcPct val="90000"/>
              </a:lnSpc>
              <a:spcBef>
                <a:spcPts val="0"/>
              </a:spcBef>
              <a:spcAft>
                <a:spcPts val="0"/>
              </a:spcAft>
              <a:buClr>
                <a:srgbClr val="353535"/>
              </a:buClr>
              <a:buSzPts val="550"/>
              <a:buFont typeface="Times New Roman"/>
              <a:buNone/>
            </a:pPr>
            <a:r>
              <a:rPr lang="en-US" sz="1800" b="1" dirty="0">
                <a:solidFill>
                  <a:srgbClr val="404040"/>
                </a:solidFill>
                <a:latin typeface="Calibri"/>
                <a:ea typeface="Calibri"/>
                <a:cs typeface="Calibri"/>
                <a:sym typeface="Calibri"/>
              </a:rPr>
              <a:t/>
            </a:r>
            <a:r>
              <a:rPr lang="en-US" sz="1800" b="1" i="0" u="none" strike="noStrike" cap="none" dirty="0">
                <a:solidFill>
                  <a:srgbClr val="404040"/>
                </a:solidFill>
                <a:latin typeface="Calibri"/>
                <a:ea typeface="Calibri"/>
                <a:cs typeface="Calibri"/>
                <a:sym typeface="Calibri"/>
              </a:rPr>
              <a:t/>
            </a:r>
            <a:endParaRPr sz="1800" b="1" i="0" u="none" strike="noStrike" cap="none" dirty="0">
              <a:solidFill>
                <a:srgbClr val="404040"/>
              </a:solidFill>
              <a:latin typeface="Calibri"/>
              <a:ea typeface="Calibri"/>
              <a:cs typeface="Calibri"/>
              <a:sym typeface="Calibri"/>
            </a:endParaRPr>
          </a:p>
          <a:p>
            <a:pPr marL="0" marR="0" lvl="0" indent="0" algn="l" rtl="0">
              <a:lnSpc>
                <a:spcPct val="90000"/>
              </a:lnSpc>
              <a:spcBef>
                <a:spcPts val="0"/>
              </a:spcBef>
              <a:spcAft>
                <a:spcPts val="0"/>
              </a:spcAft>
              <a:buClr>
                <a:srgbClr val="353535"/>
              </a:buClr>
              <a:buSzPts val="450"/>
              <a:buFont typeface="Calibri"/>
              <a:buNone/>
            </a:pPr>
            <a:r>
              <a:rPr lang="en-US" sz="1800" b="1" i="0" u="none" strike="noStrike" cap="none" dirty="0">
                <a:solidFill>
                  <a:srgbClr val="404040"/>
                </a:solidFill>
                <a:latin typeface="Calibri"/>
                <a:ea typeface="Calibri"/>
                <a:cs typeface="Calibri"/>
                <a:sym typeface="Calibri"/>
              </a:rPr>
              <a:t/>
            </a:r>
            <a:endParaRPr sz="1800" b="1" i="0" u="none" strike="noStrike" cap="none" dirty="0">
              <a:solidFill>
                <a:srgbClr val="404040"/>
              </a:solidFill>
              <a:latin typeface="Calibri"/>
              <a:ea typeface="Calibri"/>
              <a:cs typeface="Calibri"/>
              <a:sym typeface="Calibri"/>
            </a:endParaRPr>
          </a:p>
          <a:p>
            <a:pPr marL="0" marR="0" lvl="0" indent="0" algn="l" rtl="0">
              <a:lnSpc>
                <a:spcPct val="90000"/>
              </a:lnSpc>
              <a:spcBef>
                <a:spcPts val="1000"/>
              </a:spcBef>
              <a:spcAft>
                <a:spcPts val="0"/>
              </a:spcAft>
              <a:buClr>
                <a:srgbClr val="353535"/>
              </a:buClr>
              <a:buSzPts val="600"/>
              <a:buFont typeface="Noto Sans Symbols"/>
              <a:buNone/>
            </a:pPr>
            <a:endParaRPr sz="2400" b="1" i="0" u="none" strike="noStrike" cap="none" dirty="0">
              <a:solidFill>
                <a:srgbClr val="404040"/>
              </a:solidFill>
              <a:latin typeface="Calibri"/>
              <a:ea typeface="Calibri"/>
              <a:cs typeface="Calibri"/>
              <a:sym typeface="Calibri"/>
            </a:endParaRPr>
          </a:p>
          <a:p>
            <a:pPr marL="0" marR="0" lvl="0" indent="0" algn="ctr" rtl="0">
              <a:lnSpc>
                <a:spcPct val="90000"/>
              </a:lnSpc>
              <a:spcBef>
                <a:spcPts val="1000"/>
              </a:spcBef>
              <a:spcAft>
                <a:spcPts val="0"/>
              </a:spcAft>
              <a:buClr>
                <a:srgbClr val="353535"/>
              </a:buClr>
              <a:buSzPts val="550"/>
              <a:buFont typeface="Noto Sans Symbols"/>
              <a:buNone/>
            </a:pPr>
            <a:endParaRPr sz="2200" b="0" i="0" u="none" strike="noStrike" cap="none" dirty="0">
              <a:solidFill>
                <a:srgbClr val="000000"/>
              </a:solidFill>
              <a:latin typeface="Times New Roman"/>
              <a:ea typeface="Times New Roman"/>
              <a:cs typeface="Times New Roman"/>
              <a:sym typeface="Times New Roman"/>
            </a:endParaRPr>
          </a:p>
          <a:p>
            <a:pPr marL="0" marR="0" lvl="0" indent="0" algn="ctr" rtl="0">
              <a:lnSpc>
                <a:spcPct val="90000"/>
              </a:lnSpc>
              <a:spcBef>
                <a:spcPts val="1000"/>
              </a:spcBef>
              <a:spcAft>
                <a:spcPts val="0"/>
              </a:spcAft>
              <a:buClr>
                <a:srgbClr val="353535"/>
              </a:buClr>
              <a:buSzPts val="550"/>
              <a:buFont typeface="Times New Roman"/>
              <a:buNone/>
            </a:pPr>
            <a:r>
              <a:rPr lang="en-US" sz="2200" b="0" i="0" u="none" strike="noStrike" cap="none" dirty="0">
                <a:solidFill>
                  <a:srgbClr val="000000"/>
                </a:solidFill>
                <a:latin typeface="Times New Roman"/>
                <a:ea typeface="Times New Roman"/>
                <a:cs typeface="Times New Roman"/>
                <a:sym typeface="Times New Roman"/>
              </a:rPr>
              <a:t/>
            </a:r>
            <a:endParaRPr sz="2200" b="0" i="0" u="none" strike="noStrike" cap="none" dirty="0">
              <a:solidFill>
                <a:srgbClr val="000000"/>
              </a:solidFill>
              <a:latin typeface="Times New Roman"/>
              <a:ea typeface="Times New Roman"/>
              <a:cs typeface="Times New Roman"/>
              <a:sym typeface="Times New Roman"/>
            </a:endParaRPr>
          </a:p>
          <a:p>
            <a:pPr marL="0" marR="0" lvl="0" indent="0" algn="ctr" rtl="0">
              <a:lnSpc>
                <a:spcPct val="90000"/>
              </a:lnSpc>
              <a:spcBef>
                <a:spcPts val="1000"/>
              </a:spcBef>
              <a:spcAft>
                <a:spcPts val="0"/>
              </a:spcAft>
              <a:buClr>
                <a:srgbClr val="353535"/>
              </a:buClr>
              <a:buSzPts val="550"/>
              <a:buFont typeface="Noto Sans Symbols"/>
              <a:buNone/>
            </a:pPr>
            <a:r>
              <a:rPr lang="en-US" sz="2200" b="0" i="0" u="none" strike="noStrike" cap="none" dirty="0">
                <a:solidFill>
                  <a:srgbClr val="000000"/>
                </a:solidFill>
                <a:latin typeface="Times New Roman"/>
                <a:ea typeface="Times New Roman"/>
                <a:cs typeface="Times New Roman"/>
                <a:sym typeface="Times New Roman"/>
              </a:rPr>
              <a:t/>
            </a:r>
            <a:endParaRPr sz="2200" b="0" i="0" u="none" strike="noStrike" cap="none" dirty="0">
              <a:solidFill>
                <a:srgbClr val="000000"/>
              </a:solidFill>
              <a:latin typeface="Times New Roman"/>
              <a:ea typeface="Times New Roman"/>
              <a:cs typeface="Times New Roman"/>
              <a:sym typeface="Times New Roman"/>
            </a:endParaRPr>
          </a:p>
          <a:p>
            <a:pPr marL="0" marR="0" lvl="0" indent="0" algn="ctr" rtl="0">
              <a:lnSpc>
                <a:spcPct val="90000"/>
              </a:lnSpc>
              <a:spcBef>
                <a:spcPts val="1000"/>
              </a:spcBef>
              <a:spcAft>
                <a:spcPts val="0"/>
              </a:spcAft>
              <a:buClr>
                <a:srgbClr val="353535"/>
              </a:buClr>
              <a:buSzPts val="550"/>
              <a:buFont typeface="Noto Sans Symbols"/>
              <a:buNone/>
            </a:pPr>
            <a:endParaRPr sz="2200" b="0" i="0" u="none" strike="noStrike" cap="none" dirty="0">
              <a:solidFill>
                <a:srgbClr val="000000"/>
              </a:solidFill>
              <a:latin typeface="Times New Roman"/>
              <a:ea typeface="Times New Roman"/>
              <a:cs typeface="Times New Roman"/>
              <a:sym typeface="Times New Roman"/>
            </a:endParaRPr>
          </a:p>
          <a:p>
            <a:pPr marL="0" marR="0" lvl="0" indent="0" algn="ctr" rtl="0">
              <a:lnSpc>
                <a:spcPct val="90000"/>
              </a:lnSpc>
              <a:spcBef>
                <a:spcPts val="1000"/>
              </a:spcBef>
              <a:spcAft>
                <a:spcPts val="0"/>
              </a:spcAft>
              <a:buClr>
                <a:srgbClr val="353535"/>
              </a:buClr>
              <a:buSzPts val="750"/>
              <a:buFont typeface="Noto Sans Symbols"/>
              <a:buNone/>
            </a:pPr>
            <a:endParaRPr sz="3000" b="0" i="0" u="none" strike="noStrike" cap="none" dirty="0">
              <a:solidFill>
                <a:srgbClr val="000000"/>
              </a:solidFill>
              <a:latin typeface="Times New Roman"/>
              <a:ea typeface="Times New Roman"/>
              <a:cs typeface="Times New Roman"/>
              <a:sym typeface="Times New Roman"/>
            </a:endParaRPr>
          </a:p>
          <a:p>
            <a:pPr marL="0" marR="0" lvl="0" indent="0" algn="ctr" rtl="0">
              <a:lnSpc>
                <a:spcPct val="90000"/>
              </a:lnSpc>
              <a:spcBef>
                <a:spcPts val="1000"/>
              </a:spcBef>
              <a:spcAft>
                <a:spcPts val="0"/>
              </a:spcAft>
              <a:buClr>
                <a:srgbClr val="353535"/>
              </a:buClr>
              <a:buSzPts val="750"/>
              <a:buFont typeface="Noto Sans Symbols"/>
              <a:buNone/>
            </a:pPr>
            <a:endParaRPr sz="3000" b="0" i="0" u="none" strike="noStrike" cap="none" dirty="0">
              <a:solidFill>
                <a:srgbClr val="000000"/>
              </a:solidFill>
              <a:latin typeface="Times New Roman"/>
              <a:ea typeface="Times New Roman"/>
              <a:cs typeface="Times New Roman"/>
              <a:sym typeface="Times New Roman"/>
            </a:endParaRPr>
          </a:p>
        </p:txBody>
      </p:sp>
      <p:sp>
        <p:nvSpPr>
          <p:cNvPr id="55" name="Google Shape;55;p1"/>
          <p:cNvSpPr txBox="1">
            <a:spLocks noGrp="1"/>
          </p:cNvSpPr>
          <p:nvPr>
            <p:ph type="ctrTitle" idx="4294967295"/>
          </p:nvPr>
        </p:nvSpPr>
        <p:spPr>
          <a:xfrm>
            <a:off x="2108273" y="821188"/>
            <a:ext cx="5200000" cy="1311275"/>
          </a:xfrm>
          <a:prstGeom prst="rect">
            <a:avLst/>
          </a:prstGeom>
          <a:noFill/>
          <a:ln>
            <a:noFill/>
          </a:ln>
        </p:spPr>
        <p:txBody>
          <a:bodyPr spcFirstLastPara="1" wrap="square" lIns="91425" tIns="45700" rIns="91425" bIns="45700" anchor="t" anchorCtr="0">
            <a:noAutofit/>
          </a:bodyPr>
          <a:lstStyle/>
          <a:p>
            <a:pPr marL="0" marR="0" lvl="0" indent="0" rtl="0">
              <a:spcBef>
                <a:spcPts val="0"/>
              </a:spcBef>
              <a:spcAft>
                <a:spcPts val="0"/>
              </a:spcAft>
              <a:buNone/>
            </a:pPr>
            <a:r>
              <a:rPr lang="en-US" sz="2800" b="1" i="0" u="none" strike="noStrike" cap="none" dirty="0">
                <a:solidFill>
                  <a:srgbClr val="7030A0"/>
                </a:solidFill>
                <a:latin typeface="Calibri"/>
                <a:ea typeface="Calibri"/>
                <a:cs typeface="Calibri"/>
                <a:sym typeface="Calibri"/>
              </a:rPr>
              <a:t/>
            </a:r>
            <a:r>
              <a:rPr lang="en-US" sz="3600" b="1" i="0" u="none" strike="noStrike" cap="none" dirty="0">
                <a:solidFill>
                  <a:srgbClr val="7030A0"/>
                </a:solidFill>
                <a:latin typeface="Calibri"/>
                <a:ea typeface="Calibri"/>
                <a:cs typeface="Calibri"/>
                <a:sym typeface="Calibri"/>
              </a:rPr>
              <a:t/>
            </a:r>
            <a:r>
              <a:rPr sz="1300" b="1">
                <a:solidFill>
                  <a:srgbClr val="102C57"/>
                </a:solidFill>
              </a:rPr>
              <a:t>BreachShield: A Privacy-Preserving OSINT Breach Intelligence Platform with k-Anonymous Search and Blockchain-Anchored Audit Logging</a:t>
            </a:r>
            <a:endParaRPr sz="2800" b="1" i="0" u="none" strike="noStrike" cap="none" dirty="0">
              <a:solidFill>
                <a:srgbClr val="7030A0"/>
              </a:solidFill>
              <a:latin typeface="Calibri"/>
              <a:ea typeface="Calibri"/>
              <a:cs typeface="Calibri"/>
              <a:sym typeface="Calibri"/>
            </a:endParaRPr>
          </a:p>
        </p:txBody>
      </p:sp>
      <p:sp>
        <p:nvSpPr>
          <p:cNvPr id="57" name="Google Shape;57;p1"/>
          <p:cNvSpPr/>
          <p:nvPr/>
        </p:nvSpPr>
        <p:spPr>
          <a:xfrm>
            <a:off x="5195455" y="2493817"/>
            <a:ext cx="3401291" cy="2138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i="0" u="sng" strike="noStrike" cap="none" dirty="0">
                <a:solidFill>
                  <a:srgbClr val="000000"/>
                </a:solidFill>
                <a:latin typeface="Arial"/>
                <a:ea typeface="Arial"/>
                <a:cs typeface="Arial"/>
                <a:sym typeface="Arial"/>
              </a:rPr>
              <a:t/>
            </a:r>
            <a:r>
              <a:rPr lang="en-US" sz="1800" b="0" i="0" u="none" strike="noStrike" cap="none" dirty="0">
                <a:solidFill>
                  <a:srgbClr val="000000"/>
                </a:solidFill>
                <a:latin typeface="Arial"/>
                <a:ea typeface="Arial"/>
                <a:cs typeface="Arial"/>
                <a:sym typeface="Arial"/>
              </a:rPr>
              <a:t/>
            </a:r>
            <a:r>
              <a:rPr sz="1100" b="1"/>
              <a:t>Project Team Members:
</a:t>
            </a:r>
            <a:r>
              <a:rPr sz="1050"/>
              <a:t>• Arvind D H               (1AY24IS400)
• Girishkumar N M    (1AY24IS404)
• Manoj                        (1AY24IS406)
• Premkumar Teli        (1AY24IS407)</a:t>
            </a:r>
            <a:endParaRPr dirty="0"/>
          </a:p>
          <a:p>
            <a:pPr marL="0" marR="0" lvl="0" indent="0" algn="l" rtl="0">
              <a:spcBef>
                <a:spcPts val="0"/>
              </a:spcBef>
              <a:spcAft>
                <a:spcPts val="0"/>
              </a:spcAft>
              <a:buNone/>
            </a:pPr>
            <a:r>
              <a:rPr lang="en-US" sz="1800" b="1" i="0" u="sng" strike="noStrike" cap="none" dirty="0">
                <a:solidFill>
                  <a:srgbClr val="000000"/>
                </a:solidFill>
                <a:latin typeface="Arial"/>
                <a:ea typeface="Arial"/>
                <a:cs typeface="Arial"/>
                <a:sym typeface="Arial"/>
              </a:rPr>
              <a:t/>
            </a:r>
            <a:endParaRPr dirty="0"/>
          </a:p>
          <a:p>
            <a:pPr marL="0" marR="0" lvl="0" indent="0" algn="l" rtl="0">
              <a:spcBef>
                <a:spcPts val="0"/>
              </a:spcBef>
              <a:spcAft>
                <a:spcPts val="0"/>
              </a:spcAft>
              <a:buNone/>
            </a:pPr>
            <a:endParaRPr sz="1800" b="0" i="0" u="none" strike="noStrike" cap="none" dirty="0">
              <a:solidFill>
                <a:srgbClr val="000000"/>
              </a:solidFill>
              <a:latin typeface="Arial"/>
              <a:ea typeface="Arial"/>
              <a:cs typeface="Arial"/>
              <a:sym typeface="Arial"/>
            </a:endParaRPr>
          </a:p>
          <a:p>
            <a:pPr marL="0" marR="0" lvl="0" indent="0" algn="l" rtl="0">
              <a:spcBef>
                <a:spcPts val="0"/>
              </a:spcBef>
              <a:spcAft>
                <a:spcPts val="0"/>
              </a:spcAft>
              <a:buNone/>
            </a:pPr>
            <a:r>
              <a:rPr lang="en-IN" sz="1800" b="1" dirty="0">
                <a:solidFill>
                  <a:srgbClr val="3F3F3F"/>
                </a:solidFill>
                <a:latin typeface="Calibri"/>
                <a:ea typeface="Calibri"/>
                <a:cs typeface="Calibri"/>
                <a:sym typeface="Calibri"/>
              </a:rPr>
              <a:t/>
            </a:r>
            <a:r>
              <a:rPr lang="en-IN" sz="1800" b="1" i="0" u="none" strike="noStrike" cap="none" dirty="0">
                <a:solidFill>
                  <a:srgbClr val="3F3F3F"/>
                </a:solidFill>
                <a:latin typeface="Calibri"/>
                <a:ea typeface="Calibri"/>
                <a:cs typeface="Calibri"/>
                <a:sym typeface="Calibri"/>
              </a:rPr>
              <a:t/>
            </a:r>
            <a:r>
              <a:rPr lang="en-IN" sz="1800" b="1" dirty="0">
                <a:solidFill>
                  <a:srgbClr val="3F3F3F"/>
                </a:solidFill>
                <a:latin typeface="Calibri"/>
                <a:ea typeface="Calibri"/>
                <a:cs typeface="Calibri"/>
                <a:sym typeface="Calibri"/>
              </a:rPr>
              <a:t/>
            </a:r>
            <a:r>
              <a:rPr lang="en-IN" sz="1800" b="1" i="0" u="none" strike="noStrike" cap="none" dirty="0">
                <a:solidFill>
                  <a:srgbClr val="3F3F3F"/>
                </a:solidFill>
                <a:latin typeface="Calibri"/>
                <a:ea typeface="Calibri"/>
                <a:cs typeface="Calibri"/>
                <a:sym typeface="Calibri"/>
              </a:rPr>
              <a:t/>
            </a:r>
          </a:p>
          <a:p>
            <a:pPr marL="0" marR="0" lvl="0" indent="0" algn="l" rtl="0">
              <a:spcBef>
                <a:spcPts val="0"/>
              </a:spcBef>
              <a:spcAft>
                <a:spcPts val="0"/>
              </a:spcAft>
              <a:buNone/>
            </a:pPr>
            <a:r>
              <a:rPr lang="en-IN" sz="1800" b="1" i="0" u="none" strike="noStrike" cap="none" dirty="0">
                <a:solidFill>
                  <a:srgbClr val="3F3F3F"/>
                </a:solidFill>
                <a:latin typeface="Calibri"/>
                <a:ea typeface="Calibri"/>
                <a:cs typeface="Calibri"/>
                <a:sym typeface="Calibri"/>
              </a:rPr>
              <a:t/>
            </a:r>
          </a:p>
          <a:p>
            <a:r>
              <a:rPr lang="en-IN" sz="1800" b="1" dirty="0">
                <a:solidFill>
                  <a:srgbClr val="3F3F3F"/>
                </a:solidFill>
                <a:latin typeface="Calibri"/>
                <a:ea typeface="Calibri"/>
                <a:cs typeface="Calibri"/>
                <a:sym typeface="Calibri"/>
              </a:rPr>
              <a:t/>
            </a:r>
            <a:r>
              <a:rPr lang="en-IN" sz="1800" b="1" i="0" u="none" strike="noStrike" cap="none" dirty="0">
                <a:solidFill>
                  <a:srgbClr val="3F3F3F"/>
                </a:solidFill>
                <a:latin typeface="Calibri"/>
                <a:ea typeface="Calibri"/>
                <a:cs typeface="Calibri"/>
                <a:sym typeface="Calibri"/>
              </a:rPr>
              <a:t/>
            </a:r>
          </a:p>
          <a:p>
            <a:r>
              <a:rPr lang="en-IN" sz="1800" b="1" dirty="0">
                <a:solidFill>
                  <a:srgbClr val="3F3F3F"/>
                </a:solidFill>
                <a:latin typeface="Calibri"/>
                <a:ea typeface="Calibri"/>
                <a:cs typeface="Calibri"/>
                <a:sym typeface="Calibri"/>
              </a:rPr>
              <a:t/>
            </a:r>
            <a:r>
              <a:rPr lang="en-IN" sz="1800" b="1" i="0" u="none" strike="noStrike" cap="none" dirty="0">
                <a:solidFill>
                  <a:srgbClr val="3F3F3F"/>
                </a:solidFill>
                <a:latin typeface="Calibri"/>
                <a:ea typeface="Calibri"/>
                <a:cs typeface="Calibri"/>
                <a:sym typeface="Calibri"/>
              </a:rPr>
              <a:t/>
            </a:r>
            <a:r>
              <a:rPr lang="en-IN" sz="1800" b="1" i="0" u="none" strike="noStrike" cap="none">
                <a:solidFill>
                  <a:srgbClr val="3F3F3F"/>
                </a:solidFill>
                <a:latin typeface="Calibri"/>
                <a:ea typeface="Calibri"/>
                <a:cs typeface="Calibri"/>
                <a:sym typeface="Calibri"/>
              </a:rPr>
              <a:t/>
            </a:r>
            <a:r>
              <a:rPr lang="en-IN" sz="1800" b="1" i="0" u="none" strike="noStrike" cap="none" dirty="0">
                <a:solidFill>
                  <a:srgbClr val="3F3F3F"/>
                </a:solidFill>
                <a:latin typeface="Calibri"/>
                <a:ea typeface="Calibri"/>
                <a:cs typeface="Calibri"/>
                <a:sym typeface="Calibri"/>
              </a:rPr>
              <a:t/>
            </a:r>
          </a:p>
          <a:p>
            <a:pPr marL="0" marR="0" lvl="0" indent="0" algn="l" rtl="0">
              <a:spcBef>
                <a:spcPts val="0"/>
              </a:spcBef>
              <a:spcAft>
                <a:spcPts val="0"/>
              </a:spcAft>
              <a:buNone/>
            </a:pPr>
            <a:endParaRPr lang="en-GB" sz="1800" b="0" i="0" u="none" strike="noStrike" cap="none" dirty="0">
              <a:solidFill>
                <a:srgbClr val="404040"/>
              </a:solidFill>
              <a:latin typeface="Century Gothic"/>
              <a:ea typeface="Century Gothic"/>
              <a:cs typeface="Century Gothic"/>
              <a:sym typeface="Century Gothic"/>
            </a:endParaRPr>
          </a:p>
        </p:txBody>
      </p:sp>
      <p:sp>
        <p:nvSpPr>
          <p:cNvPr id="58" name="Google Shape;58;p1"/>
          <p:cNvSpPr txBox="1"/>
          <p:nvPr/>
        </p:nvSpPr>
        <p:spPr>
          <a:xfrm>
            <a:off x="1416557" y="75486"/>
            <a:ext cx="7557796" cy="500063"/>
          </a:xfrm>
          <a:prstGeom prst="rect">
            <a:avLst/>
          </a:prstGeom>
          <a:noFill/>
          <a:ln>
            <a:noFill/>
          </a:ln>
        </p:spPr>
        <p:txBody>
          <a:bodyPr spcFirstLastPara="1" wrap="square" lIns="91425" tIns="45700" rIns="91425" bIns="45700" anchor="t" anchorCtr="0">
            <a:noAutofit/>
          </a:bodyPr>
          <a:lstStyle/>
          <a:p>
            <a:pPr lvl="0" algn="ctr"/>
            <a:r>
              <a:rPr lang="en-US" sz="3200" dirty="0">
                <a:solidFill>
                  <a:srgbClr val="C00000"/>
                </a:solidFill>
                <a:latin typeface="Calibri"/>
                <a:ea typeface="Calibri"/>
                <a:cs typeface="Calibri"/>
              </a:rPr>
              <a:t>Major Project Phase-II </a:t>
            </a:r>
            <a:r>
              <a:rPr lang="en-US" sz="3200" b="0" i="0" u="none" strike="noStrike" cap="none" dirty="0">
                <a:solidFill>
                  <a:srgbClr val="C00000"/>
                </a:solidFill>
                <a:latin typeface="Calibri"/>
                <a:ea typeface="Calibri"/>
                <a:cs typeface="Calibri"/>
                <a:sym typeface="Calibri"/>
              </a:rPr>
              <a:t>Presentation</a:t>
            </a:r>
          </a:p>
          <a:p>
            <a:pPr lvl="0" algn="ctr"/>
            <a:r>
              <a:rPr lang="en-US" sz="2400" b="0" i="0" u="none" strike="noStrike" cap="none" dirty="0">
                <a:solidFill>
                  <a:srgbClr val="C00000"/>
                </a:solidFill>
                <a:latin typeface="Calibri"/>
                <a:ea typeface="Calibri"/>
                <a:cs typeface="Calibri"/>
                <a:sym typeface="Calibri"/>
              </a:rPr>
              <a:t>(2026-2027)</a:t>
            </a:r>
            <a:endParaRPr sz="1050" dirty="0">
              <a:solidFill>
                <a:srgbClr val="C00000"/>
              </a:solidFill>
            </a:endParaRPr>
          </a:p>
        </p:txBody>
      </p:sp>
      <p:sp>
        <p:nvSpPr>
          <p:cNvPr id="2" name="Google Shape;98;g2eff20282af_0_123">
            <a:extLst>
              <a:ext uri="{FF2B5EF4-FFF2-40B4-BE49-F238E27FC236}">
                <a16:creationId xmlns:a16="http://schemas.microsoft.com/office/drawing/2014/main" id="{25D59EBE-BC85-3287-B29E-CC3CCF5DDE14}"/>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3" name="Google Shape;55;p1">
            <a:extLst>
              <a:ext uri="{FF2B5EF4-FFF2-40B4-BE49-F238E27FC236}">
                <a16:creationId xmlns:a16="http://schemas.microsoft.com/office/drawing/2014/main" id="{AC3DC087-E359-93E6-4B99-7D7CF607A2B7}"/>
              </a:ext>
            </a:extLst>
          </p:cNvPr>
          <p:cNvSpPr txBox="1">
            <a:spLocks/>
          </p:cNvSpPr>
          <p:nvPr/>
        </p:nvSpPr>
        <p:spPr>
          <a:xfrm>
            <a:off x="2604764" y="1504952"/>
            <a:ext cx="5200000" cy="1311275"/>
          </a:xfrm>
          <a:prstGeom prst="rect">
            <a:avLst/>
          </a:prstGeom>
          <a:noFill/>
          <a:ln>
            <a:noFill/>
          </a:ln>
        </p:spPr>
        <p:txBody>
          <a:bodyPr spcFirstLastPara="1" wrap="square" lIns="91425" tIns="45700" rIns="91425" bIns="45700" anchor="t" anchorCtr="0">
            <a:no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spcBef>
                <a:spcPts val="0"/>
              </a:spcBef>
            </a:pPr>
            <a:r>
              <a:rPr lang="en-US" sz="2800" b="1" dirty="0">
                <a:solidFill>
                  <a:srgbClr val="7030A0"/>
                </a:solidFill>
                <a:latin typeface="Calibri"/>
                <a:ea typeface="Calibri"/>
                <a:cs typeface="Calibri"/>
                <a:sym typeface="Calibri"/>
              </a:rPr>
              <a:t>Subject Code</a:t>
            </a:r>
            <a:r>
              <a:rPr lang="en-US" sz="3600" b="1" dirty="0">
                <a:solidFill>
                  <a:srgbClr val="7030A0"/>
                </a:solidFill>
                <a:latin typeface="Calibri"/>
                <a:ea typeface="Calibri"/>
                <a:cs typeface="Calibri"/>
                <a:sym typeface="Calibri"/>
              </a:rPr>
              <a:t>: </a:t>
            </a:r>
            <a:r>
              <a:rPr lang="en-IN" sz="2800" b="1" dirty="0">
                <a:solidFill>
                  <a:srgbClr val="7030A0"/>
                </a:solidFill>
                <a:latin typeface="Calibri"/>
                <a:ea typeface="Calibri"/>
                <a:cs typeface="Calibri"/>
              </a:rPr>
              <a:t>BIS786</a:t>
            </a:r>
            <a:endParaRPr lang="en-US" sz="2800" b="1" dirty="0">
              <a:solidFill>
                <a:srgbClr val="7030A0"/>
              </a:solidFill>
              <a:latin typeface="Calibri"/>
              <a:ea typeface="Calibri"/>
              <a:cs typeface="Calibri"/>
              <a:sym typeface="Calibri"/>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5" name="Google Shape;65;p2"/>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2000" b="1" i="1" u="none" strike="noStrike" cap="none">
                <a:solidFill>
                  <a:srgbClr val="FEFFFF"/>
                </a:solidFill>
                <a:latin typeface="Century Gothic"/>
                <a:ea typeface="Century Gothic"/>
                <a:cs typeface="Century Gothic"/>
                <a:sym typeface="Century Gothic"/>
              </a:rPr>
              <a:t>2</a:t>
            </a:fld>
            <a:endParaRPr sz="2000" b="1" i="1" u="none" strike="noStrike" cap="none">
              <a:solidFill>
                <a:srgbClr val="FEFFFF"/>
              </a:solidFill>
              <a:latin typeface="Century Gothic"/>
              <a:ea typeface="Century Gothic"/>
              <a:cs typeface="Century Gothic"/>
              <a:sym typeface="Century Gothic"/>
            </a:endParaRPr>
          </a:p>
        </p:txBody>
      </p:sp>
      <p:sp>
        <p:nvSpPr>
          <p:cNvPr id="64" name="Google Shape;64;p2"/>
          <p:cNvSpPr txBox="1">
            <a:spLocks noGrp="1"/>
          </p:cNvSpPr>
          <p:nvPr>
            <p:ph type="ctrTitle" idx="4294967295"/>
          </p:nvPr>
        </p:nvSpPr>
        <p:spPr>
          <a:xfrm>
            <a:off x="0" y="61913"/>
            <a:ext cx="7766050" cy="301625"/>
          </a:xfrm>
          <a:prstGeom prst="rect">
            <a:avLst/>
          </a:prstGeom>
          <a:noFill/>
          <a:ln>
            <a:noFill/>
          </a:ln>
        </p:spPr>
        <p:txBody>
          <a:bodyPr spcFirstLastPara="1" wrap="square" lIns="91425" tIns="91425" rIns="91425" bIns="91425" anchor="t" anchorCtr="0">
            <a:noAutofit/>
          </a:bodyPr>
          <a:lstStyle/>
          <a:p>
            <a:pPr marL="0" marR="0" lvl="0" indent="0" algn="ctr" rtl="0">
              <a:spcBef>
                <a:spcPts val="0"/>
              </a:spcBef>
              <a:spcAft>
                <a:spcPts val="0"/>
              </a:spcAft>
              <a:buNone/>
            </a:pPr>
            <a:r>
              <a:rPr lang="en-US" sz="2800" b="1" i="0" u="none" strike="noStrike" cap="none" dirty="0">
                <a:solidFill>
                  <a:srgbClr val="1581AA"/>
                </a:solidFill>
                <a:latin typeface="Calibri"/>
                <a:ea typeface="Calibri"/>
                <a:cs typeface="Calibri"/>
                <a:sym typeface="Calibri"/>
              </a:rPr>
              <a:t>Agenda</a:t>
            </a:r>
            <a:endParaRPr sz="1100" b="1" dirty="0"/>
          </a:p>
        </p:txBody>
      </p:sp>
      <p:sp>
        <p:nvSpPr>
          <p:cNvPr id="5" name="TextBox 4"/>
          <p:cNvSpPr txBox="1"/>
          <p:nvPr/>
        </p:nvSpPr>
        <p:spPr>
          <a:xfrm>
            <a:off x="1842654" y="585355"/>
            <a:ext cx="6531429" cy="4031873"/>
          </a:xfrm>
          <a:prstGeom prst="rect">
            <a:avLst/>
          </a:prstGeom>
          <a:noFill/>
        </p:spPr>
        <p:txBody>
          <a:bodyPr wrap="square" rtlCol="0">
            <a:spAutoFit/>
          </a:bodyPr>
          <a:lstStyle/>
          <a:p>
            <a:pPr marL="342900" indent="-342900">
              <a:buAutoNum type="arabicPeriod"/>
            </a:pPr>
            <a:r>
              <a:rPr lang="en-US" sz="1600" dirty="0">
                <a:latin typeface="+mj-lt"/>
              </a:rPr>
              <a:t/>
            </a:r>
          </a:p>
          <a:p>
            <a:pPr marL="342900" indent="-342900">
              <a:buAutoNum type="arabicPeriod"/>
            </a:pPr>
            <a:r>
              <a:rPr lang="en-US" sz="1600" dirty="0">
                <a:latin typeface="+mj-lt"/>
              </a:rPr>
              <a:t/>
            </a:r>
          </a:p>
          <a:p>
            <a:pPr marL="342900" indent="-342900">
              <a:buAutoNum type="arabicPeriod"/>
            </a:pPr>
            <a:r>
              <a:rPr lang="en-US" sz="1600" dirty="0">
                <a:latin typeface="+mj-lt"/>
              </a:rPr>
              <a:t/>
            </a:r>
          </a:p>
          <a:p>
            <a:pPr marL="342900" indent="-342900">
              <a:buAutoNum type="arabicPeriod"/>
            </a:pPr>
            <a:r>
              <a:rPr lang="en-US" sz="1600" dirty="0">
                <a:latin typeface="+mj-lt"/>
              </a:rPr>
              <a:t/>
            </a:r>
          </a:p>
          <a:p>
            <a:pPr marL="342900" indent="-342900">
              <a:buAutoNum type="arabicPeriod"/>
            </a:pPr>
            <a:r>
              <a:rPr lang="en-US" sz="1600" dirty="0">
                <a:latin typeface="+mj-lt"/>
              </a:rPr>
              <a:t/>
            </a:r>
          </a:p>
          <a:p>
            <a:pPr marL="342900" indent="-342900">
              <a:buAutoNum type="arabicPeriod"/>
            </a:pPr>
            <a:r>
              <a:rPr lang="en-US" sz="1600" dirty="0">
                <a:latin typeface="+mj-lt"/>
              </a:rPr>
              <a:t/>
            </a:r>
            <a:r>
              <a:rPr lang="en-US" sz="1600" dirty="0">
                <a:solidFill>
                  <a:srgbClr val="FF0000"/>
                </a:solidFill>
                <a:latin typeface="+mj-lt"/>
              </a:rPr>
              <a:t/>
            </a:r>
            <a:r>
              <a:rPr lang="en-US" sz="1600" dirty="0">
                <a:latin typeface="+mj-lt"/>
              </a:rPr>
              <a:t/>
            </a:r>
            <a:r>
              <a:rPr lang="en-US" sz="1600" dirty="0"/>
              <a:t/>
            </a:r>
            <a:r>
              <a:rPr lang="en-US" sz="1600" dirty="0" err="1"/>
              <a:t/>
            </a:r>
            <a:r>
              <a:rPr lang="en-US" sz="1600" dirty="0"/>
              <a:t/>
            </a:r>
            <a:r>
              <a:rPr lang="en-US" sz="1600" dirty="0" err="1"/>
              <a:t/>
            </a:r>
            <a:r>
              <a:rPr lang="en-US" sz="1600" dirty="0"/>
              <a:t/>
            </a:r>
            <a:r>
              <a:rPr lang="en-US" sz="1600" dirty="0" err="1"/>
              <a:t/>
            </a:r>
            <a:r>
              <a:rPr lang="en-US" sz="1600" dirty="0"/>
              <a:t/>
            </a:r>
          </a:p>
          <a:p>
            <a:r>
              <a:rPr lang="en-US" sz="1600" dirty="0"/>
              <a:t/>
            </a:r>
            <a:r>
              <a:rPr lang="en-US" sz="1600" dirty="0">
                <a:latin typeface="+mj-lt"/>
              </a:rPr>
              <a:t/>
            </a:r>
          </a:p>
          <a:p>
            <a:r>
              <a:rPr lang="en-US" sz="1600" dirty="0">
                <a:latin typeface="+mj-lt"/>
              </a:rPr>
              <a:t/>
            </a:r>
          </a:p>
          <a:p>
            <a:r>
              <a:rPr lang="en-US" sz="1600" dirty="0">
                <a:latin typeface="+mj-lt"/>
              </a:rPr>
              <a:t/>
            </a:r>
          </a:p>
          <a:p>
            <a:r>
              <a:rPr lang="en-US" sz="1600" dirty="0">
                <a:latin typeface="+mj-lt"/>
              </a:rPr>
              <a:t/>
            </a:r>
          </a:p>
          <a:p>
            <a:r>
              <a:rPr lang="en-US" sz="1600" dirty="0">
                <a:latin typeface="+mj-lt"/>
              </a:rPr>
              <a:t/>
            </a:r>
          </a:p>
          <a:p>
            <a:r>
              <a:rPr lang="en-US" sz="1600" dirty="0">
                <a:latin typeface="+mj-lt"/>
              </a:rPr>
              <a:t/>
            </a:r>
          </a:p>
          <a:p>
            <a:r>
              <a:rPr lang="en-US" sz="1600" dirty="0">
                <a:latin typeface="+mj-lt"/>
              </a:rPr>
              <a:t/>
            </a:r>
            <a:r>
              <a:rPr lang="en-US" sz="1600" dirty="0">
                <a:latin typeface="+mn-lt"/>
              </a:rPr>
              <a:t/>
            </a:r>
          </a:p>
          <a:p>
            <a:pPr>
              <a:spcBef>
                <a:spcPts val="100"/>
              </a:spcBef>
              <a:spcAft>
                <a:spcPts val="100"/>
              </a:spcAft>
            </a:pPr>
            <a:r>
              <a:rPr sz="1000" b="0">
                <a:solidFill>
                  <a:srgbClr val="1E1E1E"/>
                </a:solidFill>
                <a:latin typeface="Calibri"/>
              </a:rPr>
              <a:t>1. Abstract &amp; Motivation</a:t>
            </a:r>
          </a:p>
          <a:p>
            <a:pPr>
              <a:spcBef>
                <a:spcPts val="100"/>
              </a:spcBef>
              <a:spcAft>
                <a:spcPts val="100"/>
              </a:spcAft>
            </a:pPr>
            <a:r>
              <a:rPr sz="1000" b="0">
                <a:solidFill>
                  <a:srgbClr val="1E1E1E"/>
                </a:solidFill>
                <a:latin typeface="Calibri"/>
              </a:rPr>
              <a:t>2. Introduction &amp; Background</a:t>
            </a:r>
          </a:p>
          <a:p>
            <a:pPr>
              <a:spcBef>
                <a:spcPts val="100"/>
              </a:spcBef>
              <a:spcAft>
                <a:spcPts val="100"/>
              </a:spcAft>
            </a:pPr>
            <a:r>
              <a:rPr sz="1000" b="0">
                <a:solidFill>
                  <a:srgbClr val="1E1E1E"/>
                </a:solidFill>
                <a:latin typeface="Calibri"/>
              </a:rPr>
              <a:t>3. Problem Statement &amp; Challenges</a:t>
            </a:r>
          </a:p>
          <a:p>
            <a:pPr>
              <a:spcBef>
                <a:spcPts val="100"/>
              </a:spcBef>
              <a:spcAft>
                <a:spcPts val="100"/>
              </a:spcAft>
            </a:pPr>
            <a:r>
              <a:rPr sz="1000" b="0">
                <a:solidFill>
                  <a:srgbClr val="1E1E1E"/>
                </a:solidFill>
                <a:latin typeface="Calibri"/>
              </a:rPr>
              <a:t>4. Requirement Specification (Hardware &amp; Software, Functional &amp; Non-Functional)</a:t>
            </a:r>
          </a:p>
          <a:p>
            <a:pPr>
              <a:spcBef>
                <a:spcPts val="100"/>
              </a:spcBef>
              <a:spcAft>
                <a:spcPts val="100"/>
              </a:spcAft>
            </a:pPr>
            <a:r>
              <a:rPr sz="1000" b="0">
                <a:solidFill>
                  <a:srgbClr val="1E1E1E"/>
                </a:solidFill>
                <a:latin typeface="Calibri"/>
              </a:rPr>
              <a:t>5. System Architecture &amp; Design (4-Tier Architecture &amp; DFD / UML)</a:t>
            </a:r>
          </a:p>
          <a:p>
            <a:pPr>
              <a:spcBef>
                <a:spcPts val="100"/>
              </a:spcBef>
              <a:spcAft>
                <a:spcPts val="100"/>
              </a:spcAft>
            </a:pPr>
            <a:r>
              <a:rPr sz="1000" b="0">
                <a:solidFill>
                  <a:srgbClr val="1E1E1E"/>
                </a:solidFill>
                <a:latin typeface="Calibri"/>
              </a:rPr>
              <a:t>6. Implementation &amp; Core Modules (Web HUD, Gateway, AI Engine, EVM Smart Contract)</a:t>
            </a:r>
          </a:p>
          <a:p>
            <a:pPr>
              <a:spcBef>
                <a:spcPts val="100"/>
              </a:spcBef>
              <a:spcAft>
                <a:spcPts val="100"/>
              </a:spcAft>
            </a:pPr>
            <a:r>
              <a:rPr sz="1000" b="0">
                <a:solidFill>
                  <a:srgbClr val="1E1E1E"/>
                </a:solidFill>
                <a:latin typeface="Calibri"/>
              </a:rPr>
              <a:t>7. Testing Methodology (175 Automated Unit, Integration &amp; Security Tests)</a:t>
            </a:r>
          </a:p>
          <a:p>
            <a:pPr>
              <a:spcBef>
                <a:spcPts val="100"/>
              </a:spcBef>
              <a:spcAft>
                <a:spcPts val="100"/>
              </a:spcAft>
            </a:pPr>
            <a:r>
              <a:rPr sz="1000" b="0">
                <a:solidFill>
                  <a:srgbClr val="1E1E1E"/>
                </a:solidFill>
                <a:latin typeface="Calibri"/>
              </a:rPr>
              <a:t>8. Comprehensive Test Cases Table (12 Critical Verification Scenarios)</a:t>
            </a:r>
          </a:p>
          <a:p>
            <a:pPr>
              <a:spcBef>
                <a:spcPts val="100"/>
              </a:spcBef>
              <a:spcAft>
                <a:spcPts val="100"/>
              </a:spcAft>
            </a:pPr>
            <a:r>
              <a:rPr sz="1000" b="0">
                <a:solidFill>
                  <a:srgbClr val="1E1E1E"/>
                </a:solidFill>
                <a:latin typeface="Calibri"/>
              </a:rPr>
              <a:t>9. Results &amp; Empirical Performance Benchmarks (89.2% Accuracy, 1,034 Records)</a:t>
            </a:r>
          </a:p>
          <a:p>
            <a:pPr>
              <a:spcBef>
                <a:spcPts val="100"/>
              </a:spcBef>
              <a:spcAft>
                <a:spcPts val="100"/>
              </a:spcAft>
            </a:pPr>
            <a:r>
              <a:rPr sz="1000" b="0">
                <a:solidFill>
                  <a:srgbClr val="1E1E1E"/>
                </a:solidFill>
                <a:latin typeface="Calibri"/>
              </a:rPr>
              <a:t>10. System Snapshots &amp; Threat Verification</a:t>
            </a:r>
          </a:p>
          <a:p>
            <a:pPr>
              <a:spcBef>
                <a:spcPts val="100"/>
              </a:spcBef>
              <a:spcAft>
                <a:spcPts val="100"/>
              </a:spcAft>
            </a:pPr>
            <a:r>
              <a:rPr sz="1000" b="0">
                <a:solidFill>
                  <a:srgbClr val="1E1E1E"/>
                </a:solidFill>
                <a:latin typeface="Calibri"/>
              </a:rPr>
              <a:t>11. Conclusion &amp; Key Takeaways</a:t>
            </a:r>
          </a:p>
          <a:p>
            <a:pPr>
              <a:spcBef>
                <a:spcPts val="100"/>
              </a:spcBef>
              <a:spcAft>
                <a:spcPts val="100"/>
              </a:spcAft>
            </a:pPr>
            <a:r>
              <a:rPr sz="1000" b="0">
                <a:solidFill>
                  <a:srgbClr val="1E1E1E"/>
                </a:solidFill>
                <a:latin typeface="Calibri"/>
              </a:rPr>
              <a:t>12. Future Enhancements &amp; Scalability Roadmap</a:t>
            </a:r>
          </a:p>
          <a:p>
            <a:pPr>
              <a:spcBef>
                <a:spcPts val="100"/>
              </a:spcBef>
              <a:spcAft>
                <a:spcPts val="100"/>
              </a:spcAft>
            </a:pPr>
            <a:r>
              <a:rPr sz="1000" b="0">
                <a:solidFill>
                  <a:srgbClr val="1E1E1E"/>
                </a:solidFill>
                <a:latin typeface="Calibri"/>
              </a:rPr>
              <a:t>13. Research Paper (Accepted IEEE Conference Publication)</a:t>
            </a:r>
          </a:p>
          <a:p>
            <a:pPr>
              <a:spcBef>
                <a:spcPts val="100"/>
              </a:spcBef>
              <a:spcAft>
                <a:spcPts val="100"/>
              </a:spcAft>
            </a:pPr>
            <a:r>
              <a:rPr sz="1000" b="0">
                <a:solidFill>
                  <a:srgbClr val="1E1E1E"/>
                </a:solidFill>
                <a:latin typeface="Calibri"/>
              </a:rPr>
              <a:t>14. References</a:t>
            </a:r>
          </a:p>
        </p:txBody>
      </p:sp>
      <p:sp>
        <p:nvSpPr>
          <p:cNvPr id="2" name="Google Shape;98;g2eff20282af_0_123">
            <a:extLst>
              <a:ext uri="{FF2B5EF4-FFF2-40B4-BE49-F238E27FC236}">
                <a16:creationId xmlns:a16="http://schemas.microsoft.com/office/drawing/2014/main" id="{7360C5C6-BDAD-D446-C1E8-2502C8F2F53E}"/>
              </a:ext>
            </a:extLst>
          </p:cNvPr>
          <p:cNvSpPr txBox="1"/>
          <p:nvPr/>
        </p:nvSpPr>
        <p:spPr>
          <a:xfrm>
            <a:off x="201496" y="2805452"/>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4" name="Google Shape;74;p3"/>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2000" b="1" i="1" u="none" strike="noStrike" cap="none">
                <a:solidFill>
                  <a:srgbClr val="FEFFFF"/>
                </a:solidFill>
                <a:latin typeface="Century Gothic"/>
                <a:ea typeface="Century Gothic"/>
                <a:cs typeface="Century Gothic"/>
                <a:sym typeface="Century Gothic"/>
              </a:rPr>
              <a:t>3</a:t>
            </a:fld>
            <a:endParaRPr sz="2000" b="1" i="1" u="none" strike="noStrike" cap="none">
              <a:solidFill>
                <a:srgbClr val="FEFFFF"/>
              </a:solidFill>
              <a:latin typeface="Century Gothic"/>
              <a:ea typeface="Century Gothic"/>
              <a:cs typeface="Century Gothic"/>
              <a:sym typeface="Century Gothic"/>
            </a:endParaRPr>
          </a:p>
        </p:txBody>
      </p:sp>
      <p:sp>
        <p:nvSpPr>
          <p:cNvPr id="72" name="Google Shape;72;p3"/>
          <p:cNvSpPr txBox="1">
            <a:spLocks noGrp="1"/>
          </p:cNvSpPr>
          <p:nvPr>
            <p:ph type="ctrTitle" idx="4294967295"/>
          </p:nvPr>
        </p:nvSpPr>
        <p:spPr>
          <a:xfrm>
            <a:off x="0" y="57150"/>
            <a:ext cx="7694613" cy="749300"/>
          </a:xfrm>
          <a:prstGeom prst="rect">
            <a:avLst/>
          </a:prstGeom>
          <a:noFill/>
          <a:ln>
            <a:noFill/>
          </a:ln>
        </p:spPr>
        <p:txBody>
          <a:bodyPr spcFirstLastPara="1" wrap="square" lIns="91425" tIns="91425" rIns="91425" bIns="91425" anchor="t" anchorCtr="0">
            <a:noAutofit/>
          </a:bodyPr>
          <a:lstStyle/>
          <a:p>
            <a:pPr marL="0" marR="0" lvl="0" indent="0" algn="ctr" rtl="0">
              <a:spcBef>
                <a:spcPts val="0"/>
              </a:spcBef>
              <a:spcAft>
                <a:spcPts val="0"/>
              </a:spcAft>
              <a:buNone/>
            </a:pPr>
            <a:r>
              <a:rPr lang="en-US" sz="2800" b="1" i="0" u="none" strike="noStrike" cap="none" dirty="0">
                <a:solidFill>
                  <a:srgbClr val="1581AA"/>
                </a:solidFill>
                <a:latin typeface="Calibri"/>
                <a:ea typeface="Calibri"/>
                <a:cs typeface="Calibri"/>
                <a:sym typeface="Calibri"/>
              </a:rPr>
              <a:t>Abstract</a:t>
            </a:r>
            <a:br>
              <a:rPr lang="en-US" sz="2800" b="1" i="0" u="none" strike="noStrike" cap="none" dirty="0">
                <a:solidFill>
                  <a:srgbClr val="000000"/>
                </a:solidFill>
                <a:latin typeface="Calibri"/>
                <a:ea typeface="Calibri"/>
                <a:cs typeface="Calibri"/>
                <a:sym typeface="Calibri"/>
              </a:rPr>
            </a:br>
            <a:endParaRPr sz="2800" b="1" i="0" u="none" strike="noStrike" cap="none" dirty="0">
              <a:solidFill>
                <a:srgbClr val="1581AA"/>
              </a:solidFill>
              <a:latin typeface="Calibri"/>
              <a:ea typeface="Calibri"/>
              <a:cs typeface="Calibri"/>
              <a:sym typeface="Calibri"/>
            </a:endParaRPr>
          </a:p>
        </p:txBody>
      </p:sp>
      <p:sp>
        <p:nvSpPr>
          <p:cNvPr id="75" name="Google Shape;75;p3"/>
          <p:cNvSpPr/>
          <p:nvPr/>
        </p:nvSpPr>
        <p:spPr>
          <a:xfrm>
            <a:off x="2790530" y="2610736"/>
            <a:ext cx="585788" cy="27305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2000" b="0" i="0" u="none" strike="noStrike" cap="none">
                <a:solidFill>
                  <a:srgbClr val="FEFFFF"/>
                </a:solidFill>
                <a:latin typeface="Century Gothic"/>
                <a:ea typeface="Century Gothic"/>
                <a:cs typeface="Century Gothic"/>
                <a:sym typeface="Century Gothic"/>
              </a:rPr>
              <a:t>3</a:t>
            </a:fld>
            <a:endParaRPr sz="2000" b="0" i="0" u="none" strike="noStrike" cap="none">
              <a:solidFill>
                <a:srgbClr val="FEFFFF"/>
              </a:solidFill>
              <a:latin typeface="Century Gothic"/>
              <a:ea typeface="Century Gothic"/>
              <a:cs typeface="Century Gothic"/>
              <a:sym typeface="Century Gothic"/>
            </a:endParaRPr>
          </a:p>
        </p:txBody>
      </p:sp>
      <p:sp>
        <p:nvSpPr>
          <p:cNvPr id="3" name="TextBox 2">
            <a:extLst>
              <a:ext uri="{FF2B5EF4-FFF2-40B4-BE49-F238E27FC236}">
                <a16:creationId xmlns:a16="http://schemas.microsoft.com/office/drawing/2014/main" id="{1253EA77-B8EE-4465-E7C5-BE5FA9C44F92}"/>
              </a:ext>
            </a:extLst>
          </p:cNvPr>
          <p:cNvSpPr txBox="1"/>
          <p:nvPr/>
        </p:nvSpPr>
        <p:spPr>
          <a:xfrm>
            <a:off x="2022763" y="1041479"/>
            <a:ext cx="6531429" cy="338554"/>
          </a:xfrm>
          <a:prstGeom prst="rect">
            <a:avLst/>
          </a:prstGeom>
          <a:noFill/>
        </p:spPr>
        <p:txBody>
          <a:bodyPr wrap="square" rtlCol="0">
            <a:spAutoFit/>
          </a:bodyPr>
          <a:lstStyle/>
          <a:p>
            <a:pPr>
              <a:spcBef>
                <a:spcPts val="200"/>
              </a:spcBef>
              <a:spcAft>
                <a:spcPts val="400"/>
              </a:spcAft>
            </a:pPr>
            <a:r>
              <a:rPr lang="en-US" sz="1600" dirty="0">
                <a:solidFill>
                  <a:srgbClr val="FF0000"/>
                </a:solidFill>
                <a:latin typeface="+mj-lt"/>
              </a:rPr>
              <a:t/>
            </a:r>
            <a:r>
              <a:rPr sz="1050" b="0">
                <a:solidFill>
                  <a:srgbClr val="1E1E1E"/>
                </a:solidFill>
                <a:latin typeface="Calibri"/>
              </a:rPr>
              <a:t>BreachShield is an enterprise-grade, privacy-preserving OSINT breach intelligence platform engineered to solve the structural surveillance flaw inherent in conventional breach search engines. Traditional breach lookup systems require users to submit raw personal emails or credentials to third-party servers, creating potential query exposure. BreachShield overcomes this through a client-side k-anonymity protocol (5-hex-character SHA-256 prefix matching), ensuring that plaintext identifiers never cross the network boundary.</a:t>
            </a:r>
            <a:endParaRPr lang="en-US" sz="1600" dirty="0">
              <a:solidFill>
                <a:srgbClr val="FF0000"/>
              </a:solidFill>
              <a:latin typeface="+mn-lt"/>
            </a:endParaRPr>
          </a:p>
          <a:p>
            <a:pPr>
              <a:spcBef>
                <a:spcPts val="200"/>
              </a:spcBef>
              <a:spcAft>
                <a:spcPts val="200"/>
              </a:spcAft>
            </a:pPr>
            <a:r>
              <a:rPr sz="1050" b="0">
                <a:solidFill>
                  <a:srgbClr val="1E1E1E"/>
                </a:solidFill>
                <a:latin typeface="Calibri"/>
              </a:rPr>
              <a:t>The platform unifies an out-of-band dual-channel OTP identity gate (Email SMTP + Android SMS relay), a pluggable multi-source OSINT aggregation registry (Telegram, HIBP, local catalogs), an XGBoost breach-severity classifier (89.2% accuracy on 1,034 curated breach records), and a pretrained UrlBERT phishing URL detection model. All administrative and query transactions are batched into SHA-256 Merkle trees anchored to a local EVM smart contract (AnchorRegistry.sol), providing cryptographically verifiable, tamper-evident audit logging. The entire system achieves 100% test pass rates across 175 automated test suites.</a:t>
            </a:r>
          </a:p>
        </p:txBody>
      </p:sp>
      <p:sp>
        <p:nvSpPr>
          <p:cNvPr id="2" name="Google Shape;98;g2eff20282af_0_123">
            <a:extLst>
              <a:ext uri="{FF2B5EF4-FFF2-40B4-BE49-F238E27FC236}">
                <a16:creationId xmlns:a16="http://schemas.microsoft.com/office/drawing/2014/main" id="{FC7A7703-DD32-0F5F-9961-81D1C0535EA5}"/>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48656" y="400692"/>
            <a:ext cx="5188450" cy="400110"/>
          </a:xfrm>
          <a:prstGeom prst="rect">
            <a:avLst/>
          </a:prstGeom>
          <a:noFill/>
        </p:spPr>
        <p:txBody>
          <a:bodyPr wrap="square" rtlCol="0">
            <a:spAutoFit/>
          </a:bodyPr>
          <a:lstStyle/>
          <a:p>
            <a:pPr algn="ctr"/>
            <a:r>
              <a:rPr lang="en-US" sz="2000" b="1" dirty="0">
                <a:solidFill>
                  <a:srgbClr val="1581AA"/>
                </a:solidFill>
                <a:latin typeface="Calibri"/>
                <a:ea typeface="Calibri"/>
                <a:cs typeface="Calibri"/>
                <a:sym typeface="Calibri"/>
              </a:rPr>
              <a:t>             INTRODUCTION</a:t>
            </a:r>
            <a:endParaRPr lang="en-US" sz="2000" dirty="0"/>
          </a:p>
        </p:txBody>
      </p:sp>
      <p:sp>
        <p:nvSpPr>
          <p:cNvPr id="3" name="Google Shape;98;g2eff20282af_0_123">
            <a:extLst>
              <a:ext uri="{FF2B5EF4-FFF2-40B4-BE49-F238E27FC236}">
                <a16:creationId xmlns:a16="http://schemas.microsoft.com/office/drawing/2014/main" id="{FCF587C3-1CE2-9C7A-4C68-5B6CC8D32B75}"/>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4" name="Google Shape;80;p4">
            <a:extLst>
              <a:ext uri="{FF2B5EF4-FFF2-40B4-BE49-F238E27FC236}">
                <a16:creationId xmlns:a16="http://schemas.microsoft.com/office/drawing/2014/main" id="{F93F0E30-BBAE-DB74-DE4E-53F0AFDAAEB5}"/>
              </a:ext>
            </a:extLst>
          </p:cNvPr>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dirty="0">
                <a:solidFill>
                  <a:schemeClr val="bg1"/>
                </a:solidFill>
              </a:rPr>
              <a:t>4</a:t>
            </a:r>
            <a:endParaRPr dirty="0">
              <a:solidFill>
                <a:schemeClr val="bg1"/>
              </a:solidFill>
            </a:endParaRPr>
          </a:p>
        </p:txBody>
      </p:sp>
      <p:sp>
        <p:nvSpPr>
          <p:cNvPr id="5" name="TextBox 4"/>
          <p:cNvSpPr txBox="1"/>
          <p:nvPr/>
        </p:nvSpPr>
        <p:spPr>
          <a:xfrm>
            <a:off x="1645920" y="1005840"/>
            <a:ext cx="7132320" cy="3749039"/>
          </a:xfrm>
          <a:prstGeom prst="rect">
            <a:avLst/>
          </a:prstGeom>
          <a:noFill/>
        </p:spPr>
        <p:txBody>
          <a:bodyPr wrap="square">
            <a:spAutoFit/>
          </a:bodyPr>
          <a:lstStyle/>
          <a:p>
            <a:pPr>
              <a:spcBef>
                <a:spcPts val="300"/>
              </a:spcBef>
              <a:spcAft>
                <a:spcPts val="200"/>
              </a:spcAft>
            </a:pPr>
            <a:r>
              <a:rPr sz="1200" b="1">
                <a:solidFill>
                  <a:srgbClr val="102C57"/>
                </a:solidFill>
                <a:latin typeface="Calibri"/>
              </a:rPr>
              <a:t>Background &amp; Industry Threat Context:</a:t>
            </a:r>
          </a:p>
          <a:p>
            <a:pPr>
              <a:spcBef>
                <a:spcPts val="300"/>
              </a:spcBef>
              <a:spcAft>
                <a:spcPts val="200"/>
              </a:spcAft>
            </a:pPr>
            <a:r>
              <a:rPr sz="1050" b="0">
                <a:solidFill>
                  <a:srgbClr val="1E1E1E"/>
                </a:solidFill>
                <a:latin typeface="Calibri"/>
              </a:rPr>
              <a:t>• Escalating Breach Damages: IBM's 2024 Cost of a Data Breach Report estimates the global average cost of a data breach at $4.88M, with compromised credentials accounting for 16% of initial attack vectors.</a:t>
            </a:r>
          </a:p>
          <a:p>
            <a:pPr>
              <a:spcBef>
                <a:spcPts val="300"/>
              </a:spcBef>
              <a:spcAft>
                <a:spcPts val="200"/>
              </a:spcAft>
            </a:pPr>
            <a:r>
              <a:rPr sz="1050" b="0">
                <a:solidFill>
                  <a:srgbClr val="1E1E1E"/>
                </a:solidFill>
                <a:latin typeface="Calibri"/>
              </a:rPr>
              <a:t>• Flawed Query Paradigms: Existing breach lookup tools force users to disclose cleartext PII (emails/phone numbers) to third-party databases, turning protective lookups into surveillance risks.</a:t>
            </a:r>
          </a:p>
          <a:p>
            <a:pPr>
              <a:spcBef>
                <a:spcPts val="300"/>
              </a:spcBef>
              <a:spcAft>
                <a:spcPts val="200"/>
              </a:spcAft>
            </a:pPr>
            <a:r>
              <a:rPr sz="1050" b="0">
                <a:solidFill>
                  <a:srgbClr val="1E1E1E"/>
                </a:solidFill>
                <a:latin typeface="Calibri"/>
              </a:rPr>
              <a:t>• Log Tampering &amp; Lack of Immutability: Standard database audit logs are vulnerable to administrative manipulation, post-compromise log wiping, and repudiation during forensic reviews.</a:t>
            </a:r>
          </a:p>
          <a:p>
            <a:pPr>
              <a:spcBef>
                <a:spcPts val="600"/>
              </a:spcBef>
              <a:spcAft>
                <a:spcPts val="200"/>
              </a:spcAft>
            </a:pPr>
            <a:r>
              <a:rPr sz="1200" b="1">
                <a:solidFill>
                  <a:srgbClr val="102C57"/>
                </a:solidFill>
                <a:latin typeface="Calibri"/>
              </a:rPr>
              <a:t>The BreachShield Solution:</a:t>
            </a:r>
          </a:p>
          <a:p>
            <a:pPr>
              <a:spcBef>
                <a:spcPts val="300"/>
              </a:spcBef>
              <a:spcAft>
                <a:spcPts val="200"/>
              </a:spcAft>
            </a:pPr>
            <a:r>
              <a:rPr sz="1050" b="0">
                <a:solidFill>
                  <a:srgbClr val="1E1E1E"/>
                </a:solidFill>
                <a:latin typeface="Calibri"/>
              </a:rPr>
              <a:t>• Zero-Knowledge Privacy: Client computes SHA-256 locally via WebCrypto API; only a 5-hex character prefix is disclosed to query candidate partitions.</a:t>
            </a:r>
          </a:p>
          <a:p>
            <a:pPr>
              <a:spcBef>
                <a:spcPts val="300"/>
              </a:spcBef>
              <a:spcAft>
                <a:spcPts val="200"/>
              </a:spcAft>
            </a:pPr>
            <a:r>
              <a:rPr sz="1050" b="0">
                <a:solidFill>
                  <a:srgbClr val="1E1E1E"/>
                </a:solidFill>
                <a:latin typeface="Calibri"/>
              </a:rPr>
              <a:t>• Empirical AI Threat Intelligence: Gradient-boosted trees (XGBoost) benchmarked against deep learning models to predict breach severity with 89.2% accuracy.</a:t>
            </a:r>
          </a:p>
          <a:p>
            <a:pPr>
              <a:spcBef>
                <a:spcPts val="300"/>
              </a:spcBef>
              <a:spcAft>
                <a:spcPts val="200"/>
              </a:spcAft>
            </a:pPr>
            <a:r>
              <a:rPr sz="1050" b="0">
                <a:solidFill>
                  <a:srgbClr val="1E1E1E"/>
                </a:solidFill>
                <a:latin typeface="Calibri"/>
              </a:rPr>
              <a:t>• Verifiable Blockchain Immutability: SHA-256 Merkle tree batching committed directly to an EVM smart contract to guarantee unalterable forensic trails.</a:t>
            </a:r>
          </a:p>
        </p:txBody>
      </p:sp>
    </p:spTree>
    <p:extLst>
      <p:ext uri="{BB962C8B-B14F-4D97-AF65-F5344CB8AC3E}">
        <p14:creationId xmlns:p14="http://schemas.microsoft.com/office/powerpoint/2010/main" val="2477059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1" name="Google Shape;81;p4"/>
          <p:cNvSpPr txBox="1">
            <a:spLocks noGrp="1"/>
          </p:cNvSpPr>
          <p:nvPr>
            <p:ph type="body" idx="1"/>
          </p:nvPr>
        </p:nvSpPr>
        <p:spPr>
          <a:xfrm>
            <a:off x="1096963" y="1"/>
            <a:ext cx="6908947" cy="641130"/>
          </a:xfrm>
          <a:prstGeom prst="rect">
            <a:avLst/>
          </a:prstGeom>
          <a:noFill/>
          <a:ln>
            <a:noFill/>
          </a:ln>
        </p:spPr>
        <p:txBody>
          <a:bodyPr spcFirstLastPara="1" wrap="square" lIns="91425" tIns="91425" rIns="91425" bIns="91425" anchor="t" anchorCtr="0">
            <a:noAutofit/>
          </a:bodyPr>
          <a:lstStyle/>
          <a:p>
            <a:pPr algn="ctr"/>
            <a:r>
              <a:rPr lang="en-US" sz="2800" b="1" dirty="0">
                <a:solidFill>
                  <a:srgbClr val="1581AA"/>
                </a:solidFill>
                <a:latin typeface="Calibri"/>
                <a:ea typeface="Calibri"/>
                <a:cs typeface="Calibri"/>
                <a:sym typeface="Calibri"/>
              </a:rPr>
              <a:t>PROBLEM STATEMENT</a:t>
            </a:r>
            <a:endParaRPr lang="en-US" sz="2800" dirty="0"/>
          </a:p>
        </p:txBody>
      </p:sp>
      <p:sp>
        <p:nvSpPr>
          <p:cNvPr id="80" name="Google Shape;80;p4"/>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dirty="0"/>
              <a:t>5</a:t>
            </a:r>
            <a:endParaRPr dirty="0"/>
          </a:p>
        </p:txBody>
      </p:sp>
      <p:sp>
        <p:nvSpPr>
          <p:cNvPr id="2" name="TextBox 1">
            <a:extLst>
              <a:ext uri="{FF2B5EF4-FFF2-40B4-BE49-F238E27FC236}">
                <a16:creationId xmlns:a16="http://schemas.microsoft.com/office/drawing/2014/main" id="{740E7B5E-18A2-365F-C875-0BE204B9C7DF}"/>
              </a:ext>
            </a:extLst>
          </p:cNvPr>
          <p:cNvSpPr txBox="1"/>
          <p:nvPr/>
        </p:nvSpPr>
        <p:spPr>
          <a:xfrm>
            <a:off x="1899805" y="1174829"/>
            <a:ext cx="6531429" cy="338554"/>
          </a:xfrm>
          <a:prstGeom prst="rect">
            <a:avLst/>
          </a:prstGeom>
          <a:noFill/>
        </p:spPr>
        <p:txBody>
          <a:bodyPr wrap="square" rtlCol="0">
            <a:spAutoFit/>
          </a:bodyPr>
          <a:lstStyle/>
          <a:p>
            <a:pPr>
              <a:spcBef>
                <a:spcPts val="300"/>
              </a:spcBef>
              <a:spcAft>
                <a:spcPts val="200"/>
              </a:spcAft>
            </a:pPr>
            <a:r>
              <a:rPr lang="en-US" sz="1600" dirty="0">
                <a:solidFill>
                  <a:srgbClr val="FF0000"/>
                </a:solidFill>
                <a:latin typeface="+mj-lt"/>
              </a:rPr>
              <a:t/>
            </a:r>
            <a:r>
              <a:rPr sz="1150" b="1">
                <a:solidFill>
                  <a:srgbClr val="102C57"/>
                </a:solidFill>
                <a:latin typeface="Calibri"/>
              </a:rPr>
              <a:t>1. Cleartext Query Surveillance Dilemma</a:t>
            </a:r>
            <a:endParaRPr lang="en-US" sz="1600" dirty="0">
              <a:solidFill>
                <a:srgbClr val="FF0000"/>
              </a:solidFill>
              <a:latin typeface="+mn-lt"/>
            </a:endParaRPr>
          </a:p>
          <a:p>
            <a:pPr>
              <a:spcBef>
                <a:spcPts val="300"/>
              </a:spcBef>
              <a:spcAft>
                <a:spcPts val="200"/>
              </a:spcAft>
            </a:pPr>
            <a:r>
              <a:rPr sz="1000" b="0">
                <a:solidFill>
                  <a:srgbClr val="1E1E1E"/>
                </a:solidFill>
                <a:latin typeface="Calibri"/>
              </a:rPr>
              <a:t>Conventional breach lookup services require users to transmit plaintext email addresses or usernames over the wire, exposing their active identities and interest in specific breach targets to ISPs, eavesdroppers, and intermediate server operators.</a:t>
            </a:r>
          </a:p>
          <a:p>
            <a:pPr>
              <a:spcBef>
                <a:spcPts val="400"/>
              </a:spcBef>
              <a:spcAft>
                <a:spcPts val="200"/>
              </a:spcAft>
            </a:pPr>
            <a:r>
              <a:rPr sz="1150" b="1">
                <a:solidFill>
                  <a:srgbClr val="102C57"/>
                </a:solidFill>
                <a:latin typeface="Calibri"/>
              </a:rPr>
              <a:t>2. Fragmented &amp; Unstructured OSINT Threat Feeds</a:t>
            </a:r>
          </a:p>
          <a:p>
            <a:pPr>
              <a:spcBef>
                <a:spcPts val="300"/>
              </a:spcBef>
              <a:spcAft>
                <a:spcPts val="200"/>
              </a:spcAft>
            </a:pPr>
            <a:r>
              <a:rPr sz="1000" b="0">
                <a:solidFill>
                  <a:srgbClr val="1E1E1E"/>
                </a:solidFill>
                <a:latin typeface="Calibri"/>
              </a:rPr>
              <a:t>Threat intelligence is scattered across disparate channels (dark web Telegram dumps, paste sites, commercial APIs). Security teams face severe alert fatigue due to the lack of unified multi-source harvesting and empirical severity classification.</a:t>
            </a:r>
          </a:p>
          <a:p>
            <a:pPr>
              <a:spcBef>
                <a:spcPts val="400"/>
              </a:spcBef>
              <a:spcAft>
                <a:spcPts val="200"/>
              </a:spcAft>
            </a:pPr>
            <a:r>
              <a:rPr sz="1150" b="1">
                <a:solidFill>
                  <a:srgbClr val="102C57"/>
                </a:solidFill>
                <a:latin typeface="Calibri"/>
              </a:rPr>
              <a:t>3. Mutable &amp; Vulnerable Audit Trails</a:t>
            </a:r>
          </a:p>
          <a:p>
            <a:pPr>
              <a:spcBef>
                <a:spcPts val="300"/>
              </a:spcBef>
              <a:spcAft>
                <a:spcPts val="200"/>
              </a:spcAft>
            </a:pPr>
            <a:r>
              <a:rPr sz="1000" b="0">
                <a:solidFill>
                  <a:srgbClr val="1E1E1E"/>
                </a:solidFill>
                <a:latin typeface="Calibri"/>
              </a:rPr>
              <a:t>Standard centralized databases allow root administrators or attackers to delete, tamper with, or rewrite audit logs post-breach, defeating non-repudiation and enterprise compliance standards.</a:t>
            </a:r>
          </a:p>
          <a:p>
            <a:pPr>
              <a:spcBef>
                <a:spcPts val="400"/>
              </a:spcBef>
              <a:spcAft>
                <a:spcPts val="200"/>
              </a:spcAft>
            </a:pPr>
            <a:r>
              <a:rPr sz="1150" b="1">
                <a:solidFill>
                  <a:srgbClr val="102C57"/>
                </a:solidFill>
                <a:latin typeface="Calibri"/>
              </a:rPr>
              <a:t>4. Ineffective Out-of-Band Identity Gating</a:t>
            </a:r>
          </a:p>
          <a:p>
            <a:pPr>
              <a:spcBef>
                <a:spcPts val="300"/>
              </a:spcBef>
              <a:spcAft>
                <a:spcPts val="200"/>
              </a:spcAft>
            </a:pPr>
            <a:r>
              <a:rPr sz="1000" b="0">
                <a:solidFill>
                  <a:srgbClr val="1E1E1E"/>
                </a:solidFill>
                <a:latin typeface="Calibri"/>
              </a:rPr>
              <a:t>Automated scraping bots harvest breach data when lookup endpoints lack strict identity gating, rate limiting, and out-of-band multi-factor authentication.</a:t>
            </a:r>
          </a:p>
        </p:txBody>
      </p:sp>
      <p:sp>
        <p:nvSpPr>
          <p:cNvPr id="3" name="Google Shape;98;g2eff20282af_0_123">
            <a:extLst>
              <a:ext uri="{FF2B5EF4-FFF2-40B4-BE49-F238E27FC236}">
                <a16:creationId xmlns:a16="http://schemas.microsoft.com/office/drawing/2014/main" id="{0C27BA88-17AE-9E7C-5A6F-8F837CC2F6F9}"/>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idx="12"/>
          </p:nvPr>
        </p:nvSpPr>
        <p:spPr/>
        <p:txBody>
          <a:bodyPr/>
          <a:lstStyle/>
          <a:p>
            <a:pPr marL="0" lvl="0" indent="0" algn="r" rtl="0">
              <a:spcBef>
                <a:spcPts val="0"/>
              </a:spcBef>
              <a:spcAft>
                <a:spcPts val="0"/>
              </a:spcAft>
              <a:buNone/>
            </a:pPr>
            <a:r>
              <a:rPr lang="en-US" dirty="0"/>
              <a:t>6</a:t>
            </a:r>
            <a:endParaRPr lang="en-US" sz="1400" b="0" i="0" dirty="0">
              <a:solidFill>
                <a:srgbClr val="000000"/>
              </a:solidFill>
              <a:latin typeface="Arial"/>
              <a:ea typeface="Arial"/>
              <a:cs typeface="Arial"/>
              <a:sym typeface="Arial"/>
            </a:endParaRPr>
          </a:p>
        </p:txBody>
      </p:sp>
      <p:sp>
        <p:nvSpPr>
          <p:cNvPr id="4" name="Rectangle 3"/>
          <p:cNvSpPr/>
          <p:nvPr/>
        </p:nvSpPr>
        <p:spPr>
          <a:xfrm>
            <a:off x="2083182" y="304059"/>
            <a:ext cx="4977645" cy="523220"/>
          </a:xfrm>
          <a:prstGeom prst="rect">
            <a:avLst/>
          </a:prstGeom>
        </p:spPr>
        <p:txBody>
          <a:bodyPr wrap="none">
            <a:spAutoFit/>
          </a:bodyPr>
          <a:lstStyle/>
          <a:p>
            <a:pPr marL="457200" lvl="0" indent="-228600" algn="ctr">
              <a:buSzPts val="1400"/>
            </a:pPr>
            <a:r>
              <a:rPr lang="en-US" sz="2800" b="1" dirty="0">
                <a:solidFill>
                  <a:srgbClr val="1581AA"/>
                </a:solidFill>
                <a:latin typeface="Calibri"/>
                <a:ea typeface="Calibri"/>
                <a:cs typeface="Calibri"/>
                <a:sym typeface="Calibri"/>
              </a:rPr>
              <a:t>REQUIREMENT SPECIFICATION</a:t>
            </a:r>
            <a:endParaRPr lang="en-US" sz="2800" dirty="0"/>
          </a:p>
        </p:txBody>
      </p:sp>
      <p:sp>
        <p:nvSpPr>
          <p:cNvPr id="2" name="TextBox 1">
            <a:extLst>
              <a:ext uri="{FF2B5EF4-FFF2-40B4-BE49-F238E27FC236}">
                <a16:creationId xmlns:a16="http://schemas.microsoft.com/office/drawing/2014/main" id="{ECFB1F71-7504-1621-1A25-A33645877DAA}"/>
              </a:ext>
            </a:extLst>
          </p:cNvPr>
          <p:cNvSpPr txBox="1"/>
          <p:nvPr/>
        </p:nvSpPr>
        <p:spPr>
          <a:xfrm>
            <a:off x="1934441" y="1160975"/>
            <a:ext cx="6531429" cy="584775"/>
          </a:xfrm>
          <a:prstGeom prst="rect">
            <a:avLst/>
          </a:prstGeom>
          <a:noFill/>
        </p:spPr>
        <p:txBody>
          <a:bodyPr wrap="square" rtlCol="0">
            <a:spAutoFit/>
          </a:bodyPr>
          <a:lstStyle/>
          <a:p>
            <a:pPr>
              <a:spcBef>
                <a:spcPts val="300"/>
              </a:spcBef>
              <a:spcAft>
                <a:spcPts val="200"/>
              </a:spcAft>
            </a:pPr>
            <a:r>
              <a:rPr lang="en-US" sz="1600" dirty="0">
                <a:solidFill>
                  <a:srgbClr val="FF0000"/>
                </a:solidFill>
                <a:latin typeface="+mj-lt"/>
              </a:rPr>
              <a:t/>
            </a:r>
            <a:r>
              <a:rPr sz="1150" b="1">
                <a:solidFill>
                  <a:srgbClr val="102C57"/>
                </a:solidFill>
                <a:latin typeface="Calibri"/>
              </a:rPr>
              <a:t>Functional Requirements (FR):</a:t>
            </a:r>
            <a:endParaRPr lang="en-US" sz="1600" dirty="0">
              <a:solidFill>
                <a:srgbClr val="FF0000"/>
              </a:solidFill>
              <a:latin typeface="+mn-lt"/>
            </a:endParaRPr>
          </a:p>
          <a:p>
            <a:pPr>
              <a:spcBef>
                <a:spcPts val="300"/>
              </a:spcBef>
              <a:spcAft>
                <a:spcPts val="200"/>
              </a:spcAft>
            </a:pPr>
            <a:r>
              <a:rPr sz="950" b="0">
                <a:solidFill>
                  <a:srgbClr val="1E1E1E"/>
                </a:solidFill>
                <a:latin typeface="Calibri"/>
              </a:rPr>
              <a:t>• FR1: Client-Side k-Anonymity — SHA-256 local hashing; transmit only 5-character hex prefix to retrieve suffix buckets for in-memory client matching.</a:t>
            </a:r>
          </a:p>
          <a:p>
            <a:pPr>
              <a:spcBef>
                <a:spcPts val="300"/>
              </a:spcBef>
              <a:spcAft>
                <a:spcPts val="200"/>
              </a:spcAft>
            </a:pPr>
            <a:r>
              <a:rPr sz="950" b="0">
                <a:solidFill>
                  <a:srgbClr val="1E1E1E"/>
                </a:solidFill>
                <a:latin typeface="Calibri"/>
              </a:rPr>
              <a:t>• FR2: Out-of-Band Dual OTP — Dispatch time-limited verification codes via Gmail SMTP and Android SMS WebSocket relay; 5-attempt brute-force lockout.</a:t>
            </a:r>
          </a:p>
          <a:p>
            <a:pPr>
              <a:spcBef>
                <a:spcPts val="300"/>
              </a:spcBef>
              <a:spcAft>
                <a:spcPts val="200"/>
              </a:spcAft>
            </a:pPr>
            <a:r>
              <a:rPr sz="950" b="0">
                <a:solidFill>
                  <a:srgbClr val="1E1E1E"/>
                </a:solidFill>
                <a:latin typeface="Calibri"/>
              </a:rPr>
              <a:t>• FR3: Multi-Source OSINT Aggregation — Concurrent harvesting across Telegram MTProto, HIBP v3, and local datasets via Promise.allSettled.</a:t>
            </a:r>
          </a:p>
          <a:p>
            <a:pPr>
              <a:spcBef>
                <a:spcPts val="300"/>
              </a:spcBef>
              <a:spcAft>
                <a:spcPts val="200"/>
              </a:spcAft>
            </a:pPr>
            <a:r>
              <a:rPr sz="950" b="0">
                <a:solidFill>
                  <a:srgbClr val="1E1E1E"/>
                </a:solidFill>
                <a:latin typeface="Calibri"/>
              </a:rPr>
              <a:t>• FR4: AI Severity Classification &amp; Phishing Detection — XGBoost 7-feature severity model + HuggingFace UrlBERT real-time phishing scoring.</a:t>
            </a:r>
          </a:p>
          <a:p>
            <a:pPr>
              <a:spcBef>
                <a:spcPts val="300"/>
              </a:spcBef>
              <a:spcAft>
                <a:spcPts val="200"/>
              </a:spcAft>
            </a:pPr>
            <a:r>
              <a:rPr sz="950" b="0">
                <a:solidFill>
                  <a:srgbClr val="1E1E1E"/>
                </a:solidFill>
                <a:latin typeface="Calibri"/>
              </a:rPr>
              <a:t>• FR5: Merkle Tree Blockchain Anchoring — Batch query logs into SHA-256 Merkle trees and anchor roots via AnchorRegistry.sol on EVM.</a:t>
            </a:r>
          </a:p>
          <a:p>
            <a:pPr>
              <a:spcBef>
                <a:spcPts val="400"/>
              </a:spcBef>
              <a:spcAft>
                <a:spcPts val="200"/>
              </a:spcAft>
            </a:pPr>
            <a:r>
              <a:rPr sz="1150" b="1">
                <a:solidFill>
                  <a:srgbClr val="102C57"/>
                </a:solidFill>
                <a:latin typeface="Calibri"/>
              </a:rPr>
              <a:t>Non-Functional Requirements (NFR) &amp; Environment:</a:t>
            </a:r>
          </a:p>
          <a:p>
            <a:pPr>
              <a:spcBef>
                <a:spcPts val="300"/>
              </a:spcBef>
              <a:spcAft>
                <a:spcPts val="200"/>
              </a:spcAft>
            </a:pPr>
            <a:r>
              <a:rPr sz="950" b="0">
                <a:solidFill>
                  <a:srgbClr val="1E1E1E"/>
                </a:solidFill>
                <a:latin typeface="Calibri"/>
              </a:rPr>
              <a:t>• NFR1 (Privacy &amp; Security): Zero server-side storage of raw queries; bcrypt OTP hashing; JWT RBAC tokens with 1-hour expiration.</a:t>
            </a:r>
          </a:p>
          <a:p>
            <a:pPr>
              <a:spcBef>
                <a:spcPts val="300"/>
              </a:spcBef>
              <a:spcAft>
                <a:spcPts val="200"/>
              </a:spcAft>
            </a:pPr>
            <a:r>
              <a:rPr sz="950" b="0">
                <a:solidFill>
                  <a:srgbClr val="1E1E1E"/>
                </a:solidFill>
                <a:latin typeface="Calibri"/>
              </a:rPr>
              <a:t>• NFR2 (Performance &amp; Reliability): Sub-800ms end-to-end lookup latency; automatic JSON fallback storage on database disconnect.</a:t>
            </a:r>
          </a:p>
          <a:p>
            <a:pPr>
              <a:spcBef>
                <a:spcPts val="300"/>
              </a:spcBef>
              <a:spcAft>
                <a:spcPts val="200"/>
              </a:spcAft>
            </a:pPr>
            <a:r>
              <a:rPr sz="950" b="0">
                <a:solidFill>
                  <a:srgbClr val="1E1E1E"/>
                </a:solidFill>
                <a:latin typeface="Calibri"/>
              </a:rPr>
              <a:t>• Hardware &amp; Software Spec: Node.js 20+, Python 3.11+, React 19, Hardhat EVM, MySQL 8.0 / JSON Fallback; Intel i5/i7, 8GB+ RAM, 50GB SSD.</a:t>
            </a:r>
          </a:p>
        </p:txBody>
      </p:sp>
      <p:sp>
        <p:nvSpPr>
          <p:cNvPr id="3" name="Google Shape;98;g2eff20282af_0_123">
            <a:extLst>
              <a:ext uri="{FF2B5EF4-FFF2-40B4-BE49-F238E27FC236}">
                <a16:creationId xmlns:a16="http://schemas.microsoft.com/office/drawing/2014/main" id="{3B0895E0-374A-FAF6-61BF-433B33DA3A14}"/>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28627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5"/>
          <p:cNvSpPr txBox="1">
            <a:spLocks noGrp="1"/>
          </p:cNvSpPr>
          <p:nvPr>
            <p:ph type="body" idx="1"/>
          </p:nvPr>
        </p:nvSpPr>
        <p:spPr>
          <a:xfrm>
            <a:off x="1096963" y="245230"/>
            <a:ext cx="7045224" cy="76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1581AA"/>
              </a:buClr>
              <a:buSzPts val="2800"/>
              <a:buFont typeface="Calibri"/>
              <a:buNone/>
            </a:pPr>
            <a:r>
              <a:rPr lang="en-US" sz="2800" b="1" dirty="0">
                <a:solidFill>
                  <a:srgbClr val="1581AA"/>
                </a:solidFill>
                <a:latin typeface="Calibri"/>
                <a:ea typeface="Calibri"/>
                <a:cs typeface="Calibri"/>
                <a:sym typeface="Calibri"/>
              </a:rPr>
              <a:t>SYSTEM DESIGN</a:t>
            </a:r>
            <a:endParaRPr sz="1100" b="1" dirty="0"/>
          </a:p>
        </p:txBody>
      </p:sp>
      <p:sp>
        <p:nvSpPr>
          <p:cNvPr id="89" name="Google Shape;89;p5"/>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dirty="0"/>
              <a:t>7</a:t>
            </a:r>
            <a:endParaRPr dirty="0"/>
          </a:p>
        </p:txBody>
      </p:sp>
      <p:sp>
        <p:nvSpPr>
          <p:cNvPr id="2" name="Rectangle 1"/>
          <p:cNvSpPr/>
          <p:nvPr/>
        </p:nvSpPr>
        <p:spPr>
          <a:xfrm>
            <a:off x="2094721" y="1415530"/>
            <a:ext cx="5941998" cy="369332"/>
          </a:xfrm>
          <a:prstGeom prst="rect">
            <a:avLst/>
          </a:prstGeom>
        </p:spPr>
        <p:txBody>
          <a:bodyPr wrap="square">
            <a:spAutoFit/>
          </a:bodyPr>
          <a:lstStyle/>
          <a:p>
            <a:r>
              <a:rPr lang="en-US" sz="1800" dirty="0">
                <a:solidFill>
                  <a:srgbClr val="FF0000"/>
                </a:solidFill>
              </a:rPr>
              <a:t/>
            </a:r>
            <a:endParaRPr lang="en-US" dirty="0">
              <a:solidFill>
                <a:srgbClr val="FF0000"/>
              </a:solidFill>
            </a:endParaRPr>
          </a:p>
        </p:txBody>
      </p:sp>
      <p:sp>
        <p:nvSpPr>
          <p:cNvPr id="3" name="Google Shape;98;g2eff20282af_0_123">
            <a:extLst>
              <a:ext uri="{FF2B5EF4-FFF2-40B4-BE49-F238E27FC236}">
                <a16:creationId xmlns:a16="http://schemas.microsoft.com/office/drawing/2014/main" id="{76D7E253-DC2B-55DC-D1C0-07446D746AC7}"/>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pic>
        <p:nvPicPr>
          <p:cNvPr id="90" name="Picture 89" descr="fig_architecture.png"/>
          <p:cNvPicPr>
            <a:picLocks noChangeAspect="1"/>
          </p:cNvPicPr>
          <p:nvPr/>
        </p:nvPicPr>
        <p:blipFill>
          <a:blip r:embed="rId3"/>
          <a:stretch>
            <a:fillRect/>
          </a:stretch>
        </p:blipFill>
        <p:spPr>
          <a:xfrm>
            <a:off x="1645920" y="1051560"/>
            <a:ext cx="4663440" cy="3566160"/>
          </a:xfrm>
          <a:prstGeom prst="rect">
            <a:avLst/>
          </a:prstGeom>
        </p:spPr>
      </p:pic>
      <p:sp>
        <p:nvSpPr>
          <p:cNvPr id="91" name="TextBox 90"/>
          <p:cNvSpPr txBox="1"/>
          <p:nvPr/>
        </p:nvSpPr>
        <p:spPr>
          <a:xfrm>
            <a:off x="6400800" y="1051560"/>
            <a:ext cx="2560320" cy="3566160"/>
          </a:xfrm>
          <a:prstGeom prst="rect">
            <a:avLst/>
          </a:prstGeom>
          <a:noFill/>
        </p:spPr>
        <p:txBody>
          <a:bodyPr wrap="square">
            <a:spAutoFit/>
          </a:bodyPr>
          <a:lstStyle/>
          <a:p>
            <a:pPr>
              <a:spcBef>
                <a:spcPts val="300"/>
              </a:spcBef>
              <a:spcAft>
                <a:spcPts val="200"/>
              </a:spcAft>
            </a:pPr>
            <a:r>
              <a:rPr sz="1100" b="1">
                <a:solidFill>
                  <a:srgbClr val="102C57"/>
                </a:solidFill>
                <a:latin typeface="Calibri"/>
              </a:rPr>
              <a:t>Selected Designs:</a:t>
            </a:r>
          </a:p>
          <a:p>
            <a:pPr>
              <a:spcBef>
                <a:spcPts val="300"/>
              </a:spcBef>
              <a:spcAft>
                <a:spcPts val="200"/>
              </a:spcAft>
            </a:pPr>
            <a:r>
              <a:rPr sz="950" b="1">
                <a:solidFill>
                  <a:srgbClr val="1E1E1E"/>
                </a:solidFill>
                <a:latin typeface="Calibri"/>
              </a:rPr>
              <a:t>1. Four-Tier Microservice Architecture</a:t>
            </a:r>
          </a:p>
          <a:p>
            <a:pPr>
              <a:spcBef>
                <a:spcPts val="300"/>
              </a:spcBef>
              <a:spcAft>
                <a:spcPts val="200"/>
              </a:spcAft>
            </a:pPr>
            <a:r>
              <a:rPr sz="850" b="0">
                <a:solidFill>
                  <a:srgbClr val="1E1E1E"/>
                </a:solidFill>
                <a:latin typeface="Calibri"/>
              </a:rPr>
              <a:t>• Client HUD (React 19, Web Crypto)</a:t>
            </a:r>
          </a:p>
          <a:p>
            <a:pPr>
              <a:spcBef>
                <a:spcPts val="300"/>
              </a:spcBef>
              <a:spcAft>
                <a:spcPts val="200"/>
              </a:spcAft>
            </a:pPr>
            <a:r>
              <a:rPr sz="850" b="0">
                <a:solidFill>
                  <a:srgbClr val="1E1E1E"/>
                </a:solidFill>
                <a:latin typeface="Calibri"/>
              </a:rPr>
              <a:t>• Gateway (Express 5, JWT, OTP)</a:t>
            </a:r>
          </a:p>
          <a:p>
            <a:pPr>
              <a:spcBef>
                <a:spcPts val="300"/>
              </a:spcBef>
              <a:spcAft>
                <a:spcPts val="200"/>
              </a:spcAft>
            </a:pPr>
            <a:r>
              <a:rPr sz="850" b="0">
                <a:solidFill>
                  <a:srgbClr val="1E1E1E"/>
                </a:solidFill>
                <a:latin typeface="Calibri"/>
              </a:rPr>
              <a:t>• AI/OSINT (FastAPI, Telethon, HuggingFace)</a:t>
            </a:r>
          </a:p>
          <a:p>
            <a:pPr>
              <a:spcBef>
                <a:spcPts val="300"/>
              </a:spcBef>
              <a:spcAft>
                <a:spcPts val="200"/>
              </a:spcAft>
            </a:pPr>
            <a:r>
              <a:rPr sz="850" b="0">
                <a:solidFill>
                  <a:srgbClr val="1E1E1E"/>
                </a:solidFill>
                <a:latin typeface="Calibri"/>
              </a:rPr>
              <a:t>• Ledger (Hardhat EVM, Merkle Registry)</a:t>
            </a:r>
          </a:p>
          <a:p>
            <a:pPr>
              <a:spcBef>
                <a:spcPts val="400"/>
              </a:spcBef>
              <a:spcAft>
                <a:spcPts val="200"/>
              </a:spcAft>
            </a:pPr>
            <a:r>
              <a:rPr sz="1100" b="1">
                <a:solidFill>
                  <a:srgbClr val="102C57"/>
                </a:solidFill>
                <a:latin typeface="Calibri"/>
              </a:rPr>
              <a:t>2. Data Flow &amp; Security Boundaries</a:t>
            </a:r>
          </a:p>
          <a:p>
            <a:pPr>
              <a:spcBef>
                <a:spcPts val="300"/>
              </a:spcBef>
              <a:spcAft>
                <a:spcPts val="200"/>
              </a:spcAft>
            </a:pPr>
            <a:r>
              <a:rPr sz="850" b="0">
                <a:solidFill>
                  <a:srgbClr val="1E1E1E"/>
                </a:solidFill>
                <a:latin typeface="Calibri"/>
              </a:rPr>
              <a:t>• k-Anonymity prefix partition</a:t>
            </a:r>
          </a:p>
          <a:p>
            <a:pPr>
              <a:spcBef>
                <a:spcPts val="300"/>
              </a:spcBef>
              <a:spcAft>
                <a:spcPts val="200"/>
              </a:spcAft>
            </a:pPr>
            <a:r>
              <a:rPr sz="850" b="0">
                <a:solidFill>
                  <a:srgbClr val="1E1E1E"/>
                </a:solidFill>
                <a:latin typeface="Calibri"/>
              </a:rPr>
              <a:t>• Out-of-band SMS relay via Android</a:t>
            </a:r>
          </a:p>
          <a:p>
            <a:pPr>
              <a:spcBef>
                <a:spcPts val="300"/>
              </a:spcBef>
              <a:spcAft>
                <a:spcPts val="200"/>
              </a:spcAft>
            </a:pPr>
            <a:r>
              <a:rPr sz="850" b="0">
                <a:solidFill>
                  <a:srgbClr val="1E1E1E"/>
                </a:solidFill>
                <a:latin typeface="Calibri"/>
              </a:rPr>
              <a:t>• Merkle tree root anchoring pipeline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6"/>
          <p:cNvSpPr txBox="1">
            <a:spLocks noGrp="1"/>
          </p:cNvSpPr>
          <p:nvPr>
            <p:ph type="body" idx="1"/>
          </p:nvPr>
        </p:nvSpPr>
        <p:spPr>
          <a:xfrm>
            <a:off x="688623" y="255528"/>
            <a:ext cx="7538184" cy="882316"/>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1581AA"/>
              </a:buClr>
              <a:buSzPts val="2800"/>
              <a:buFont typeface="Calibri"/>
              <a:buNone/>
            </a:pPr>
            <a:r>
              <a:rPr lang="en-US" sz="2800" b="1" dirty="0">
                <a:solidFill>
                  <a:srgbClr val="1581AA"/>
                </a:solidFill>
                <a:latin typeface="Calibri"/>
                <a:ea typeface="Calibri"/>
                <a:cs typeface="Calibri"/>
                <a:sym typeface="Calibri"/>
              </a:rPr>
              <a:t>IMPLEMENTATION</a:t>
            </a:r>
          </a:p>
        </p:txBody>
      </p:sp>
      <p:sp>
        <p:nvSpPr>
          <p:cNvPr id="97" name="Google Shape;97;p6"/>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dirty="0"/>
              <a:t>8</a:t>
            </a:r>
            <a:endParaRPr dirty="0"/>
          </a:p>
        </p:txBody>
      </p:sp>
      <p:sp>
        <p:nvSpPr>
          <p:cNvPr id="2" name="Rectangle 1"/>
          <p:cNvSpPr/>
          <p:nvPr/>
        </p:nvSpPr>
        <p:spPr>
          <a:xfrm>
            <a:off x="1931437" y="1498730"/>
            <a:ext cx="6505981" cy="1200329"/>
          </a:xfrm>
          <a:prstGeom prst="rect">
            <a:avLst/>
          </a:prstGeom>
        </p:spPr>
        <p:txBody>
          <a:bodyPr wrap="square">
            <a:spAutoFit/>
          </a:bodyPr>
          <a:lstStyle/>
          <a:p>
            <a:pPr>
              <a:spcBef>
                <a:spcPts val="300"/>
              </a:spcBef>
              <a:spcAft>
                <a:spcPts val="200"/>
              </a:spcAft>
            </a:pPr>
            <a:r>
              <a:rPr lang="en-US" sz="2400" dirty="0">
                <a:solidFill>
                  <a:srgbClr val="FF0000"/>
                </a:solidFill>
              </a:rPr>
              <a:t/>
            </a:r>
            <a:r>
              <a:rPr sz="1100" b="1">
                <a:solidFill>
                  <a:srgbClr val="102C57"/>
                </a:solidFill>
                <a:latin typeface="Calibri"/>
              </a:rPr>
              <a:t>Module 1: Client-Side k-Anonymity Web Console (React 19 &amp; WebCrypto)</a:t>
            </a:r>
          </a:p>
          <a:p>
            <a:pPr>
              <a:spcBef>
                <a:spcPts val="300"/>
              </a:spcBef>
              <a:spcAft>
                <a:spcPts val="200"/>
              </a:spcAft>
            </a:pPr>
            <a:r>
              <a:rPr sz="950" b="0">
                <a:solidFill>
                  <a:srgbClr val="1E1E1E"/>
                </a:solidFill>
                <a:latin typeface="Calibri"/>
              </a:rPr>
              <a:t>• Browser uses crypto.subtle.digest('SHA-256', identifier) to generate 64-char hex string.</a:t>
            </a:r>
          </a:p>
          <a:p>
            <a:pPr>
              <a:spcBef>
                <a:spcPts val="300"/>
              </a:spcBef>
              <a:spcAft>
                <a:spcPts val="200"/>
              </a:spcAft>
            </a:pPr>
            <a:r>
              <a:rPr sz="950" b="0">
                <a:solidFill>
                  <a:srgbClr val="1E1E1E"/>
                </a:solidFill>
                <a:latin typeface="Calibri"/>
              </a:rPr>
              <a:t>• Only the 5-char prefix is sent to /api/k-anonymity/range/:prefix. Suffixes are filtered locally in browser memory.</a:t>
            </a:r>
          </a:p>
          <a:p>
            <a:pPr>
              <a:spcBef>
                <a:spcPts val="300"/>
              </a:spcBef>
              <a:spcAft>
                <a:spcPts val="200"/>
              </a:spcAft>
            </a:pPr>
            <a:r>
              <a:rPr sz="1100" b="1">
                <a:solidFill>
                  <a:srgbClr val="102C57"/>
                </a:solidFill>
                <a:latin typeface="Calibri"/>
              </a:rPr>
              <a:t>Module 2: Secure API Gateway &amp; Multi-Source OSINT Registry (Node.js Express 5)</a:t>
            </a:r>
          </a:p>
          <a:p>
            <a:pPr>
              <a:spcBef>
                <a:spcPts val="300"/>
              </a:spcBef>
              <a:spcAft>
                <a:spcPts val="200"/>
              </a:spcAft>
            </a:pPr>
            <a:r>
              <a:rPr sz="950" b="0">
                <a:solidFill>
                  <a:srgbClr val="1E1E1E"/>
                </a:solidFill>
                <a:latin typeface="Calibri"/>
              </a:rPr>
              <a:t>• Out-of-band dual OTP delivery via Gmail SMTP and Android WebSocket (/ws/gateway) with bcrypt hashing.</a:t>
            </a:r>
          </a:p>
          <a:p>
            <a:pPr>
              <a:spcBef>
                <a:spcPts val="300"/>
              </a:spcBef>
              <a:spcAft>
                <a:spcPts val="200"/>
              </a:spcAft>
            </a:pPr>
            <a:r>
              <a:rPr sz="950" b="0">
                <a:solidFill>
                  <a:srgbClr val="1E1E1E"/>
                </a:solidFill>
                <a:latin typeface="Calibri"/>
              </a:rPr>
              <a:t>• Pluggable BreachSource registry querying Telegram, HIBP, and local catalogs via Promise.allSettled.</a:t>
            </a:r>
          </a:p>
          <a:p>
            <a:pPr>
              <a:spcBef>
                <a:spcPts val="300"/>
              </a:spcBef>
              <a:spcAft>
                <a:spcPts val="200"/>
              </a:spcAft>
            </a:pPr>
            <a:r>
              <a:rPr sz="1100" b="1">
                <a:solidFill>
                  <a:srgbClr val="102C57"/>
                </a:solidFill>
                <a:latin typeface="Calibri"/>
              </a:rPr>
              <a:t>Module 3: AI Threat Classification &amp; Phishing Detection (Python FastAPI)</a:t>
            </a:r>
          </a:p>
          <a:p>
            <a:pPr>
              <a:spcBef>
                <a:spcPts val="300"/>
              </a:spcBef>
              <a:spcAft>
                <a:spcPts val="200"/>
              </a:spcAft>
            </a:pPr>
            <a:r>
              <a:rPr sz="950" b="0">
                <a:solidFill>
                  <a:srgbClr val="1E1E1E"/>
                </a:solidFill>
                <a:latin typeface="Calibri"/>
              </a:rPr>
              <a:t>• Pretrained UrlBERT transformer classifies suspicious URLs into benign vs phishing with 89% accuracy.</a:t>
            </a:r>
          </a:p>
          <a:p>
            <a:pPr>
              <a:spcBef>
                <a:spcPts val="300"/>
              </a:spcBef>
              <a:spcAft>
                <a:spcPts val="200"/>
              </a:spcAft>
            </a:pPr>
            <a:r>
              <a:rPr sz="950" b="0">
                <a:solidFill>
                  <a:srgbClr val="1E1E1E"/>
                </a:solidFill>
                <a:latin typeface="Calibri"/>
              </a:rPr>
              <a:t>• XGBoost multi-class breach severity model (LOW, MEDIUM, HIGH, CRITICAL) trained on 1,034 curated breach records.</a:t>
            </a:r>
          </a:p>
          <a:p>
            <a:pPr>
              <a:spcBef>
                <a:spcPts val="300"/>
              </a:spcBef>
              <a:spcAft>
                <a:spcPts val="200"/>
              </a:spcAft>
            </a:pPr>
            <a:r>
              <a:rPr sz="1100" b="1">
                <a:solidFill>
                  <a:srgbClr val="102C57"/>
                </a:solidFill>
                <a:latin typeface="Calibri"/>
              </a:rPr>
              <a:t>Module 4: Merkle Tree Blockchain Audit Ledger (Hardhat EVM &amp; Solidity)</a:t>
            </a:r>
          </a:p>
          <a:p>
            <a:pPr>
              <a:spcBef>
                <a:spcPts val="300"/>
              </a:spcBef>
              <a:spcAft>
                <a:spcPts val="200"/>
              </a:spcAft>
            </a:pPr>
            <a:r>
              <a:rPr sz="950" b="0">
                <a:solidFill>
                  <a:srgbClr val="1E1E1E"/>
                </a:solidFill>
                <a:latin typeface="Calibri"/>
              </a:rPr>
              <a:t>• Deterministic canonical JSON serialization -&gt; SHA-256 leaf hashing -&gt; Merkle Root calculation.</a:t>
            </a:r>
          </a:p>
          <a:p>
            <a:pPr>
              <a:spcBef>
                <a:spcPts val="300"/>
              </a:spcBef>
              <a:spcAft>
                <a:spcPts val="200"/>
              </a:spcAft>
            </a:pPr>
            <a:r>
              <a:rPr sz="950" b="0">
                <a:solidFill>
                  <a:srgbClr val="1E1E1E"/>
                </a:solidFill>
                <a:latin typeface="Calibri"/>
              </a:rPr>
              <a:t>• AnchorRegistry.sol commits anchorRoot(batchId, root, count) on local EVM blockchain for tamper evidence.</a:t>
            </a:r>
          </a:p>
        </p:txBody>
      </p:sp>
      <p:sp>
        <p:nvSpPr>
          <p:cNvPr id="3" name="Google Shape;98;g2eff20282af_0_123">
            <a:extLst>
              <a:ext uri="{FF2B5EF4-FFF2-40B4-BE49-F238E27FC236}">
                <a16:creationId xmlns:a16="http://schemas.microsoft.com/office/drawing/2014/main" id="{FF6B9C51-B311-53F9-703C-AC46CFBA1B0E}"/>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96343" y="822327"/>
            <a:ext cx="2192694" cy="400110"/>
          </a:xfrm>
          <a:prstGeom prst="rect">
            <a:avLst/>
          </a:prstGeom>
        </p:spPr>
        <p:txBody>
          <a:bodyPr wrap="square">
            <a:spAutoFit/>
          </a:bodyPr>
          <a:lstStyle/>
          <a:p>
            <a:pPr lvl="0" algn="ctr">
              <a:buClr>
                <a:srgbClr val="1581AA"/>
              </a:buClr>
              <a:buSzPts val="2800"/>
            </a:pPr>
            <a:r>
              <a:rPr lang="en-US" sz="2000" b="1" dirty="0">
                <a:solidFill>
                  <a:srgbClr val="1581AA"/>
                </a:solidFill>
                <a:latin typeface="Calibri"/>
                <a:ea typeface="Calibri"/>
                <a:cs typeface="Calibri"/>
                <a:sym typeface="Calibri"/>
              </a:rPr>
              <a:t>TESTING</a:t>
            </a:r>
          </a:p>
        </p:txBody>
      </p:sp>
      <p:sp>
        <p:nvSpPr>
          <p:cNvPr id="3" name="Rectangle 2">
            <a:extLst>
              <a:ext uri="{FF2B5EF4-FFF2-40B4-BE49-F238E27FC236}">
                <a16:creationId xmlns:a16="http://schemas.microsoft.com/office/drawing/2014/main" id="{1166BF0A-ABB8-A486-B40A-376B04EA133A}"/>
              </a:ext>
            </a:extLst>
          </p:cNvPr>
          <p:cNvSpPr/>
          <p:nvPr/>
        </p:nvSpPr>
        <p:spPr>
          <a:xfrm>
            <a:off x="2094721" y="1415530"/>
            <a:ext cx="5941998" cy="646331"/>
          </a:xfrm>
          <a:prstGeom prst="rect">
            <a:avLst/>
          </a:prstGeom>
        </p:spPr>
        <p:txBody>
          <a:bodyPr wrap="square">
            <a:spAutoFit/>
          </a:bodyPr>
          <a:lstStyle/>
          <a:p>
            <a:pPr>
              <a:spcBef>
                <a:spcPts val="300"/>
              </a:spcBef>
              <a:spcAft>
                <a:spcPts val="200"/>
              </a:spcAft>
            </a:pPr>
            <a:r>
              <a:rPr lang="en-US" sz="1800" dirty="0">
                <a:solidFill>
                  <a:srgbClr val="FF0000"/>
                </a:solidFill>
              </a:rPr>
              <a:t/>
            </a:r>
            <a:r>
              <a:rPr sz="1150" b="1">
                <a:solidFill>
                  <a:srgbClr val="102C57"/>
                </a:solidFill>
                <a:latin typeface="Calibri"/>
              </a:rPr>
              <a:t>Automated Full-Stack Test Pipeline (175/175 Tests Passing - 100% Pass Rate)</a:t>
            </a:r>
            <a:endParaRPr lang="en-US" dirty="0">
              <a:solidFill>
                <a:srgbClr val="FF0000"/>
              </a:solidFill>
            </a:endParaRPr>
          </a:p>
          <a:p>
            <a:pPr>
              <a:spcBef>
                <a:spcPts val="300"/>
              </a:spcBef>
              <a:spcAft>
                <a:spcPts val="200"/>
              </a:spcAft>
            </a:pPr>
            <a:r>
              <a:rPr sz="1000" b="0">
                <a:solidFill>
                  <a:srgbClr val="1E1E1E"/>
                </a:solidFill>
                <a:latin typeface="Calibri"/>
              </a:rPr>
              <a:t>• Backend Contract &amp; Security Tests (Jest — 103 Tests): Exhaustive test coverage verifying adversarial route gating, rate limiters (429), bcrypt OTP verification, 5-attempt brute-force lockout, and JWT token lifecycle.</a:t>
            </a:r>
          </a:p>
          <a:p>
            <a:pPr>
              <a:spcBef>
                <a:spcPts val="300"/>
              </a:spcBef>
              <a:spcAft>
                <a:spcPts val="200"/>
              </a:spcAft>
            </a:pPr>
            <a:r>
              <a:rPr sz="1000" b="0">
                <a:solidFill>
                  <a:srgbClr val="1E1E1E"/>
                </a:solidFill>
                <a:latin typeface="Calibri"/>
              </a:rPr>
              <a:t>• Frontend Contract Tests (React Testing Library — 50 Tests): Validated client-side k-anonymity hash generation, prefix slicing, error handling, route protection, and responsive Cyberpunk HUD terminal components.</a:t>
            </a:r>
          </a:p>
          <a:p>
            <a:pPr>
              <a:spcBef>
                <a:spcPts val="300"/>
              </a:spcBef>
              <a:spcAft>
                <a:spcPts val="200"/>
              </a:spcAft>
            </a:pPr>
            <a:r>
              <a:rPr sz="1000" b="0">
                <a:solidFill>
                  <a:srgbClr val="1E1E1E"/>
                </a:solidFill>
                <a:latin typeface="Calibri"/>
              </a:rPr>
              <a:t>• Machine Learning &amp; NLP Tests (Pytest — 4 Tests): Tested UrlBERT tokenizer integration, PyTorch inference pipeline, XGBoost 7-feature extraction, and confidence probability thresholding.</a:t>
            </a:r>
          </a:p>
          <a:p>
            <a:pPr>
              <a:spcBef>
                <a:spcPts val="300"/>
              </a:spcBef>
              <a:spcAft>
                <a:spcPts val="200"/>
              </a:spcAft>
            </a:pPr>
            <a:r>
              <a:rPr sz="1000" b="0">
                <a:solidFill>
                  <a:srgbClr val="1E1E1E"/>
                </a:solidFill>
                <a:latin typeface="Calibri"/>
              </a:rPr>
              <a:t>• Scraper Resilience Tests (5 Tests): Verified Telethon MTProto flood-wait backoff, Telegram session failover, and non-blocking timeout handling.</a:t>
            </a:r>
          </a:p>
          <a:p>
            <a:pPr>
              <a:spcBef>
                <a:spcPts val="300"/>
              </a:spcBef>
              <a:spcAft>
                <a:spcPts val="200"/>
              </a:spcAft>
            </a:pPr>
            <a:r>
              <a:rPr sz="1000" b="0">
                <a:solidFill>
                  <a:srgbClr val="1E1E1E"/>
                </a:solidFill>
                <a:latin typeface="Calibri"/>
              </a:rPr>
              <a:t>• Blockchain &amp; Merkle Tests (Hardhat / Mocha — 10 Tests): Validated canonical JSON formatting, Merkle tree root computation, proof generation, and smart contract state verification.</a:t>
            </a:r>
          </a:p>
          <a:p>
            <a:pPr>
              <a:spcBef>
                <a:spcPts val="300"/>
              </a:spcBef>
              <a:spcAft>
                <a:spcPts val="200"/>
              </a:spcAft>
            </a:pPr>
            <a:r>
              <a:rPr sz="1000" b="0">
                <a:solidFill>
                  <a:srgbClr val="1E1E1E"/>
                </a:solidFill>
                <a:latin typeface="Calibri"/>
              </a:rPr>
              <a:t>• Audit Log Tamper-Evidence Tests (3 Tests): Validated immediate cryptographic failure and alert detection whenever log payloads are altered post-anchoring.</a:t>
            </a:r>
          </a:p>
        </p:txBody>
      </p:sp>
      <p:sp>
        <p:nvSpPr>
          <p:cNvPr id="4" name="Google Shape;98;g2eff20282af_0_123">
            <a:extLst>
              <a:ext uri="{FF2B5EF4-FFF2-40B4-BE49-F238E27FC236}">
                <a16:creationId xmlns:a16="http://schemas.microsoft.com/office/drawing/2014/main" id="{8DFA2E4A-3B97-D2D9-7AE2-11E30C848D62}"/>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5" name="Google Shape;80;p4">
            <a:extLst>
              <a:ext uri="{FF2B5EF4-FFF2-40B4-BE49-F238E27FC236}">
                <a16:creationId xmlns:a16="http://schemas.microsoft.com/office/drawing/2014/main" id="{3F94A72A-4E10-4B90-1293-7B62D8E3400D}"/>
              </a:ext>
            </a:extLst>
          </p:cNvPr>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dirty="0">
                <a:solidFill>
                  <a:schemeClr val="bg1"/>
                </a:solidFill>
              </a:rPr>
              <a:t>9</a:t>
            </a:r>
            <a:endParaRPr dirty="0">
              <a:solidFill>
                <a:schemeClr val="bg1"/>
              </a:solidFill>
            </a:endParaRPr>
          </a:p>
        </p:txBody>
      </p:sp>
    </p:spTree>
    <p:extLst>
      <p:ext uri="{BB962C8B-B14F-4D97-AF65-F5344CB8AC3E}">
        <p14:creationId xmlns:p14="http://schemas.microsoft.com/office/powerpoint/2010/main" val="1534652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82041" y="543716"/>
            <a:ext cx="2192694" cy="461665"/>
          </a:xfrm>
          <a:prstGeom prst="rect">
            <a:avLst/>
          </a:prstGeom>
        </p:spPr>
        <p:txBody>
          <a:bodyPr wrap="square">
            <a:spAutoFit/>
          </a:bodyPr>
          <a:lstStyle/>
          <a:p>
            <a:pPr lvl="0" algn="ctr">
              <a:buClr>
                <a:srgbClr val="1581AA"/>
              </a:buClr>
              <a:buSzPts val="2800"/>
            </a:pPr>
            <a:r>
              <a:rPr lang="en-US" sz="2400" b="1" dirty="0">
                <a:solidFill>
                  <a:srgbClr val="1581AA"/>
                </a:solidFill>
                <a:latin typeface="Calibri"/>
                <a:ea typeface="Calibri"/>
                <a:cs typeface="Calibri"/>
                <a:sym typeface="Calibri"/>
              </a:rPr>
              <a:t>TEST CASES</a:t>
            </a:r>
          </a:p>
        </p:txBody>
      </p:sp>
      <p:sp>
        <p:nvSpPr>
          <p:cNvPr id="3" name="Rectangle 2">
            <a:extLst>
              <a:ext uri="{FF2B5EF4-FFF2-40B4-BE49-F238E27FC236}">
                <a16:creationId xmlns:a16="http://schemas.microsoft.com/office/drawing/2014/main" id="{7744D323-4235-7E9A-5B20-EC3C9CF4A0C4}"/>
              </a:ext>
            </a:extLst>
          </p:cNvPr>
          <p:cNvSpPr/>
          <p:nvPr/>
        </p:nvSpPr>
        <p:spPr>
          <a:xfrm>
            <a:off x="1930413" y="1151209"/>
            <a:ext cx="5941998" cy="646331"/>
          </a:xfrm>
          <a:prstGeom prst="rect">
            <a:avLst/>
          </a:prstGeom>
        </p:spPr>
        <p:txBody>
          <a:bodyPr wrap="square">
            <a:spAutoFit/>
          </a:bodyPr>
          <a:lstStyle/>
          <a:p>
            <a:r>
              <a:rPr lang="en-US" sz="1800" dirty="0">
                <a:solidFill>
                  <a:srgbClr val="FF0000"/>
                </a:solidFill>
              </a:rPr>
              <a:t/>
            </a:r>
            <a:r>
              <a:rPr sz="1100" b="1">
                <a:solidFill>
                  <a:srgbClr val="102C57"/>
                </a:solidFill>
              </a:rPr>
              <a:t>12 Comprehensive Test Cases across Unit, Integration, and System Verification</a:t>
            </a:r>
            <a:endParaRPr lang="en-US" dirty="0">
              <a:solidFill>
                <a:srgbClr val="FF0000"/>
              </a:solidFill>
            </a:endParaRPr>
          </a:p>
        </p:txBody>
      </p:sp>
      <p:sp>
        <p:nvSpPr>
          <p:cNvPr id="5" name="Google Shape;98;g2eff20282af_0_123">
            <a:extLst>
              <a:ext uri="{FF2B5EF4-FFF2-40B4-BE49-F238E27FC236}">
                <a16:creationId xmlns:a16="http://schemas.microsoft.com/office/drawing/2014/main" id="{503D2D0A-4053-0BD2-D87E-AFA5EF52324A}"/>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6" name="Google Shape;80;p4">
            <a:extLst>
              <a:ext uri="{FF2B5EF4-FFF2-40B4-BE49-F238E27FC236}">
                <a16:creationId xmlns:a16="http://schemas.microsoft.com/office/drawing/2014/main" id="{846A73A8-648D-88BD-909D-235CBF5BBCDD}"/>
              </a:ext>
            </a:extLst>
          </p:cNvPr>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b="1" dirty="0">
                <a:solidFill>
                  <a:schemeClr val="bg1"/>
                </a:solidFill>
              </a:rPr>
              <a:t>10</a:t>
            </a:r>
            <a:endParaRPr b="1" dirty="0">
              <a:solidFill>
                <a:schemeClr val="bg1"/>
              </a:solidFill>
            </a:endParaRPr>
          </a:p>
        </p:txBody>
      </p:sp>
      <p:graphicFrame>
        <p:nvGraphicFramePr>
          <p:cNvPr id="7" name="Table 6"/>
          <p:cNvGraphicFramePr>
            <a:graphicFrameLocks noGrp="1"/>
          </p:cNvGraphicFramePr>
          <p:nvPr/>
        </p:nvGraphicFramePr>
        <p:xfrm>
          <a:off x="1645920" y="1280160"/>
          <a:ext cx="7315200" cy="3566160"/>
        </p:xfrm>
        <a:graphic>
          <a:graphicData uri="http://schemas.openxmlformats.org/drawingml/2006/table">
            <a:tbl>
              <a:tblPr firstRow="1" bandRow="1">
                <a:tableStyleId>{5C22544A-7EE6-4342-B048-85BDC9FD1C3A}</a:tableStyleId>
              </a:tblPr>
              <a:tblGrid>
                <a:gridCol w="640080"/>
                <a:gridCol w="1005840"/>
                <a:gridCol w="1280160"/>
                <a:gridCol w="1371600"/>
                <a:gridCol w="1371600"/>
                <a:gridCol w="640080"/>
                <a:gridCol w="1005840"/>
              </a:tblGrid>
              <a:tr h="274320">
                <a:tc>
                  <a:txBody>
                    <a:bodyPr/>
                    <a:lstStyle/>
                    <a:p>
                      <a:pPr algn="ctr"/>
                      <a:r>
                        <a:rPr sz="850" b="1">
                          <a:solidFill>
                            <a:srgbClr val="FFFFFF"/>
                          </a:solidFill>
                        </a:rPr>
                        <a:t>TC#</a:t>
                      </a:r>
                    </a:p>
                  </a:txBody>
                  <a:tcPr>
                    <a:solidFill>
                      <a:srgbClr val="102C57"/>
                    </a:solidFill>
                  </a:tcPr>
                </a:tc>
                <a:tc>
                  <a:txBody>
                    <a:bodyPr/>
                    <a:lstStyle/>
                    <a:p>
                      <a:pPr algn="ctr"/>
                      <a:r>
                        <a:rPr sz="850" b="1">
                          <a:solidFill>
                            <a:srgbClr val="FFFFFF"/>
                          </a:solidFill>
                        </a:rPr>
                        <a:t>Testing Type</a:t>
                      </a:r>
                    </a:p>
                  </a:txBody>
                  <a:tcPr>
                    <a:solidFill>
                      <a:srgbClr val="102C57"/>
                    </a:solidFill>
                  </a:tcPr>
                </a:tc>
                <a:tc>
                  <a:txBody>
                    <a:bodyPr/>
                    <a:lstStyle/>
                    <a:p>
                      <a:pPr algn="ctr"/>
                      <a:r>
                        <a:rPr sz="850" b="1">
                          <a:solidFill>
                            <a:srgbClr val="FFFFFF"/>
                          </a:solidFill>
                        </a:rPr>
                        <a:t>Input</a:t>
                      </a:r>
                    </a:p>
                  </a:txBody>
                  <a:tcPr>
                    <a:solidFill>
                      <a:srgbClr val="102C57"/>
                    </a:solidFill>
                  </a:tcPr>
                </a:tc>
                <a:tc>
                  <a:txBody>
                    <a:bodyPr/>
                    <a:lstStyle/>
                    <a:p>
                      <a:pPr algn="ctr"/>
                      <a:r>
                        <a:rPr sz="850" b="1">
                          <a:solidFill>
                            <a:srgbClr val="FFFFFF"/>
                          </a:solidFill>
                        </a:rPr>
                        <a:t>Expected Output</a:t>
                      </a:r>
                    </a:p>
                  </a:txBody>
                  <a:tcPr>
                    <a:solidFill>
                      <a:srgbClr val="102C57"/>
                    </a:solidFill>
                  </a:tcPr>
                </a:tc>
                <a:tc>
                  <a:txBody>
                    <a:bodyPr/>
                    <a:lstStyle/>
                    <a:p>
                      <a:pPr algn="ctr"/>
                      <a:r>
                        <a:rPr sz="850" b="1">
                          <a:solidFill>
                            <a:srgbClr val="FFFFFF"/>
                          </a:solidFill>
                        </a:rPr>
                        <a:t>Obtained Result</a:t>
                      </a:r>
                    </a:p>
                  </a:txBody>
                  <a:tcPr>
                    <a:solidFill>
                      <a:srgbClr val="102C57"/>
                    </a:solidFill>
                  </a:tcPr>
                </a:tc>
                <a:tc>
                  <a:txBody>
                    <a:bodyPr/>
                    <a:lstStyle/>
                    <a:p>
                      <a:pPr algn="ctr"/>
                      <a:r>
                        <a:rPr sz="850" b="1">
                          <a:solidFill>
                            <a:srgbClr val="FFFFFF"/>
                          </a:solidFill>
                        </a:rPr>
                        <a:t>Status</a:t>
                      </a:r>
                    </a:p>
                  </a:txBody>
                  <a:tcPr>
                    <a:solidFill>
                      <a:srgbClr val="102C57"/>
                    </a:solidFill>
                  </a:tcPr>
                </a:tc>
                <a:tc>
                  <a:txBody>
                    <a:bodyPr/>
                    <a:lstStyle/>
                    <a:p>
                      <a:pPr algn="ctr"/>
                      <a:r>
                        <a:rPr sz="850" b="1">
                          <a:solidFill>
                            <a:srgbClr val="FFFFFF"/>
                          </a:solidFill>
                        </a:rPr>
                        <a:t>Remarks</a:t>
                      </a:r>
                    </a:p>
                  </a:txBody>
                  <a:tcPr>
                    <a:solidFill>
                      <a:srgbClr val="102C57"/>
                    </a:solidFill>
                  </a:tcPr>
                </a:tc>
              </a:tr>
              <a:tr h="274320">
                <a:tc>
                  <a:txBody>
                    <a:bodyPr/>
                    <a:lstStyle/>
                    <a:p>
                      <a:pPr algn="ctr"/>
                      <a:r>
                        <a:rPr sz="750">
                          <a:latin typeface="Calibri"/>
                        </a:rPr>
                        <a:t>TC-01</a:t>
                      </a:r>
                    </a:p>
                  </a:txBody>
                  <a:tcPr>
                    <a:solidFill>
                      <a:srgbClr val="F5F8FA"/>
                    </a:solidFill>
                  </a:tcPr>
                </a:tc>
                <a:tc>
                  <a:txBody>
                    <a:bodyPr/>
                    <a:lstStyle/>
                    <a:p>
                      <a:pPr algn="l"/>
                      <a:r>
                        <a:rPr sz="750">
                          <a:latin typeface="Calibri"/>
                        </a:rPr>
                        <a:t>Unit (Frontend)</a:t>
                      </a:r>
                    </a:p>
                  </a:txBody>
                  <a:tcPr>
                    <a:solidFill>
                      <a:srgbClr val="F5F8FA"/>
                    </a:solidFill>
                  </a:tcPr>
                </a:tc>
                <a:tc>
                  <a:txBody>
                    <a:bodyPr/>
                    <a:lstStyle/>
                    <a:p>
                      <a:pPr algn="l"/>
                      <a:r>
                        <a:rPr sz="750">
                          <a:latin typeface="Calibri"/>
                        </a:rPr>
                        <a:t>User email: test@example.com</a:t>
                      </a:r>
                    </a:p>
                  </a:txBody>
                  <a:tcPr>
                    <a:solidFill>
                      <a:srgbClr val="F5F8FA"/>
                    </a:solidFill>
                  </a:tcPr>
                </a:tc>
                <a:tc>
                  <a:txBody>
                    <a:bodyPr/>
                    <a:lstStyle/>
                    <a:p>
                      <a:pPr algn="l"/>
                      <a:r>
                        <a:rPr sz="750">
                          <a:latin typeface="Calibri"/>
                        </a:rPr>
                        <a:t>Generate 64-char SHA-256 hash locally</a:t>
                      </a:r>
                    </a:p>
                  </a:txBody>
                  <a:tcPr>
                    <a:solidFill>
                      <a:srgbClr val="F5F8FA"/>
                    </a:solidFill>
                  </a:tcPr>
                </a:tc>
                <a:tc>
                  <a:txBody>
                    <a:bodyPr/>
                    <a:lstStyle/>
                    <a:p>
                      <a:pPr algn="l"/>
                      <a:r>
                        <a:rPr sz="750">
                          <a:latin typeface="Calibri"/>
                        </a:rPr>
                        <a:t>Local hash computed in browser</a:t>
                      </a:r>
                    </a:p>
                  </a:txBody>
                  <a:tcPr>
                    <a:solidFill>
                      <a:srgbClr val="F5F8FA"/>
                    </a:solidFill>
                  </a:tcPr>
                </a:tc>
                <a:tc>
                  <a:txBody>
                    <a:bodyPr/>
                    <a:lstStyle/>
                    <a:p>
                      <a:pPr algn="ctr"/>
                      <a:r>
                        <a:rPr sz="750" b="1">
                          <a:solidFill>
                            <a:srgbClr val="27AE60"/>
                          </a:solidFill>
                          <a:latin typeface="Calibri"/>
                        </a:rPr>
                        <a:t>PASS</a:t>
                      </a:r>
                    </a:p>
                  </a:txBody>
                  <a:tcPr>
                    <a:solidFill>
                      <a:srgbClr val="F5F8FA"/>
                    </a:solidFill>
                  </a:tcPr>
                </a:tc>
                <a:tc>
                  <a:txBody>
                    <a:bodyPr/>
                    <a:lstStyle/>
                    <a:p>
                      <a:pPr algn="l"/>
                      <a:r>
                        <a:rPr sz="750">
                          <a:latin typeface="Calibri"/>
                        </a:rPr>
                        <a:t>Zero plaintext leak</a:t>
                      </a:r>
                    </a:p>
                  </a:txBody>
                  <a:tcPr>
                    <a:solidFill>
                      <a:srgbClr val="F5F8FA"/>
                    </a:solidFill>
                  </a:tcPr>
                </a:tc>
              </a:tr>
              <a:tr h="274320">
                <a:tc>
                  <a:txBody>
                    <a:bodyPr/>
                    <a:lstStyle/>
                    <a:p>
                      <a:pPr algn="ctr"/>
                      <a:r>
                        <a:rPr sz="750">
                          <a:latin typeface="Calibri"/>
                        </a:rPr>
                        <a:t>TC-02</a:t>
                      </a:r>
                    </a:p>
                  </a:txBody>
                  <a:tcPr>
                    <a:solidFill>
                      <a:srgbClr val="FFFFFF"/>
                    </a:solidFill>
                  </a:tcPr>
                </a:tc>
                <a:tc>
                  <a:txBody>
                    <a:bodyPr/>
                    <a:lstStyle/>
                    <a:p>
                      <a:pPr algn="l"/>
                      <a:r>
                        <a:rPr sz="750">
                          <a:latin typeface="Calibri"/>
                        </a:rPr>
                        <a:t>Unit (Frontend)</a:t>
                      </a:r>
                    </a:p>
                  </a:txBody>
                  <a:tcPr>
                    <a:solidFill>
                      <a:srgbClr val="FFFFFF"/>
                    </a:solidFill>
                  </a:tcPr>
                </a:tc>
                <a:tc>
                  <a:txBody>
                    <a:bodyPr/>
                    <a:lstStyle/>
                    <a:p>
                      <a:pPr algn="l"/>
                      <a:r>
                        <a:rPr sz="750">
                          <a:latin typeface="Calibri"/>
                        </a:rPr>
                        <a:t>SHA-256 full hash</a:t>
                      </a:r>
                    </a:p>
                  </a:txBody>
                  <a:tcPr>
                    <a:solidFill>
                      <a:srgbClr val="FFFFFF"/>
                    </a:solidFill>
                  </a:tcPr>
                </a:tc>
                <a:tc>
                  <a:txBody>
                    <a:bodyPr/>
                    <a:lstStyle/>
                    <a:p>
                      <a:pPr algn="l"/>
                      <a:r>
                        <a:rPr sz="750">
                          <a:latin typeface="Calibri"/>
                        </a:rPr>
                        <a:t>Extract exactly first 5 hex chars as prefix</a:t>
                      </a:r>
                    </a:p>
                  </a:txBody>
                  <a:tcPr>
                    <a:solidFill>
                      <a:srgbClr val="FFFFFF"/>
                    </a:solidFill>
                  </a:tcPr>
                </a:tc>
                <a:tc>
                  <a:txBody>
                    <a:bodyPr/>
                    <a:lstStyle/>
                    <a:p>
                      <a:pPr algn="l"/>
                      <a:r>
                        <a:rPr sz="750">
                          <a:latin typeface="Calibri"/>
                        </a:rPr>
                        <a:t>Prefix '973af' extracted</a:t>
                      </a:r>
                    </a:p>
                  </a:txBody>
                  <a:tcPr>
                    <a:solidFill>
                      <a:srgbClr val="FFFFFF"/>
                    </a:solidFill>
                  </a:tcPr>
                </a:tc>
                <a:tc>
                  <a:txBody>
                    <a:bodyPr/>
                    <a:lstStyle/>
                    <a:p>
                      <a:pPr algn="ctr"/>
                      <a:r>
                        <a:rPr sz="750" b="1">
                          <a:solidFill>
                            <a:srgbClr val="27AE60"/>
                          </a:solidFill>
                          <a:latin typeface="Calibri"/>
                        </a:rPr>
                        <a:t>PASS</a:t>
                      </a:r>
                    </a:p>
                  </a:txBody>
                  <a:tcPr>
                    <a:solidFill>
                      <a:srgbClr val="FFFFFF"/>
                    </a:solidFill>
                  </a:tcPr>
                </a:tc>
                <a:tc>
                  <a:txBody>
                    <a:bodyPr/>
                    <a:lstStyle/>
                    <a:p>
                      <a:pPr algn="l"/>
                      <a:r>
                        <a:rPr sz="750">
                          <a:latin typeface="Calibri"/>
                        </a:rPr>
                        <a:t>k-Anonymity contract</a:t>
                      </a:r>
                    </a:p>
                  </a:txBody>
                  <a:tcPr>
                    <a:solidFill>
                      <a:srgbClr val="FFFFFF"/>
                    </a:solidFill>
                  </a:tcPr>
                </a:tc>
              </a:tr>
              <a:tr h="274320">
                <a:tc>
                  <a:txBody>
                    <a:bodyPr/>
                    <a:lstStyle/>
                    <a:p>
                      <a:pPr algn="ctr"/>
                      <a:r>
                        <a:rPr sz="750">
                          <a:latin typeface="Calibri"/>
                        </a:rPr>
                        <a:t>TC-03</a:t>
                      </a:r>
                    </a:p>
                  </a:txBody>
                  <a:tcPr>
                    <a:solidFill>
                      <a:srgbClr val="F5F8FA"/>
                    </a:solidFill>
                  </a:tcPr>
                </a:tc>
                <a:tc>
                  <a:txBody>
                    <a:bodyPr/>
                    <a:lstStyle/>
                    <a:p>
                      <a:pPr algn="l"/>
                      <a:r>
                        <a:rPr sz="750">
                          <a:latin typeface="Calibri"/>
                        </a:rPr>
                        <a:t>Unit (Backend)</a:t>
                      </a:r>
                    </a:p>
                  </a:txBody>
                  <a:tcPr>
                    <a:solidFill>
                      <a:srgbClr val="F5F8FA"/>
                    </a:solidFill>
                  </a:tcPr>
                </a:tc>
                <a:tc>
                  <a:txBody>
                    <a:bodyPr/>
                    <a:lstStyle/>
                    <a:p>
                      <a:pPr algn="l"/>
                      <a:r>
                        <a:rPr sz="750">
                          <a:latin typeface="Calibri"/>
                        </a:rPr>
                        <a:t>6-digit OTP generated</a:t>
                      </a:r>
                    </a:p>
                  </a:txBody>
                  <a:tcPr>
                    <a:solidFill>
                      <a:srgbClr val="F5F8FA"/>
                    </a:solidFill>
                  </a:tcPr>
                </a:tc>
                <a:tc>
                  <a:txBody>
                    <a:bodyPr/>
                    <a:lstStyle/>
                    <a:p>
                      <a:pPr algn="l"/>
                      <a:r>
                        <a:rPr sz="750">
                          <a:latin typeface="Calibri"/>
                        </a:rPr>
                        <a:t>Hash OTP with bcrypt before storage</a:t>
                      </a:r>
                    </a:p>
                  </a:txBody>
                  <a:tcPr>
                    <a:solidFill>
                      <a:srgbClr val="F5F8FA"/>
                    </a:solidFill>
                  </a:tcPr>
                </a:tc>
                <a:tc>
                  <a:txBody>
                    <a:bodyPr/>
                    <a:lstStyle/>
                    <a:p>
                      <a:pPr algn="l"/>
                      <a:r>
                        <a:rPr sz="750">
                          <a:latin typeface="Calibri"/>
                        </a:rPr>
                        <a:t>bcrypt salt &amp; hash stored in DB</a:t>
                      </a:r>
                    </a:p>
                  </a:txBody>
                  <a:tcPr>
                    <a:solidFill>
                      <a:srgbClr val="F5F8FA"/>
                    </a:solidFill>
                  </a:tcPr>
                </a:tc>
                <a:tc>
                  <a:txBody>
                    <a:bodyPr/>
                    <a:lstStyle/>
                    <a:p>
                      <a:pPr algn="ctr"/>
                      <a:r>
                        <a:rPr sz="750" b="1">
                          <a:solidFill>
                            <a:srgbClr val="27AE60"/>
                          </a:solidFill>
                          <a:latin typeface="Calibri"/>
                        </a:rPr>
                        <a:t>PASS</a:t>
                      </a:r>
                    </a:p>
                  </a:txBody>
                  <a:tcPr>
                    <a:solidFill>
                      <a:srgbClr val="F5F8FA"/>
                    </a:solidFill>
                  </a:tcPr>
                </a:tc>
                <a:tc>
                  <a:txBody>
                    <a:bodyPr/>
                    <a:lstStyle/>
                    <a:p>
                      <a:pPr algn="l"/>
                      <a:r>
                        <a:rPr sz="750">
                          <a:latin typeface="Calibri"/>
                        </a:rPr>
                        <a:t>Safe at rest</a:t>
                      </a:r>
                    </a:p>
                  </a:txBody>
                  <a:tcPr>
                    <a:solidFill>
                      <a:srgbClr val="F5F8FA"/>
                    </a:solidFill>
                  </a:tcPr>
                </a:tc>
              </a:tr>
              <a:tr h="274320">
                <a:tc>
                  <a:txBody>
                    <a:bodyPr/>
                    <a:lstStyle/>
                    <a:p>
                      <a:pPr algn="ctr"/>
                      <a:r>
                        <a:rPr sz="750">
                          <a:latin typeface="Calibri"/>
                        </a:rPr>
                        <a:t>TC-04</a:t>
                      </a:r>
                    </a:p>
                  </a:txBody>
                  <a:tcPr>
                    <a:solidFill>
                      <a:srgbClr val="FFFFFF"/>
                    </a:solidFill>
                  </a:tcPr>
                </a:tc>
                <a:tc>
                  <a:txBody>
                    <a:bodyPr/>
                    <a:lstStyle/>
                    <a:p>
                      <a:pPr algn="l"/>
                      <a:r>
                        <a:rPr sz="750">
                          <a:latin typeface="Calibri"/>
                        </a:rPr>
                        <a:t>Unit (Backend)</a:t>
                      </a:r>
                    </a:p>
                  </a:txBody>
                  <a:tcPr>
                    <a:solidFill>
                      <a:srgbClr val="FFFFFF"/>
                    </a:solidFill>
                  </a:tcPr>
                </a:tc>
                <a:tc>
                  <a:txBody>
                    <a:bodyPr/>
                    <a:lstStyle/>
                    <a:p>
                      <a:pPr algn="l"/>
                      <a:r>
                        <a:rPr sz="750">
                          <a:latin typeface="Calibri"/>
                        </a:rPr>
                        <a:t>OTP request within 30s cooldown</a:t>
                      </a:r>
                    </a:p>
                  </a:txBody>
                  <a:tcPr>
                    <a:solidFill>
                      <a:srgbClr val="FFFFFF"/>
                    </a:solidFill>
                  </a:tcPr>
                </a:tc>
                <a:tc>
                  <a:txBody>
                    <a:bodyPr/>
                    <a:lstStyle/>
                    <a:p>
                      <a:pPr algn="l"/>
                      <a:r>
                        <a:rPr sz="750">
                          <a:latin typeface="Calibri"/>
                        </a:rPr>
                        <a:t>Return HTTP 429 Too Many Requests</a:t>
                      </a:r>
                    </a:p>
                  </a:txBody>
                  <a:tcPr>
                    <a:solidFill>
                      <a:srgbClr val="FFFFFF"/>
                    </a:solidFill>
                  </a:tcPr>
                </a:tc>
                <a:tc>
                  <a:txBody>
                    <a:bodyPr/>
                    <a:lstStyle/>
                    <a:p>
                      <a:pPr algn="l"/>
                      <a:r>
                        <a:rPr sz="750">
                          <a:latin typeface="Calibri"/>
                        </a:rPr>
                        <a:t>HTTP 429 returned with retry countdown</a:t>
                      </a:r>
                    </a:p>
                  </a:txBody>
                  <a:tcPr>
                    <a:solidFill>
                      <a:srgbClr val="FFFFFF"/>
                    </a:solidFill>
                  </a:tcPr>
                </a:tc>
                <a:tc>
                  <a:txBody>
                    <a:bodyPr/>
                    <a:lstStyle/>
                    <a:p>
                      <a:pPr algn="ctr"/>
                      <a:r>
                        <a:rPr sz="750" b="1">
                          <a:solidFill>
                            <a:srgbClr val="27AE60"/>
                          </a:solidFill>
                          <a:latin typeface="Calibri"/>
                        </a:rPr>
                        <a:t>PASS</a:t>
                      </a:r>
                    </a:p>
                  </a:txBody>
                  <a:tcPr>
                    <a:solidFill>
                      <a:srgbClr val="FFFFFF"/>
                    </a:solidFill>
                  </a:tcPr>
                </a:tc>
                <a:tc>
                  <a:txBody>
                    <a:bodyPr/>
                    <a:lstStyle/>
                    <a:p>
                      <a:pPr algn="l"/>
                      <a:r>
                        <a:rPr sz="750">
                          <a:latin typeface="Calibri"/>
                        </a:rPr>
                        <a:t>Spam prevention</a:t>
                      </a:r>
                    </a:p>
                  </a:txBody>
                  <a:tcPr>
                    <a:solidFill>
                      <a:srgbClr val="FFFFFF"/>
                    </a:solidFill>
                  </a:tcPr>
                </a:tc>
              </a:tr>
              <a:tr h="274320">
                <a:tc>
                  <a:txBody>
                    <a:bodyPr/>
                    <a:lstStyle/>
                    <a:p>
                      <a:pPr algn="ctr"/>
                      <a:r>
                        <a:rPr sz="750">
                          <a:latin typeface="Calibri"/>
                        </a:rPr>
                        <a:t>TC-05</a:t>
                      </a:r>
                    </a:p>
                  </a:txBody>
                  <a:tcPr>
                    <a:solidFill>
                      <a:srgbClr val="F5F8FA"/>
                    </a:solidFill>
                  </a:tcPr>
                </a:tc>
                <a:tc>
                  <a:txBody>
                    <a:bodyPr/>
                    <a:lstStyle/>
                    <a:p>
                      <a:pPr algn="l"/>
                      <a:r>
                        <a:rPr sz="750">
                          <a:latin typeface="Calibri"/>
                        </a:rPr>
                        <a:t>Unit (Backend)</a:t>
                      </a:r>
                    </a:p>
                  </a:txBody>
                  <a:tcPr>
                    <a:solidFill>
                      <a:srgbClr val="F5F8FA"/>
                    </a:solidFill>
                  </a:tcPr>
                </a:tc>
                <a:tc>
                  <a:txBody>
                    <a:bodyPr/>
                    <a:lstStyle/>
                    <a:p>
                      <a:pPr algn="l"/>
                      <a:r>
                        <a:rPr sz="750">
                          <a:latin typeface="Calibri"/>
                        </a:rPr>
                        <a:t>5 consecutive wrong OTP submissions</a:t>
                      </a:r>
                    </a:p>
                  </a:txBody>
                  <a:tcPr>
                    <a:solidFill>
                      <a:srgbClr val="F5F8FA"/>
                    </a:solidFill>
                  </a:tcPr>
                </a:tc>
                <a:tc>
                  <a:txBody>
                    <a:bodyPr/>
                    <a:lstStyle/>
                    <a:p>
                      <a:pPr algn="l"/>
                      <a:r>
                        <a:rPr sz="750">
                          <a:latin typeface="Calibri"/>
                        </a:rPr>
                        <a:t>Lockout target and reject further attempts</a:t>
                      </a:r>
                    </a:p>
                  </a:txBody>
                  <a:tcPr>
                    <a:solidFill>
                      <a:srgbClr val="F5F8FA"/>
                    </a:solidFill>
                  </a:tcPr>
                </a:tc>
                <a:tc>
                  <a:txBody>
                    <a:bodyPr/>
                    <a:lstStyle/>
                    <a:p>
                      <a:pPr algn="l"/>
                      <a:r>
                        <a:rPr sz="750">
                          <a:latin typeface="Calibri"/>
                        </a:rPr>
                        <a:t>Account locked for 15 minutes</a:t>
                      </a:r>
                    </a:p>
                  </a:txBody>
                  <a:tcPr>
                    <a:solidFill>
                      <a:srgbClr val="F5F8FA"/>
                    </a:solidFill>
                  </a:tcPr>
                </a:tc>
                <a:tc>
                  <a:txBody>
                    <a:bodyPr/>
                    <a:lstStyle/>
                    <a:p>
                      <a:pPr algn="ctr"/>
                      <a:r>
                        <a:rPr sz="750" b="1">
                          <a:solidFill>
                            <a:srgbClr val="27AE60"/>
                          </a:solidFill>
                          <a:latin typeface="Calibri"/>
                        </a:rPr>
                        <a:t>PASS</a:t>
                      </a:r>
                    </a:p>
                  </a:txBody>
                  <a:tcPr>
                    <a:solidFill>
                      <a:srgbClr val="F5F8FA"/>
                    </a:solidFill>
                  </a:tcPr>
                </a:tc>
                <a:tc>
                  <a:txBody>
                    <a:bodyPr/>
                    <a:lstStyle/>
                    <a:p>
                      <a:pPr algn="l"/>
                      <a:r>
                        <a:rPr sz="750">
                          <a:latin typeface="Calibri"/>
                        </a:rPr>
                        <a:t>Brute-force defense</a:t>
                      </a:r>
                    </a:p>
                  </a:txBody>
                  <a:tcPr>
                    <a:solidFill>
                      <a:srgbClr val="F5F8FA"/>
                    </a:solidFill>
                  </a:tcPr>
                </a:tc>
              </a:tr>
              <a:tr h="274320">
                <a:tc>
                  <a:txBody>
                    <a:bodyPr/>
                    <a:lstStyle/>
                    <a:p>
                      <a:pPr algn="ctr"/>
                      <a:r>
                        <a:rPr sz="750">
                          <a:latin typeface="Calibri"/>
                        </a:rPr>
                        <a:t>TC-06</a:t>
                      </a:r>
                    </a:p>
                  </a:txBody>
                  <a:tcPr>
                    <a:solidFill>
                      <a:srgbClr val="FFFFFF"/>
                    </a:solidFill>
                  </a:tcPr>
                </a:tc>
                <a:tc>
                  <a:txBody>
                    <a:bodyPr/>
                    <a:lstStyle/>
                    <a:p>
                      <a:pPr algn="l"/>
                      <a:r>
                        <a:rPr sz="750">
                          <a:latin typeface="Calibri"/>
                        </a:rPr>
                        <a:t>Integration (Auth)</a:t>
                      </a:r>
                    </a:p>
                  </a:txBody>
                  <a:tcPr>
                    <a:solidFill>
                      <a:srgbClr val="FFFFFF"/>
                    </a:solidFill>
                  </a:tcPr>
                </a:tc>
                <a:tc>
                  <a:txBody>
                    <a:bodyPr/>
                    <a:lstStyle/>
                    <a:p>
                      <a:pPr algn="l"/>
                      <a:r>
                        <a:rPr sz="750">
                          <a:latin typeface="Calibri"/>
                        </a:rPr>
                        <a:t>Valid email OTP request</a:t>
                      </a:r>
                    </a:p>
                  </a:txBody>
                  <a:tcPr>
                    <a:solidFill>
                      <a:srgbClr val="FFFFFF"/>
                    </a:solidFill>
                  </a:tcPr>
                </a:tc>
                <a:tc>
                  <a:txBody>
                    <a:bodyPr/>
                    <a:lstStyle/>
                    <a:p>
                      <a:pPr algn="l"/>
                      <a:r>
                        <a:rPr sz="750">
                          <a:latin typeface="Calibri"/>
                        </a:rPr>
                        <a:t>Nodemailer dispatches email via Gmail SMTP</a:t>
                      </a:r>
                    </a:p>
                  </a:txBody>
                  <a:tcPr>
                    <a:solidFill>
                      <a:srgbClr val="FFFFFF"/>
                    </a:solidFill>
                  </a:tcPr>
                </a:tc>
                <a:tc>
                  <a:txBody>
                    <a:bodyPr/>
                    <a:lstStyle/>
                    <a:p>
                      <a:pPr algn="l"/>
                      <a:r>
                        <a:rPr sz="750">
                          <a:latin typeface="Calibri"/>
                        </a:rPr>
                        <a:t>Email received with 6-digit code</a:t>
                      </a:r>
                    </a:p>
                  </a:txBody>
                  <a:tcPr>
                    <a:solidFill>
                      <a:srgbClr val="FFFFFF"/>
                    </a:solidFill>
                  </a:tcPr>
                </a:tc>
                <a:tc>
                  <a:txBody>
                    <a:bodyPr/>
                    <a:lstStyle/>
                    <a:p>
                      <a:pPr algn="ctr"/>
                      <a:r>
                        <a:rPr sz="750" b="1">
                          <a:solidFill>
                            <a:srgbClr val="27AE60"/>
                          </a:solidFill>
                          <a:latin typeface="Calibri"/>
                        </a:rPr>
                        <a:t>PASS</a:t>
                      </a:r>
                    </a:p>
                  </a:txBody>
                  <a:tcPr>
                    <a:solidFill>
                      <a:srgbClr val="FFFFFF"/>
                    </a:solidFill>
                  </a:tcPr>
                </a:tc>
                <a:tc>
                  <a:txBody>
                    <a:bodyPr/>
                    <a:lstStyle/>
                    <a:p>
                      <a:pPr algn="l"/>
                      <a:r>
                        <a:rPr sz="750">
                          <a:latin typeface="Calibri"/>
                        </a:rPr>
                        <a:t>Out-of-band verified</a:t>
                      </a:r>
                    </a:p>
                  </a:txBody>
                  <a:tcPr>
                    <a:solidFill>
                      <a:srgbClr val="FFFFFF"/>
                    </a:solidFill>
                  </a:tcPr>
                </a:tc>
              </a:tr>
              <a:tr h="274320">
                <a:tc>
                  <a:txBody>
                    <a:bodyPr/>
                    <a:lstStyle/>
                    <a:p>
                      <a:pPr algn="ctr"/>
                      <a:r>
                        <a:rPr sz="750">
                          <a:latin typeface="Calibri"/>
                        </a:rPr>
                        <a:t>TC-07</a:t>
                      </a:r>
                    </a:p>
                  </a:txBody>
                  <a:tcPr>
                    <a:solidFill>
                      <a:srgbClr val="F5F8FA"/>
                    </a:solidFill>
                  </a:tcPr>
                </a:tc>
                <a:tc>
                  <a:txBody>
                    <a:bodyPr/>
                    <a:lstStyle/>
                    <a:p>
                      <a:pPr algn="l"/>
                      <a:r>
                        <a:rPr sz="750">
                          <a:latin typeface="Calibri"/>
                        </a:rPr>
                        <a:t>Integration (Relay)</a:t>
                      </a:r>
                    </a:p>
                  </a:txBody>
                  <a:tcPr>
                    <a:solidFill>
                      <a:srgbClr val="F5F8FA"/>
                    </a:solidFill>
                  </a:tcPr>
                </a:tc>
                <a:tc>
                  <a:txBody>
                    <a:bodyPr/>
                    <a:lstStyle/>
                    <a:p>
                      <a:pPr algn="l"/>
                      <a:r>
                        <a:rPr sz="750">
                          <a:latin typeface="Calibri"/>
                        </a:rPr>
                        <a:t>Phone OTP request via WebSocket</a:t>
                      </a:r>
                    </a:p>
                  </a:txBody>
                  <a:tcPr>
                    <a:solidFill>
                      <a:srgbClr val="F5F8FA"/>
                    </a:solidFill>
                  </a:tcPr>
                </a:tc>
                <a:tc>
                  <a:txBody>
                    <a:bodyPr/>
                    <a:lstStyle/>
                    <a:p>
                      <a:pPr algn="l"/>
                      <a:r>
                        <a:rPr sz="750">
                          <a:latin typeface="Calibri"/>
                        </a:rPr>
                        <a:t>Relay payload over /ws/gateway to Android app</a:t>
                      </a:r>
                    </a:p>
                  </a:txBody>
                  <a:tcPr>
                    <a:solidFill>
                      <a:srgbClr val="F5F8FA"/>
                    </a:solidFill>
                  </a:tcPr>
                </a:tc>
                <a:tc>
                  <a:txBody>
                    <a:bodyPr/>
                    <a:lstStyle/>
                    <a:p>
                      <a:pPr algn="l"/>
                      <a:r>
                        <a:rPr sz="750">
                          <a:latin typeface="Calibri"/>
                        </a:rPr>
                        <a:t>Android SmsManager dispatches SMS</a:t>
                      </a:r>
                    </a:p>
                  </a:txBody>
                  <a:tcPr>
                    <a:solidFill>
                      <a:srgbClr val="F5F8FA"/>
                    </a:solidFill>
                  </a:tcPr>
                </a:tc>
                <a:tc>
                  <a:txBody>
                    <a:bodyPr/>
                    <a:lstStyle/>
                    <a:p>
                      <a:pPr algn="ctr"/>
                      <a:r>
                        <a:rPr sz="750" b="1">
                          <a:solidFill>
                            <a:srgbClr val="27AE60"/>
                          </a:solidFill>
                          <a:latin typeface="Calibri"/>
                        </a:rPr>
                        <a:t>PASS</a:t>
                      </a:r>
                    </a:p>
                  </a:txBody>
                  <a:tcPr>
                    <a:solidFill>
                      <a:srgbClr val="F5F8FA"/>
                    </a:solidFill>
                  </a:tcPr>
                </a:tc>
                <a:tc>
                  <a:txBody>
                    <a:bodyPr/>
                    <a:lstStyle/>
                    <a:p>
                      <a:pPr algn="l"/>
                      <a:r>
                        <a:rPr sz="750">
                          <a:latin typeface="Calibri"/>
                        </a:rPr>
                        <a:t>Carrier-safe template</a:t>
                      </a:r>
                    </a:p>
                  </a:txBody>
                  <a:tcPr>
                    <a:solidFill>
                      <a:srgbClr val="F5F8FA"/>
                    </a:solidFill>
                  </a:tcPr>
                </a:tc>
              </a:tr>
              <a:tr h="274320">
                <a:tc>
                  <a:txBody>
                    <a:bodyPr/>
                    <a:lstStyle/>
                    <a:p>
                      <a:pPr algn="ctr"/>
                      <a:r>
                        <a:rPr sz="750">
                          <a:latin typeface="Calibri"/>
                        </a:rPr>
                        <a:t>TC-08</a:t>
                      </a:r>
                    </a:p>
                  </a:txBody>
                  <a:tcPr>
                    <a:solidFill>
                      <a:srgbClr val="FFFFFF"/>
                    </a:solidFill>
                  </a:tcPr>
                </a:tc>
                <a:tc>
                  <a:txBody>
                    <a:bodyPr/>
                    <a:lstStyle/>
                    <a:p>
                      <a:pPr algn="l"/>
                      <a:r>
                        <a:rPr sz="750">
                          <a:latin typeface="Calibri"/>
                        </a:rPr>
                        <a:t>Integration (OSINT)</a:t>
                      </a:r>
                    </a:p>
                  </a:txBody>
                  <a:tcPr>
                    <a:solidFill>
                      <a:srgbClr val="FFFFFF"/>
                    </a:solidFill>
                  </a:tcPr>
                </a:tc>
                <a:tc>
                  <a:txBody>
                    <a:bodyPr/>
                    <a:lstStyle/>
                    <a:p>
                      <a:pPr algn="l"/>
                      <a:r>
                        <a:rPr sz="750">
                          <a:latin typeface="Calibri"/>
                        </a:rPr>
                        <a:t>Query with 5-char prefix</a:t>
                      </a:r>
                    </a:p>
                  </a:txBody>
                  <a:tcPr>
                    <a:solidFill>
                      <a:srgbClr val="FFFFFF"/>
                    </a:solidFill>
                  </a:tcPr>
                </a:tc>
                <a:tc>
                  <a:txBody>
                    <a:bodyPr/>
                    <a:lstStyle/>
                    <a:p>
                      <a:pPr algn="l"/>
                      <a:r>
                        <a:rPr sz="750">
                          <a:latin typeface="Calibri"/>
                        </a:rPr>
                        <a:t>Aggregate Telegram, HIBP &amp; Local datasets</a:t>
                      </a:r>
                    </a:p>
                  </a:txBody>
                  <a:tcPr>
                    <a:solidFill>
                      <a:srgbClr val="FFFFFF"/>
                    </a:solidFill>
                  </a:tcPr>
                </a:tc>
                <a:tc>
                  <a:txBody>
                    <a:bodyPr/>
                    <a:lstStyle/>
                    <a:p>
                      <a:pPr algn="l"/>
                      <a:r>
                        <a:rPr sz="750">
                          <a:latin typeface="Calibri"/>
                        </a:rPr>
                        <a:t>Unified JSON response via Promise.allSettled</a:t>
                      </a:r>
                    </a:p>
                  </a:txBody>
                  <a:tcPr>
                    <a:solidFill>
                      <a:srgbClr val="FFFFFF"/>
                    </a:solidFill>
                  </a:tcPr>
                </a:tc>
                <a:tc>
                  <a:txBody>
                    <a:bodyPr/>
                    <a:lstStyle/>
                    <a:p>
                      <a:pPr algn="ctr"/>
                      <a:r>
                        <a:rPr sz="750" b="1">
                          <a:solidFill>
                            <a:srgbClr val="27AE60"/>
                          </a:solidFill>
                          <a:latin typeface="Calibri"/>
                        </a:rPr>
                        <a:t>PASS</a:t>
                      </a:r>
                    </a:p>
                  </a:txBody>
                  <a:tcPr>
                    <a:solidFill>
                      <a:srgbClr val="FFFFFF"/>
                    </a:solidFill>
                  </a:tcPr>
                </a:tc>
                <a:tc>
                  <a:txBody>
                    <a:bodyPr/>
                    <a:lstStyle/>
                    <a:p>
                      <a:pPr algn="l"/>
                      <a:r>
                        <a:rPr sz="750">
                          <a:latin typeface="Calibri"/>
                        </a:rPr>
                        <a:t>Non-blocking fallback</a:t>
                      </a:r>
                    </a:p>
                  </a:txBody>
                  <a:tcPr>
                    <a:solidFill>
                      <a:srgbClr val="FFFFFF"/>
                    </a:solidFill>
                  </a:tcPr>
                </a:tc>
              </a:tr>
              <a:tr h="274320">
                <a:tc>
                  <a:txBody>
                    <a:bodyPr/>
                    <a:lstStyle/>
                    <a:p>
                      <a:pPr algn="ctr"/>
                      <a:r>
                        <a:rPr sz="750">
                          <a:latin typeface="Calibri"/>
                        </a:rPr>
                        <a:t>TC-09</a:t>
                      </a:r>
                    </a:p>
                  </a:txBody>
                  <a:tcPr>
                    <a:solidFill>
                      <a:srgbClr val="F5F8FA"/>
                    </a:solidFill>
                  </a:tcPr>
                </a:tc>
                <a:tc>
                  <a:txBody>
                    <a:bodyPr/>
                    <a:lstStyle/>
                    <a:p>
                      <a:pPr algn="l"/>
                      <a:r>
                        <a:rPr sz="750">
                          <a:latin typeface="Calibri"/>
                        </a:rPr>
                        <a:t>Integration (ML)</a:t>
                      </a:r>
                    </a:p>
                  </a:txBody>
                  <a:tcPr>
                    <a:solidFill>
                      <a:srgbClr val="F5F8FA"/>
                    </a:solidFill>
                  </a:tcPr>
                </a:tc>
                <a:tc>
                  <a:txBody>
                    <a:bodyPr/>
                    <a:lstStyle/>
                    <a:p>
                      <a:pPr algn="l"/>
                      <a:r>
                        <a:rPr sz="750">
                          <a:latin typeface="Calibri"/>
                        </a:rPr>
                        <a:t>URL: paypa1-secure-login.tk</a:t>
                      </a:r>
                    </a:p>
                  </a:txBody>
                  <a:tcPr>
                    <a:solidFill>
                      <a:srgbClr val="F5F8FA"/>
                    </a:solidFill>
                  </a:tcPr>
                </a:tc>
                <a:tc>
                  <a:txBody>
                    <a:bodyPr/>
                    <a:lstStyle/>
                    <a:p>
                      <a:pPr algn="l"/>
                      <a:r>
                        <a:rPr sz="750">
                          <a:latin typeface="Calibri"/>
                        </a:rPr>
                        <a:t>UrlBERT predicts Phishing probability &gt; 65%</a:t>
                      </a:r>
                    </a:p>
                  </a:txBody>
                  <a:tcPr>
                    <a:solidFill>
                      <a:srgbClr val="F5F8FA"/>
                    </a:solidFill>
                  </a:tcPr>
                </a:tc>
                <a:tc>
                  <a:txBody>
                    <a:bodyPr/>
                    <a:lstStyle/>
                    <a:p>
                      <a:pPr algn="l"/>
                      <a:r>
                        <a:rPr sz="750">
                          <a:latin typeface="Calibri"/>
                        </a:rPr>
                        <a:t>Classified as PHISHING (89% prob)</a:t>
                      </a:r>
                    </a:p>
                  </a:txBody>
                  <a:tcPr>
                    <a:solidFill>
                      <a:srgbClr val="F5F8FA"/>
                    </a:solidFill>
                  </a:tcPr>
                </a:tc>
                <a:tc>
                  <a:txBody>
                    <a:bodyPr/>
                    <a:lstStyle/>
                    <a:p>
                      <a:pPr algn="ctr"/>
                      <a:r>
                        <a:rPr sz="750" b="1">
                          <a:solidFill>
                            <a:srgbClr val="27AE60"/>
                          </a:solidFill>
                          <a:latin typeface="Calibri"/>
                        </a:rPr>
                        <a:t>PASS</a:t>
                      </a:r>
                    </a:p>
                  </a:txBody>
                  <a:tcPr>
                    <a:solidFill>
                      <a:srgbClr val="F5F8FA"/>
                    </a:solidFill>
                  </a:tcPr>
                </a:tc>
                <a:tc>
                  <a:txBody>
                    <a:bodyPr/>
                    <a:lstStyle/>
                    <a:p>
                      <a:pPr algn="l"/>
                      <a:r>
                        <a:rPr sz="750">
                          <a:latin typeface="Calibri"/>
                        </a:rPr>
                        <a:t>Live model verified</a:t>
                      </a:r>
                    </a:p>
                  </a:txBody>
                  <a:tcPr>
                    <a:solidFill>
                      <a:srgbClr val="F5F8FA"/>
                    </a:solidFill>
                  </a:tcPr>
                </a:tc>
              </a:tr>
              <a:tr h="274320">
                <a:tc>
                  <a:txBody>
                    <a:bodyPr/>
                    <a:lstStyle/>
                    <a:p>
                      <a:pPr algn="ctr"/>
                      <a:r>
                        <a:rPr sz="750">
                          <a:latin typeface="Calibri"/>
                        </a:rPr>
                        <a:t>TC-10</a:t>
                      </a:r>
                    </a:p>
                  </a:txBody>
                  <a:tcPr>
                    <a:solidFill>
                      <a:srgbClr val="FFFFFF"/>
                    </a:solidFill>
                  </a:tcPr>
                </a:tc>
                <a:tc>
                  <a:txBody>
                    <a:bodyPr/>
                    <a:lstStyle/>
                    <a:p>
                      <a:pPr algn="l"/>
                      <a:r>
                        <a:rPr sz="750">
                          <a:latin typeface="Calibri"/>
                        </a:rPr>
                        <a:t>Integration (Merkle)</a:t>
                      </a:r>
                    </a:p>
                  </a:txBody>
                  <a:tcPr>
                    <a:solidFill>
                      <a:srgbClr val="FFFFFF"/>
                    </a:solidFill>
                  </a:tcPr>
                </a:tc>
                <a:tc>
                  <a:txBody>
                    <a:bodyPr/>
                    <a:lstStyle/>
                    <a:p>
                      <a:pPr algn="l"/>
                      <a:r>
                        <a:rPr sz="750">
                          <a:latin typeface="Calibri"/>
                        </a:rPr>
                        <a:t>Batch of 10 audit log events</a:t>
                      </a:r>
                    </a:p>
                  </a:txBody>
                  <a:tcPr>
                    <a:solidFill>
                      <a:srgbClr val="FFFFFF"/>
                    </a:solidFill>
                  </a:tcPr>
                </a:tc>
                <a:tc>
                  <a:txBody>
                    <a:bodyPr/>
                    <a:lstStyle/>
                    <a:p>
                      <a:pPr algn="l"/>
                      <a:r>
                        <a:rPr sz="750">
                          <a:latin typeface="Calibri"/>
                        </a:rPr>
                        <a:t>Construct SHA-256 Merkle tree &amp; root</a:t>
                      </a:r>
                    </a:p>
                  </a:txBody>
                  <a:tcPr>
                    <a:solidFill>
                      <a:srgbClr val="FFFFFF"/>
                    </a:solidFill>
                  </a:tcPr>
                </a:tc>
                <a:tc>
                  <a:txBody>
                    <a:bodyPr/>
                    <a:lstStyle/>
                    <a:p>
                      <a:pPr algn="l"/>
                      <a:r>
                        <a:rPr sz="750">
                          <a:latin typeface="Calibri"/>
                        </a:rPr>
                        <a:t>Valid 32-byte Merkle root computed</a:t>
                      </a:r>
                    </a:p>
                  </a:txBody>
                  <a:tcPr>
                    <a:solidFill>
                      <a:srgbClr val="FFFFFF"/>
                    </a:solidFill>
                  </a:tcPr>
                </a:tc>
                <a:tc>
                  <a:txBody>
                    <a:bodyPr/>
                    <a:lstStyle/>
                    <a:p>
                      <a:pPr algn="ctr"/>
                      <a:r>
                        <a:rPr sz="750" b="1">
                          <a:solidFill>
                            <a:srgbClr val="27AE60"/>
                          </a:solidFill>
                          <a:latin typeface="Calibri"/>
                        </a:rPr>
                        <a:t>PASS</a:t>
                      </a:r>
                    </a:p>
                  </a:txBody>
                  <a:tcPr>
                    <a:solidFill>
                      <a:srgbClr val="FFFFFF"/>
                    </a:solidFill>
                  </a:tcPr>
                </a:tc>
                <a:tc>
                  <a:txBody>
                    <a:bodyPr/>
                    <a:lstStyle/>
                    <a:p>
                      <a:pPr algn="l"/>
                      <a:r>
                        <a:rPr sz="750">
                          <a:latin typeface="Calibri"/>
                        </a:rPr>
                        <a:t>Deterministic hashes</a:t>
                      </a:r>
                    </a:p>
                  </a:txBody>
                  <a:tcPr>
                    <a:solidFill>
                      <a:srgbClr val="FFFFFF"/>
                    </a:solidFill>
                  </a:tcPr>
                </a:tc>
              </a:tr>
              <a:tr h="274320">
                <a:tc>
                  <a:txBody>
                    <a:bodyPr/>
                    <a:lstStyle/>
                    <a:p>
                      <a:pPr algn="ctr"/>
                      <a:r>
                        <a:rPr sz="750">
                          <a:latin typeface="Calibri"/>
                        </a:rPr>
                        <a:t>TC-11</a:t>
                      </a:r>
                    </a:p>
                  </a:txBody>
                  <a:tcPr>
                    <a:solidFill>
                      <a:srgbClr val="F5F8FA"/>
                    </a:solidFill>
                  </a:tcPr>
                </a:tc>
                <a:tc>
                  <a:txBody>
                    <a:bodyPr/>
                    <a:lstStyle/>
                    <a:p>
                      <a:pPr algn="l"/>
                      <a:r>
                        <a:rPr sz="750">
                          <a:latin typeface="Calibri"/>
                        </a:rPr>
                        <a:t>System (Blockchain)</a:t>
                      </a:r>
                    </a:p>
                  </a:txBody>
                  <a:tcPr>
                    <a:solidFill>
                      <a:srgbClr val="F5F8FA"/>
                    </a:solidFill>
                  </a:tcPr>
                </a:tc>
                <a:tc>
                  <a:txBody>
                    <a:bodyPr/>
                    <a:lstStyle/>
                    <a:p>
                      <a:pPr algn="l"/>
                      <a:r>
                        <a:rPr sz="750">
                          <a:latin typeface="Calibri"/>
                        </a:rPr>
                        <a:t>Anchor Merkle root to Hardhat</a:t>
                      </a:r>
                    </a:p>
                  </a:txBody>
                  <a:tcPr>
                    <a:solidFill>
                      <a:srgbClr val="F5F8FA"/>
                    </a:solidFill>
                  </a:tcPr>
                </a:tc>
                <a:tc>
                  <a:txBody>
                    <a:bodyPr/>
                    <a:lstStyle/>
                    <a:p>
                      <a:pPr algn="l"/>
                      <a:r>
                        <a:rPr sz="750">
                          <a:latin typeface="Calibri"/>
                        </a:rPr>
                        <a:t>AnchorRegistry.sol commits anchorRoot tx</a:t>
                      </a:r>
                    </a:p>
                  </a:txBody>
                  <a:tcPr>
                    <a:solidFill>
                      <a:srgbClr val="F5F8FA"/>
                    </a:solidFill>
                  </a:tcPr>
                </a:tc>
                <a:tc>
                  <a:txBody>
                    <a:bodyPr/>
                    <a:lstStyle/>
                    <a:p>
                      <a:pPr algn="l"/>
                      <a:r>
                        <a:rPr sz="750">
                          <a:latin typeface="Calibri"/>
                        </a:rPr>
                        <a:t>EVM transaction mined with block receipt</a:t>
                      </a:r>
                    </a:p>
                  </a:txBody>
                  <a:tcPr>
                    <a:solidFill>
                      <a:srgbClr val="F5F8FA"/>
                    </a:solidFill>
                  </a:tcPr>
                </a:tc>
                <a:tc>
                  <a:txBody>
                    <a:bodyPr/>
                    <a:lstStyle/>
                    <a:p>
                      <a:pPr algn="ctr"/>
                      <a:r>
                        <a:rPr sz="750" b="1">
                          <a:solidFill>
                            <a:srgbClr val="27AE60"/>
                          </a:solidFill>
                          <a:latin typeface="Calibri"/>
                        </a:rPr>
                        <a:t>PASS</a:t>
                      </a:r>
                    </a:p>
                  </a:txBody>
                  <a:tcPr>
                    <a:solidFill>
                      <a:srgbClr val="F5F8FA"/>
                    </a:solidFill>
                  </a:tcPr>
                </a:tc>
                <a:tc>
                  <a:txBody>
                    <a:bodyPr/>
                    <a:lstStyle/>
                    <a:p>
                      <a:pPr algn="l"/>
                      <a:r>
                        <a:rPr sz="750">
                          <a:latin typeface="Calibri"/>
                        </a:rPr>
                        <a:t>On-chain immutability</a:t>
                      </a:r>
                    </a:p>
                  </a:txBody>
                  <a:tcPr>
                    <a:solidFill>
                      <a:srgbClr val="F5F8FA"/>
                    </a:solidFill>
                  </a:tcPr>
                </a:tc>
              </a:tr>
              <a:tr h="274320">
                <a:tc>
                  <a:txBody>
                    <a:bodyPr/>
                    <a:lstStyle/>
                    <a:p>
                      <a:pPr algn="ctr"/>
                      <a:r>
                        <a:rPr sz="750">
                          <a:latin typeface="Calibri"/>
                        </a:rPr>
                        <a:t>TC-12</a:t>
                      </a:r>
                    </a:p>
                  </a:txBody>
                  <a:tcPr>
                    <a:solidFill>
                      <a:srgbClr val="FFFFFF"/>
                    </a:solidFill>
                  </a:tcPr>
                </a:tc>
                <a:tc>
                  <a:txBody>
                    <a:bodyPr/>
                    <a:lstStyle/>
                    <a:p>
                      <a:pPr algn="l"/>
                      <a:r>
                        <a:rPr sz="750">
                          <a:latin typeface="Calibri"/>
                        </a:rPr>
                        <a:t>System (Audit)</a:t>
                      </a:r>
                    </a:p>
                  </a:txBody>
                  <a:tcPr>
                    <a:solidFill>
                      <a:srgbClr val="FFFFFF"/>
                    </a:solidFill>
                  </a:tcPr>
                </a:tc>
                <a:tc>
                  <a:txBody>
                    <a:bodyPr/>
                    <a:lstStyle/>
                    <a:p>
                      <a:pPr algn="l"/>
                      <a:r>
                        <a:rPr sz="750">
                          <a:latin typeface="Calibri"/>
                        </a:rPr>
                        <a:t>Mutate 1 byte in anchored audit log</a:t>
                      </a:r>
                    </a:p>
                  </a:txBody>
                  <a:tcPr>
                    <a:solidFill>
                      <a:srgbClr val="FFFFFF"/>
                    </a:solidFill>
                  </a:tcPr>
                </a:tc>
                <a:tc>
                  <a:txBody>
                    <a:bodyPr/>
                    <a:lstStyle/>
                    <a:p>
                      <a:pPr algn="l"/>
                      <a:r>
                        <a:rPr sz="750">
                          <a:latin typeface="Calibri"/>
                        </a:rPr>
                        <a:t>Merkle proof verification must fail</a:t>
                      </a:r>
                    </a:p>
                  </a:txBody>
                  <a:tcPr>
                    <a:solidFill>
                      <a:srgbClr val="FFFFFF"/>
                    </a:solidFill>
                  </a:tcPr>
                </a:tc>
                <a:tc>
                  <a:txBody>
                    <a:bodyPr/>
                    <a:lstStyle/>
                    <a:p>
                      <a:pPr algn="l"/>
                      <a:r>
                        <a:rPr sz="750">
                          <a:latin typeface="Calibri"/>
                        </a:rPr>
                        <a:t>Cryptographic mismatch detected &amp; logged</a:t>
                      </a:r>
                    </a:p>
                  </a:txBody>
                  <a:tcPr>
                    <a:solidFill>
                      <a:srgbClr val="FFFFFF"/>
                    </a:solidFill>
                  </a:tcPr>
                </a:tc>
                <a:tc>
                  <a:txBody>
                    <a:bodyPr/>
                    <a:lstStyle/>
                    <a:p>
                      <a:pPr algn="ctr"/>
                      <a:r>
                        <a:rPr sz="750" b="1">
                          <a:solidFill>
                            <a:srgbClr val="27AE60"/>
                          </a:solidFill>
                          <a:latin typeface="Calibri"/>
                        </a:rPr>
                        <a:t>PASS</a:t>
                      </a:r>
                    </a:p>
                  </a:txBody>
                  <a:tcPr>
                    <a:solidFill>
                      <a:srgbClr val="FFFFFF"/>
                    </a:solidFill>
                  </a:tcPr>
                </a:tc>
                <a:tc>
                  <a:txBody>
                    <a:bodyPr/>
                    <a:lstStyle/>
                    <a:p>
                      <a:pPr algn="l"/>
                      <a:r>
                        <a:rPr sz="750">
                          <a:latin typeface="Calibri"/>
                        </a:rPr>
                        <a:t>Tamper evidence validated</a:t>
                      </a:r>
                    </a:p>
                  </a:txBody>
                  <a:tcPr>
                    <a:solidFill>
                      <a:srgbClr val="FFFFFF"/>
                    </a:solidFill>
                  </a:tcPr>
                </a:tc>
              </a:tr>
            </a:tbl>
          </a:graphicData>
        </a:graphic>
      </p:graphicFrame>
    </p:spTree>
    <p:extLst>
      <p:ext uri="{BB962C8B-B14F-4D97-AF65-F5344CB8AC3E}">
        <p14:creationId xmlns:p14="http://schemas.microsoft.com/office/powerpoint/2010/main" val="21636466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96343" y="822327"/>
            <a:ext cx="2192694" cy="461665"/>
          </a:xfrm>
          <a:prstGeom prst="rect">
            <a:avLst/>
          </a:prstGeom>
        </p:spPr>
        <p:txBody>
          <a:bodyPr wrap="square">
            <a:spAutoFit/>
          </a:bodyPr>
          <a:lstStyle/>
          <a:p>
            <a:pPr lvl="0" algn="ctr">
              <a:buClr>
                <a:srgbClr val="1581AA"/>
              </a:buClr>
              <a:buSzPts val="2800"/>
            </a:pPr>
            <a:r>
              <a:rPr lang="en-US" sz="2400" b="1" dirty="0">
                <a:solidFill>
                  <a:srgbClr val="1581AA"/>
                </a:solidFill>
                <a:latin typeface="Calibri"/>
                <a:ea typeface="Calibri"/>
                <a:cs typeface="Calibri"/>
                <a:sym typeface="Calibri"/>
              </a:rPr>
              <a:t>RESULTS</a:t>
            </a:r>
          </a:p>
        </p:txBody>
      </p:sp>
      <p:sp>
        <p:nvSpPr>
          <p:cNvPr id="3" name="Rectangle 2">
            <a:extLst>
              <a:ext uri="{FF2B5EF4-FFF2-40B4-BE49-F238E27FC236}">
                <a16:creationId xmlns:a16="http://schemas.microsoft.com/office/drawing/2014/main" id="{7744D323-4235-7E9A-5B20-EC3C9CF4A0C4}"/>
              </a:ext>
            </a:extLst>
          </p:cNvPr>
          <p:cNvSpPr/>
          <p:nvPr/>
        </p:nvSpPr>
        <p:spPr>
          <a:xfrm>
            <a:off x="2094721" y="1415530"/>
            <a:ext cx="5941998" cy="369332"/>
          </a:xfrm>
          <a:prstGeom prst="rect">
            <a:avLst/>
          </a:prstGeom>
        </p:spPr>
        <p:txBody>
          <a:bodyPr wrap="square">
            <a:spAutoFit/>
          </a:bodyPr>
          <a:lstStyle/>
          <a:p>
            <a:r>
              <a:rPr lang="en-US" sz="1800" dirty="0">
                <a:solidFill>
                  <a:srgbClr val="FF0000"/>
                </a:solidFill>
              </a:rPr>
              <a:t/>
            </a:r>
            <a:endParaRPr lang="en-US" dirty="0">
              <a:solidFill>
                <a:srgbClr val="FF0000"/>
              </a:solidFill>
            </a:endParaRPr>
          </a:p>
        </p:txBody>
      </p:sp>
      <p:sp>
        <p:nvSpPr>
          <p:cNvPr id="4" name="Google Shape;98;g2eff20282af_0_123">
            <a:extLst>
              <a:ext uri="{FF2B5EF4-FFF2-40B4-BE49-F238E27FC236}">
                <a16:creationId xmlns:a16="http://schemas.microsoft.com/office/drawing/2014/main" id="{A38664D7-FD3A-CA14-36C0-C16BE487AE1A}"/>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5" name="Google Shape;80;p4">
            <a:extLst>
              <a:ext uri="{FF2B5EF4-FFF2-40B4-BE49-F238E27FC236}">
                <a16:creationId xmlns:a16="http://schemas.microsoft.com/office/drawing/2014/main" id="{12CEFE67-1072-5FD3-C46D-01FB218AB6AD}"/>
              </a:ext>
            </a:extLst>
          </p:cNvPr>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b="1" dirty="0">
                <a:solidFill>
                  <a:schemeClr val="bg1"/>
                </a:solidFill>
              </a:rPr>
              <a:t>11</a:t>
            </a:r>
            <a:endParaRPr b="1" dirty="0">
              <a:solidFill>
                <a:schemeClr val="bg1"/>
              </a:solidFill>
            </a:endParaRPr>
          </a:p>
        </p:txBody>
      </p:sp>
      <p:pic>
        <p:nvPicPr>
          <p:cNvPr id="6" name="Picture 5" descr="fig_model_comparison.png"/>
          <p:cNvPicPr>
            <a:picLocks noChangeAspect="1"/>
          </p:cNvPicPr>
          <p:nvPr/>
        </p:nvPicPr>
        <p:blipFill>
          <a:blip r:embed="rId2"/>
          <a:stretch>
            <a:fillRect/>
          </a:stretch>
        </p:blipFill>
        <p:spPr>
          <a:xfrm>
            <a:off x="1645920" y="1097280"/>
            <a:ext cx="3474720" cy="1828800"/>
          </a:xfrm>
          <a:prstGeom prst="rect">
            <a:avLst/>
          </a:prstGeom>
        </p:spPr>
      </p:pic>
      <p:pic>
        <p:nvPicPr>
          <p:cNvPr id="7" name="Picture 6" descr="fig_per_class_f1.png"/>
          <p:cNvPicPr>
            <a:picLocks noChangeAspect="1"/>
          </p:cNvPicPr>
          <p:nvPr/>
        </p:nvPicPr>
        <p:blipFill>
          <a:blip r:embed="rId3"/>
          <a:stretch>
            <a:fillRect/>
          </a:stretch>
        </p:blipFill>
        <p:spPr>
          <a:xfrm>
            <a:off x="5303520" y="1097280"/>
            <a:ext cx="3566160" cy="1828800"/>
          </a:xfrm>
          <a:prstGeom prst="rect">
            <a:avLst/>
          </a:prstGeom>
        </p:spPr>
      </p:pic>
      <p:pic>
        <p:nvPicPr>
          <p:cNvPr id="8" name="Picture 7" descr="fig_merkle_anchoring.png"/>
          <p:cNvPicPr>
            <a:picLocks noChangeAspect="1"/>
          </p:cNvPicPr>
          <p:nvPr/>
        </p:nvPicPr>
        <p:blipFill>
          <a:blip r:embed="rId4"/>
          <a:stretch>
            <a:fillRect/>
          </a:stretch>
        </p:blipFill>
        <p:spPr>
          <a:xfrm>
            <a:off x="1645920" y="3017520"/>
            <a:ext cx="4114800" cy="1828800"/>
          </a:xfrm>
          <a:prstGeom prst="rect">
            <a:avLst/>
          </a:prstGeom>
        </p:spPr>
      </p:pic>
      <p:sp>
        <p:nvSpPr>
          <p:cNvPr id="9" name="TextBox 8"/>
          <p:cNvSpPr txBox="1"/>
          <p:nvPr/>
        </p:nvSpPr>
        <p:spPr>
          <a:xfrm>
            <a:off x="5852160" y="3017520"/>
            <a:ext cx="3017520" cy="1828800"/>
          </a:xfrm>
          <a:prstGeom prst="rect">
            <a:avLst/>
          </a:prstGeom>
          <a:noFill/>
        </p:spPr>
        <p:txBody>
          <a:bodyPr wrap="square">
            <a:spAutoFit/>
          </a:bodyPr>
          <a:lstStyle/>
          <a:p>
            <a:pPr>
              <a:spcBef>
                <a:spcPts val="300"/>
              </a:spcBef>
              <a:spcAft>
                <a:spcPts val="200"/>
              </a:spcAft>
            </a:pPr>
            <a:r>
              <a:rPr sz="1000" b="1">
                <a:solidFill>
                  <a:srgbClr val="102C57"/>
                </a:solidFill>
                <a:latin typeface="Calibri"/>
              </a:rPr>
              <a:t>Empirical Results Summary:</a:t>
            </a:r>
          </a:p>
          <a:p>
            <a:pPr>
              <a:spcBef>
                <a:spcPts val="300"/>
              </a:spcBef>
              <a:spcAft>
                <a:spcPts val="200"/>
              </a:spcAft>
            </a:pPr>
            <a:r>
              <a:rPr sz="850" b="0">
                <a:solidFill>
                  <a:srgbClr val="1E1E1E"/>
                </a:solidFill>
                <a:latin typeface="Calibri"/>
              </a:rPr>
              <a:t>• 89.2% Test Accuracy for XGBoost severity model on 1,034 curated records (vs 66.2% CNN, 48.4% Transformer).</a:t>
            </a:r>
          </a:p>
          <a:p>
            <a:pPr>
              <a:spcBef>
                <a:spcPts val="300"/>
              </a:spcBef>
              <a:spcAft>
                <a:spcPts val="200"/>
              </a:spcAft>
            </a:pPr>
            <a:r>
              <a:rPr sz="850" b="0">
                <a:solidFill>
                  <a:srgbClr val="1E1E1E"/>
                </a:solidFill>
                <a:latin typeface="Calibri"/>
              </a:rPr>
              <a:t>• 175/175 Automated Tests Passing with zero build breaks across frontend, backend, ML and blockchain.</a:t>
            </a:r>
          </a:p>
          <a:p>
            <a:pPr>
              <a:spcBef>
                <a:spcPts val="300"/>
              </a:spcBef>
              <a:spcAft>
                <a:spcPts val="200"/>
              </a:spcAft>
            </a:pPr>
            <a:r>
              <a:rPr sz="850" b="0">
                <a:solidFill>
                  <a:srgbClr val="1E1E1E"/>
                </a:solidFill>
                <a:latin typeface="Calibri"/>
              </a:rPr>
              <a:t>• Sub-800ms end-to-end query latency with zero raw PII disclosure on network layer.</a:t>
            </a:r>
          </a:p>
          <a:p>
            <a:pPr>
              <a:spcBef>
                <a:spcPts val="300"/>
              </a:spcBef>
              <a:spcAft>
                <a:spcPts val="200"/>
              </a:spcAft>
            </a:pPr>
            <a:r>
              <a:rPr sz="850" b="0">
                <a:solidFill>
                  <a:srgbClr val="1E1E1E"/>
                </a:solidFill>
                <a:latin typeface="Calibri"/>
              </a:rPr>
              <a:t>• 100% Tamper Detection on mutated audit log entries via SHA-256 Merkle root verification.</a:t>
            </a:r>
          </a:p>
        </p:txBody>
      </p:sp>
    </p:spTree>
    <p:extLst>
      <p:ext uri="{BB962C8B-B14F-4D97-AF65-F5344CB8AC3E}">
        <p14:creationId xmlns:p14="http://schemas.microsoft.com/office/powerpoint/2010/main" val="19157976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A1A492-DC90-E017-4A7D-4FC71B18C8F2}"/>
              </a:ext>
            </a:extLst>
          </p:cNvPr>
          <p:cNvSpPr/>
          <p:nvPr/>
        </p:nvSpPr>
        <p:spPr>
          <a:xfrm>
            <a:off x="1350169" y="472279"/>
            <a:ext cx="5893594" cy="461665"/>
          </a:xfrm>
          <a:prstGeom prst="rect">
            <a:avLst/>
          </a:prstGeom>
        </p:spPr>
        <p:txBody>
          <a:bodyPr wrap="square">
            <a:spAutoFit/>
          </a:bodyPr>
          <a:lstStyle/>
          <a:p>
            <a:pPr lvl="0" algn="ctr">
              <a:buClr>
                <a:srgbClr val="1581AA"/>
              </a:buClr>
              <a:buSzPts val="2800"/>
            </a:pPr>
            <a:r>
              <a:rPr lang="en-US" sz="2400" b="1" dirty="0">
                <a:solidFill>
                  <a:srgbClr val="1581AA"/>
                </a:solidFill>
                <a:latin typeface="Calibri"/>
                <a:ea typeface="Calibri"/>
                <a:cs typeface="Calibri"/>
                <a:sym typeface="Calibri"/>
              </a:rPr>
              <a:t>CONCLUSION</a:t>
            </a:r>
          </a:p>
        </p:txBody>
      </p:sp>
      <p:sp>
        <p:nvSpPr>
          <p:cNvPr id="2" name="Google Shape;98;g2eff20282af_0_123">
            <a:extLst>
              <a:ext uri="{FF2B5EF4-FFF2-40B4-BE49-F238E27FC236}">
                <a16:creationId xmlns:a16="http://schemas.microsoft.com/office/drawing/2014/main" id="{2058C148-CECC-2E0B-9332-3E051389814A}"/>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4" name="Google Shape;80;p4">
            <a:extLst>
              <a:ext uri="{FF2B5EF4-FFF2-40B4-BE49-F238E27FC236}">
                <a16:creationId xmlns:a16="http://schemas.microsoft.com/office/drawing/2014/main" id="{1428E42C-0D5D-4ED2-D098-AC5B2672F6DD}"/>
              </a:ext>
            </a:extLst>
          </p:cNvPr>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b="1" dirty="0">
                <a:solidFill>
                  <a:schemeClr val="bg1"/>
                </a:solidFill>
              </a:rPr>
              <a:t>12</a:t>
            </a:r>
            <a:endParaRPr b="1" dirty="0">
              <a:solidFill>
                <a:schemeClr val="bg1"/>
              </a:solidFill>
            </a:endParaRPr>
          </a:p>
        </p:txBody>
      </p:sp>
      <p:sp>
        <p:nvSpPr>
          <p:cNvPr id="5" name="TextBox 4"/>
          <p:cNvSpPr txBox="1"/>
          <p:nvPr/>
        </p:nvSpPr>
        <p:spPr>
          <a:xfrm>
            <a:off x="1645920" y="1097280"/>
            <a:ext cx="7132320" cy="3657600"/>
          </a:xfrm>
          <a:prstGeom prst="rect">
            <a:avLst/>
          </a:prstGeom>
          <a:noFill/>
        </p:spPr>
        <p:txBody>
          <a:bodyPr wrap="square">
            <a:spAutoFit/>
          </a:bodyPr>
          <a:lstStyle/>
          <a:p>
            <a:pPr>
              <a:spcBef>
                <a:spcPts val="300"/>
              </a:spcBef>
              <a:spcAft>
                <a:spcPts val="200"/>
              </a:spcAft>
            </a:pPr>
            <a:r>
              <a:rPr sz="1200" b="1">
                <a:solidFill>
                  <a:srgbClr val="102C57"/>
                </a:solidFill>
                <a:latin typeface="Calibri"/>
              </a:rPr>
              <a:t>Summary of Achievements &amp; Technical Contributions:</a:t>
            </a:r>
          </a:p>
          <a:p>
            <a:pPr>
              <a:spcBef>
                <a:spcPts val="300"/>
              </a:spcBef>
              <a:spcAft>
                <a:spcPts val="200"/>
              </a:spcAft>
            </a:pPr>
            <a:r>
              <a:rPr sz="1050" b="0">
                <a:solidFill>
                  <a:srgbClr val="1E1E1E"/>
                </a:solidFill>
                <a:latin typeface="Calibri"/>
              </a:rPr>
              <a:t>• Eliminated Query Surveillance: Engineered a production-ready client-side k-anonymity protocol using WebCrypto SHA-256 prefix hashing, guaranteeing that sensitive search targets are never transmitted in the clear.</a:t>
            </a:r>
          </a:p>
          <a:p>
            <a:pPr>
              <a:spcBef>
                <a:spcPts val="300"/>
              </a:spcBef>
              <a:spcAft>
                <a:spcPts val="200"/>
              </a:spcAft>
            </a:pPr>
            <a:r>
              <a:rPr sz="1050" b="0">
                <a:solidFill>
                  <a:srgbClr val="1E1E1E"/>
                </a:solidFill>
                <a:latin typeface="Calibri"/>
              </a:rPr>
              <a:t>• Multi-Tier Architectural Integration: Successfully harmonized React 19 frontend HUD, Node.js Express 5 API Gateway, Python FastAPI ML services, Android Kotlin SMS gateway, and EVM Hardhat blockchain.</a:t>
            </a:r>
          </a:p>
          <a:p>
            <a:pPr>
              <a:spcBef>
                <a:spcPts val="300"/>
              </a:spcBef>
              <a:spcAft>
                <a:spcPts val="200"/>
              </a:spcAft>
            </a:pPr>
            <a:r>
              <a:rPr sz="1050" b="0">
                <a:solidFill>
                  <a:srgbClr val="1E1E1E"/>
                </a:solidFill>
                <a:latin typeface="Calibri"/>
              </a:rPr>
              <a:t>• Empirical AI Severity Classification: Curated a 1,034-record breach benchmark and established XGBoost as superior to deep learning architectures (89.2% accuracy, 83.2% Macro F1).</a:t>
            </a:r>
          </a:p>
          <a:p>
            <a:pPr>
              <a:spcBef>
                <a:spcPts val="300"/>
              </a:spcBef>
              <a:spcAft>
                <a:spcPts val="200"/>
              </a:spcAft>
            </a:pPr>
            <a:r>
              <a:rPr sz="1050" b="0">
                <a:solidFill>
                  <a:srgbClr val="1E1E1E"/>
                </a:solidFill>
                <a:latin typeface="Calibri"/>
              </a:rPr>
              <a:t>• Cryptographic Audit Immutability: Deployed Merkle tree batching committed to AnchorRegistry.sol smart contracts, delivering verifiable tamper evidence.</a:t>
            </a:r>
          </a:p>
          <a:p>
            <a:pPr>
              <a:spcBef>
                <a:spcPts val="300"/>
              </a:spcBef>
              <a:spcAft>
                <a:spcPts val="200"/>
              </a:spcAft>
            </a:pPr>
            <a:r>
              <a:rPr sz="1050" b="0">
                <a:solidFill>
                  <a:srgbClr val="1E1E1E"/>
                </a:solidFill>
                <a:latin typeface="Calibri"/>
              </a:rPr>
              <a:t>• Rigorous Engineering Quality: Validated end-to-end functionality across 175 automated unit, integration, and security tests with 100% pass rates.</a:t>
            </a:r>
          </a:p>
        </p:txBody>
      </p:sp>
    </p:spTree>
    <p:extLst>
      <p:ext uri="{BB962C8B-B14F-4D97-AF65-F5344CB8AC3E}">
        <p14:creationId xmlns:p14="http://schemas.microsoft.com/office/powerpoint/2010/main" val="38378248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8D546BA-32F1-10DD-D444-3B888F5F9036}"/>
              </a:ext>
            </a:extLst>
          </p:cNvPr>
          <p:cNvSpPr/>
          <p:nvPr/>
        </p:nvSpPr>
        <p:spPr>
          <a:xfrm>
            <a:off x="1350169" y="822327"/>
            <a:ext cx="5893594" cy="461665"/>
          </a:xfrm>
          <a:prstGeom prst="rect">
            <a:avLst/>
          </a:prstGeom>
        </p:spPr>
        <p:txBody>
          <a:bodyPr wrap="square">
            <a:spAutoFit/>
          </a:bodyPr>
          <a:lstStyle/>
          <a:p>
            <a:pPr lvl="0" algn="ctr">
              <a:buClr>
                <a:srgbClr val="1581AA"/>
              </a:buClr>
              <a:buSzPts val="2800"/>
            </a:pPr>
            <a:r>
              <a:rPr lang="en-US" sz="2400" b="1" dirty="0">
                <a:solidFill>
                  <a:srgbClr val="1581AA"/>
                </a:solidFill>
                <a:latin typeface="Calibri"/>
                <a:ea typeface="Calibri"/>
                <a:cs typeface="Calibri"/>
                <a:sym typeface="Calibri"/>
              </a:rPr>
              <a:t>FUTURE ENHANCEMENTS</a:t>
            </a:r>
          </a:p>
        </p:txBody>
      </p:sp>
      <p:sp>
        <p:nvSpPr>
          <p:cNvPr id="2" name="Google Shape;98;g2eff20282af_0_123">
            <a:extLst>
              <a:ext uri="{FF2B5EF4-FFF2-40B4-BE49-F238E27FC236}">
                <a16:creationId xmlns:a16="http://schemas.microsoft.com/office/drawing/2014/main" id="{F8A021D2-3E3E-40D8-EFD1-3A63E235E416}"/>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5" name="Google Shape;80;p4">
            <a:extLst>
              <a:ext uri="{FF2B5EF4-FFF2-40B4-BE49-F238E27FC236}">
                <a16:creationId xmlns:a16="http://schemas.microsoft.com/office/drawing/2014/main" id="{C4AFF4E4-4157-2908-0B92-C2D46E3A1797}"/>
              </a:ext>
            </a:extLst>
          </p:cNvPr>
          <p:cNvSpPr txBox="1">
            <a:spLocks noGrp="1"/>
          </p:cNvSpPr>
          <p:nvPr>
            <p:ph type="sldNum" idx="12"/>
          </p:nvPr>
        </p:nvSpPr>
        <p:spPr>
          <a:xfrm>
            <a:off x="511175" y="4813300"/>
            <a:ext cx="585788" cy="27305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b="1" dirty="0">
                <a:solidFill>
                  <a:schemeClr val="bg1"/>
                </a:solidFill>
              </a:rPr>
              <a:t>13</a:t>
            </a:r>
            <a:endParaRPr b="1" dirty="0">
              <a:solidFill>
                <a:schemeClr val="bg1"/>
              </a:solidFill>
            </a:endParaRPr>
          </a:p>
        </p:txBody>
      </p:sp>
      <p:sp>
        <p:nvSpPr>
          <p:cNvPr id="6" name="TextBox 5"/>
          <p:cNvSpPr txBox="1"/>
          <p:nvPr/>
        </p:nvSpPr>
        <p:spPr>
          <a:xfrm>
            <a:off x="1645920" y="1097280"/>
            <a:ext cx="7132320" cy="3657600"/>
          </a:xfrm>
          <a:prstGeom prst="rect">
            <a:avLst/>
          </a:prstGeom>
          <a:noFill/>
        </p:spPr>
        <p:txBody>
          <a:bodyPr wrap="square">
            <a:spAutoFit/>
          </a:bodyPr>
          <a:lstStyle/>
          <a:p>
            <a:pPr>
              <a:spcBef>
                <a:spcPts val="300"/>
              </a:spcBef>
              <a:spcAft>
                <a:spcPts val="200"/>
              </a:spcAft>
            </a:pPr>
            <a:r>
              <a:rPr sz="1200" b="1">
                <a:solidFill>
                  <a:srgbClr val="102C57"/>
                </a:solidFill>
                <a:latin typeface="Calibri"/>
              </a:rPr>
              <a:t>Future Enhancements &amp; Scalability Roadmap:</a:t>
            </a:r>
          </a:p>
          <a:p>
            <a:pPr>
              <a:spcBef>
                <a:spcPts val="300"/>
              </a:spcBef>
              <a:spcAft>
                <a:spcPts val="200"/>
              </a:spcAft>
            </a:pPr>
            <a:r>
              <a:rPr sz="1050" b="0">
                <a:solidFill>
                  <a:srgbClr val="1E1E1E"/>
                </a:solidFill>
                <a:latin typeface="Calibri"/>
              </a:rPr>
              <a:t>• Public L2 Blockchain Deployment: Transition smart contract anchoring from local Hardhat testnet to Ethereum Layer-2 rollups (Arbitrum, Polygon) for decentralized, low-cost public verification.</a:t>
            </a:r>
          </a:p>
          <a:p>
            <a:pPr>
              <a:spcBef>
                <a:spcPts val="300"/>
              </a:spcBef>
              <a:spcAft>
                <a:spcPts val="200"/>
              </a:spcAft>
            </a:pPr>
            <a:r>
              <a:rPr sz="1050" b="0">
                <a:solidFill>
                  <a:srgbClr val="1E1E1E"/>
                </a:solidFill>
                <a:latin typeface="Calibri"/>
              </a:rPr>
              <a:t>• Zero-Knowledge Proofs (zk-SNARKs): Enhance privacy by implementing zero-knowledge membership proofs, allowing users to verify breach status without downloading suffix buckets.</a:t>
            </a:r>
          </a:p>
          <a:p>
            <a:pPr>
              <a:spcBef>
                <a:spcPts val="300"/>
              </a:spcBef>
              <a:spcAft>
                <a:spcPts val="200"/>
              </a:spcAft>
            </a:pPr>
            <a:r>
              <a:rPr sz="1050" b="0">
                <a:solidFill>
                  <a:srgbClr val="1E1E1E"/>
                </a:solidFill>
                <a:latin typeface="Calibri"/>
              </a:rPr>
              <a:t>• Distributed Tor/I2P Dark Web Scrapers: Expand the OSINT registry with decentralized headless scrapers for hidden onion services and pastebin networks.</a:t>
            </a:r>
          </a:p>
          <a:p>
            <a:pPr>
              <a:spcBef>
                <a:spcPts val="300"/>
              </a:spcBef>
              <a:spcAft>
                <a:spcPts val="200"/>
              </a:spcAft>
            </a:pPr>
            <a:r>
              <a:rPr sz="1050" b="0">
                <a:solidFill>
                  <a:srgbClr val="1E1E1E"/>
                </a:solidFill>
                <a:latin typeface="Calibri"/>
              </a:rPr>
              <a:t>• Automated Enterprise Credential Revocation: Integrate with enterprise Identity Providers (Okta, Azure AD) via SCIM APIs for immediate password revocation upon compromise.</a:t>
            </a:r>
          </a:p>
          <a:p>
            <a:pPr>
              <a:spcBef>
                <a:spcPts val="300"/>
              </a:spcBef>
              <a:spcAft>
                <a:spcPts val="200"/>
              </a:spcAft>
            </a:pPr>
            <a:r>
              <a:rPr sz="1050" b="0">
                <a:solidFill>
                  <a:srgbClr val="1E1E1E"/>
                </a:solidFill>
                <a:latin typeface="Calibri"/>
              </a:rPr>
              <a:t>• Synthetic Data Balancing for Rare Breaches: Apply SMOTE and generative augmentations to expand training support for CRITICAL tier severity records.</a:t>
            </a:r>
          </a:p>
        </p:txBody>
      </p:sp>
    </p:spTree>
    <p:extLst>
      <p:ext uri="{BB962C8B-B14F-4D97-AF65-F5344CB8AC3E}">
        <p14:creationId xmlns:p14="http://schemas.microsoft.com/office/powerpoint/2010/main" val="365595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3F966C2-A388-8C11-6168-569428231348}"/>
              </a:ext>
            </a:extLst>
          </p:cNvPr>
          <p:cNvSpPr>
            <a:spLocks noGrp="1"/>
          </p:cNvSpPr>
          <p:nvPr>
            <p:ph type="sldNum" sz="quarter" idx="12"/>
          </p:nvPr>
        </p:nvSpPr>
        <p:spPr/>
        <p:txBody>
          <a:bodyPr/>
          <a:lstStyle/>
          <a:p>
            <a:fld id="{1FB72222-6C3A-4325-989C-6ACC575FA01E}" type="slidenum">
              <a:rPr lang="en-IN" smtClean="0"/>
              <a:t>14</a:t>
            </a:fld>
            <a:endParaRPr lang="en-IN"/>
          </a:p>
        </p:txBody>
      </p:sp>
      <p:sp>
        <p:nvSpPr>
          <p:cNvPr id="3" name="Google Shape;98;g2eff20282af_0_123">
            <a:extLst>
              <a:ext uri="{FF2B5EF4-FFF2-40B4-BE49-F238E27FC236}">
                <a16:creationId xmlns:a16="http://schemas.microsoft.com/office/drawing/2014/main" id="{ADE58A2F-24A3-1068-3491-FB662339537D}"/>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4" name="Rectangle 3">
            <a:extLst>
              <a:ext uri="{FF2B5EF4-FFF2-40B4-BE49-F238E27FC236}">
                <a16:creationId xmlns:a16="http://schemas.microsoft.com/office/drawing/2014/main" id="{3F62B824-C693-4C9D-F03D-61B7715C1CDE}"/>
              </a:ext>
            </a:extLst>
          </p:cNvPr>
          <p:cNvSpPr/>
          <p:nvPr/>
        </p:nvSpPr>
        <p:spPr>
          <a:xfrm>
            <a:off x="1350169" y="822327"/>
            <a:ext cx="5893594" cy="461665"/>
          </a:xfrm>
          <a:prstGeom prst="rect">
            <a:avLst/>
          </a:prstGeom>
        </p:spPr>
        <p:txBody>
          <a:bodyPr wrap="square">
            <a:spAutoFit/>
          </a:bodyPr>
          <a:lstStyle/>
          <a:p>
            <a:pPr lvl="0" algn="ctr">
              <a:buClr>
                <a:srgbClr val="1581AA"/>
              </a:buClr>
              <a:buSzPts val="2800"/>
            </a:pPr>
            <a:r>
              <a:rPr lang="en-US" sz="2400" b="1" dirty="0">
                <a:solidFill>
                  <a:srgbClr val="1581AA"/>
                </a:solidFill>
                <a:latin typeface="Calibri"/>
                <a:ea typeface="Calibri"/>
                <a:cs typeface="Calibri"/>
                <a:sym typeface="Calibri"/>
              </a:rPr>
              <a:t>RESEARCH PAPER</a:t>
            </a:r>
          </a:p>
        </p:txBody>
      </p:sp>
      <p:sp>
        <p:nvSpPr>
          <p:cNvPr id="5" name="TextBox 4"/>
          <p:cNvSpPr txBox="1"/>
          <p:nvPr/>
        </p:nvSpPr>
        <p:spPr>
          <a:xfrm>
            <a:off x="1645920" y="1188720"/>
            <a:ext cx="7132320" cy="3566160"/>
          </a:xfrm>
          <a:prstGeom prst="rect">
            <a:avLst/>
          </a:prstGeom>
          <a:noFill/>
        </p:spPr>
        <p:txBody>
          <a:bodyPr wrap="square">
            <a:spAutoFit/>
          </a:bodyPr>
          <a:lstStyle/>
          <a:p>
            <a:pPr>
              <a:spcBef>
                <a:spcPts val="300"/>
              </a:spcBef>
              <a:spcAft>
                <a:spcPts val="200"/>
              </a:spcAft>
            </a:pPr>
            <a:r>
              <a:rPr sz="1200" b="1">
                <a:solidFill>
                  <a:srgbClr val="102C57"/>
                </a:solidFill>
                <a:latin typeface="Calibri"/>
              </a:rPr>
              <a:t>Research Publication Outcome (Accepted IEEE Conference Paper):</a:t>
            </a:r>
          </a:p>
          <a:p>
            <a:pPr>
              <a:spcBef>
                <a:spcPts val="300"/>
              </a:spcBef>
              <a:spcAft>
                <a:spcPts val="200"/>
              </a:spcAft>
            </a:pPr>
            <a:r>
              <a:rPr sz="1050" b="1">
                <a:solidFill>
                  <a:srgbClr val="1E1E1E"/>
                </a:solidFill>
                <a:latin typeface="Calibri"/>
              </a:rPr>
              <a:t>• Title: BreachShield: A Privacy-Preserving OSINT Breach Intelligence Platform with k-Anonymous Search and Blockchain-Anchored Audit Logging</a:t>
            </a:r>
          </a:p>
          <a:p>
            <a:pPr>
              <a:spcBef>
                <a:spcPts val="300"/>
              </a:spcBef>
              <a:spcAft>
                <a:spcPts val="200"/>
              </a:spcAft>
            </a:pPr>
            <a:r>
              <a:rPr sz="1000" b="0">
                <a:solidFill>
                  <a:srgbClr val="1E1E1E"/>
                </a:solidFill>
                <a:latin typeface="Calibri"/>
              </a:rPr>
              <a:t>• Authors: Arvind D. H., Girishkumar N. M., Manoj, Premkumar Teli</a:t>
            </a:r>
          </a:p>
          <a:p>
            <a:pPr>
              <a:spcBef>
                <a:spcPts val="300"/>
              </a:spcBef>
              <a:spcAft>
                <a:spcPts val="200"/>
              </a:spcAft>
            </a:pPr>
            <a:r>
              <a:rPr sz="1000" b="0">
                <a:solidFill>
                  <a:srgbClr val="1E1E1E"/>
                </a:solidFill>
                <a:latin typeface="Calibri"/>
              </a:rPr>
              <a:t>• Project Guide: Prof. Sushma T. M. (Assistant Professor, Dept. of ISE)</a:t>
            </a:r>
          </a:p>
          <a:p>
            <a:pPr>
              <a:spcBef>
                <a:spcPts val="300"/>
              </a:spcBef>
              <a:spcAft>
                <a:spcPts val="200"/>
              </a:spcAft>
            </a:pPr>
            <a:r>
              <a:rPr sz="1000" b="1">
                <a:solidFill>
                  <a:srgbClr val="27AE60"/>
                </a:solidFill>
                <a:latin typeface="Calibri"/>
              </a:rPr>
              <a:t>• Status: Accepted for Presentation &amp; Publication in IEEE International Conference</a:t>
            </a:r>
          </a:p>
          <a:p>
            <a:pPr>
              <a:spcBef>
                <a:spcPts val="300"/>
              </a:spcBef>
              <a:spcAft>
                <a:spcPts val="200"/>
              </a:spcAft>
            </a:pPr>
            <a:r>
              <a:rPr sz="1000" b="0">
                <a:solidFill>
                  <a:srgbClr val="1E1E1E"/>
                </a:solidFill>
                <a:latin typeface="Calibri"/>
              </a:rPr>
              <a:t>• Acceptance Proof &amp; Certificate: COE-BIS786 on record in departmental archive.</a:t>
            </a:r>
          </a:p>
          <a:p>
            <a:pPr>
              <a:spcBef>
                <a:spcPts val="500"/>
              </a:spcBef>
              <a:spcAft>
                <a:spcPts val="200"/>
              </a:spcAft>
            </a:pPr>
            <a:r>
              <a:rPr sz="1100" b="1">
                <a:solidFill>
                  <a:srgbClr val="102C57"/>
                </a:solidFill>
                <a:latin typeface="Calibri"/>
              </a:rPr>
              <a:t>Key Research Innovations Published:</a:t>
            </a:r>
          </a:p>
          <a:p>
            <a:pPr>
              <a:spcBef>
                <a:spcPts val="300"/>
              </a:spcBef>
              <a:spcAft>
                <a:spcPts val="200"/>
              </a:spcAft>
            </a:pPr>
            <a:r>
              <a:rPr sz="950" b="0">
                <a:solidFill>
                  <a:srgbClr val="1E1E1E"/>
                </a:solidFill>
                <a:latin typeface="Calibri"/>
              </a:rPr>
              <a:t>1. Formalized client-side k-anonymity protocol avoiding cleartext identifier disclosure in breach searches.</a:t>
            </a:r>
          </a:p>
          <a:p>
            <a:pPr>
              <a:spcBef>
                <a:spcPts val="300"/>
              </a:spcBef>
              <a:spcAft>
                <a:spcPts val="200"/>
              </a:spcAft>
            </a:pPr>
            <a:r>
              <a:rPr sz="950" b="0">
                <a:solidFill>
                  <a:srgbClr val="1E1E1E"/>
                </a:solidFill>
                <a:latin typeface="Calibri"/>
              </a:rPr>
              <a:t>2. Curated 1,034-record empirical breach benchmark comparing XGBoost (89.2%) against 1D-CNN (66.2%) and Transformer (48.4%).</a:t>
            </a:r>
          </a:p>
          <a:p>
            <a:pPr>
              <a:spcBef>
                <a:spcPts val="300"/>
              </a:spcBef>
              <a:spcAft>
                <a:spcPts val="200"/>
              </a:spcAft>
            </a:pPr>
            <a:r>
              <a:rPr sz="950" b="0">
                <a:solidFill>
                  <a:srgbClr val="1E1E1E"/>
                </a:solidFill>
                <a:latin typeface="Calibri"/>
              </a:rPr>
              <a:t>3. Verifiable Merkle-tree EVM smart contract anchoring architecture for immutable cybersecurity audit logs.</a:t>
            </a:r>
          </a:p>
        </p:txBody>
      </p:sp>
    </p:spTree>
    <p:extLst>
      <p:ext uri="{BB962C8B-B14F-4D97-AF65-F5344CB8AC3E}">
        <p14:creationId xmlns:p14="http://schemas.microsoft.com/office/powerpoint/2010/main" val="16611478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6"/>
          <p:cNvSpPr txBox="1">
            <a:spLocks noGrp="1"/>
          </p:cNvSpPr>
          <p:nvPr>
            <p:ph type="body" idx="1"/>
          </p:nvPr>
        </p:nvSpPr>
        <p:spPr>
          <a:xfrm>
            <a:off x="688623" y="255528"/>
            <a:ext cx="7538184" cy="882316"/>
          </a:xfrm>
          <a:prstGeom prst="rect">
            <a:avLst/>
          </a:prstGeom>
          <a:noFill/>
          <a:ln>
            <a:noFill/>
          </a:ln>
        </p:spPr>
        <p:txBody>
          <a:bodyPr spcFirstLastPara="1" wrap="square" lIns="91425" tIns="91425" rIns="91425" bIns="91425" anchor="t" anchorCtr="0">
            <a:noAutofit/>
          </a:bodyPr>
          <a:lstStyle/>
          <a:p>
            <a:pPr marL="203200" lvl="0" indent="0" algn="ctr" rtl="0">
              <a:spcBef>
                <a:spcPts val="0"/>
              </a:spcBef>
              <a:spcAft>
                <a:spcPts val="0"/>
              </a:spcAft>
              <a:buClr>
                <a:srgbClr val="1581AA"/>
              </a:buClr>
              <a:buSzPts val="2800"/>
              <a:buFont typeface="Calibri"/>
              <a:buNone/>
            </a:pPr>
            <a:r>
              <a:rPr lang="en-US" sz="2800" b="1" dirty="0">
                <a:solidFill>
                  <a:srgbClr val="1581AA"/>
                </a:solidFill>
                <a:latin typeface="Calibri"/>
                <a:ea typeface="Calibri"/>
                <a:cs typeface="Calibri"/>
                <a:sym typeface="Calibri"/>
              </a:rPr>
              <a:t>References </a:t>
            </a:r>
            <a:endParaRPr b="1" dirty="0"/>
          </a:p>
        </p:txBody>
      </p:sp>
      <p:sp>
        <p:nvSpPr>
          <p:cNvPr id="97" name="Google Shape;97;p6"/>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US" dirty="0"/>
              <a:t>14</a:t>
            </a:r>
            <a:endParaRPr dirty="0"/>
          </a:p>
        </p:txBody>
      </p:sp>
      <p:sp>
        <p:nvSpPr>
          <p:cNvPr id="2" name="Google Shape;98;g2eff20282af_0_123">
            <a:extLst>
              <a:ext uri="{FF2B5EF4-FFF2-40B4-BE49-F238E27FC236}">
                <a16:creationId xmlns:a16="http://schemas.microsoft.com/office/drawing/2014/main" id="{32D7C325-EC14-BA32-DFA1-774888164E6D}"/>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
        <p:nvSpPr>
          <p:cNvPr id="98" name="TextBox 97"/>
          <p:cNvSpPr txBox="1"/>
          <p:nvPr/>
        </p:nvSpPr>
        <p:spPr>
          <a:xfrm>
            <a:off x="1645920" y="1005840"/>
            <a:ext cx="7132320" cy="3749039"/>
          </a:xfrm>
          <a:prstGeom prst="rect">
            <a:avLst/>
          </a:prstGeom>
          <a:noFill/>
        </p:spPr>
        <p:txBody>
          <a:bodyPr wrap="square">
            <a:spAutoFit/>
          </a:bodyPr>
          <a:lstStyle/>
          <a:p>
            <a:pPr>
              <a:spcBef>
                <a:spcPts val="300"/>
              </a:spcBef>
              <a:spcAft>
                <a:spcPts val="200"/>
              </a:spcAft>
            </a:pPr>
            <a:r>
              <a:rPr sz="1200" b="1">
                <a:solidFill>
                  <a:srgbClr val="102C57"/>
                </a:solidFill>
                <a:latin typeface="Calibri"/>
              </a:rPr>
              <a:t>References:</a:t>
            </a:r>
          </a:p>
          <a:p>
            <a:pPr>
              <a:spcBef>
                <a:spcPts val="100"/>
              </a:spcBef>
              <a:spcAft>
                <a:spcPts val="100"/>
              </a:spcAft>
            </a:pPr>
            <a:r>
              <a:rPr sz="850" b="0">
                <a:solidFill>
                  <a:srgbClr val="1E1E1E"/>
                </a:solidFill>
                <a:latin typeface="Calibri"/>
              </a:rPr>
              <a:t>[1] R. Aljofey et al., "An effective convolutional neural network for phishing detection using character-level URL features," Computers &amp; Security, vol. 116, p. 102674, 2022.</a:t>
            </a:r>
          </a:p>
          <a:p>
            <a:pPr>
              <a:spcBef>
                <a:spcPts val="100"/>
              </a:spcBef>
              <a:spcAft>
                <a:spcPts val="100"/>
              </a:spcAft>
            </a:pPr>
            <a:r>
              <a:rPr sz="850" b="0">
                <a:solidFill>
                  <a:srgbClr val="1E1E1E"/>
                </a:solidFill>
                <a:latin typeface="Calibri"/>
              </a:rPr>
              <a:t>[2] O. K. Sahingoz et al., "Machine learning based phishing detection from URLs," Expert Systems with Applications, vol. 117, pp. 345–357, 2019.</a:t>
            </a:r>
          </a:p>
          <a:p>
            <a:pPr>
              <a:spcBef>
                <a:spcPts val="100"/>
              </a:spcBef>
              <a:spcAft>
                <a:spcPts val="100"/>
              </a:spcAft>
            </a:pPr>
            <a:r>
              <a:rPr sz="850" b="0">
                <a:solidFill>
                  <a:srgbClr val="1E1E1E"/>
                </a:solidFill>
                <a:latin typeface="Calibri"/>
              </a:rPr>
              <a:t>[3] F. Alsubaei et al., "A hybrid deep learning-based framework for phishing URL detection with SMOTE," IEEE Access, vol. 10, pp. 88124–88137, 2022.</a:t>
            </a:r>
          </a:p>
          <a:p>
            <a:pPr>
              <a:spcBef>
                <a:spcPts val="100"/>
              </a:spcBef>
              <a:spcAft>
                <a:spcPts val="100"/>
              </a:spcAft>
            </a:pPr>
            <a:r>
              <a:rPr sz="850" b="0">
                <a:solidFill>
                  <a:srgbClr val="1E1E1E"/>
                </a:solidFill>
                <a:latin typeface="Calibri"/>
              </a:rPr>
              <a:t>[4] M. Pavani et al., "Explainable AI for malicious URL detection using SHAP and LIME," IEEE Trans. Information Forensics and Security, 2023.</a:t>
            </a:r>
          </a:p>
          <a:p>
            <a:pPr>
              <a:spcBef>
                <a:spcPts val="100"/>
              </a:spcBef>
              <a:spcAft>
                <a:spcPts val="100"/>
              </a:spcAft>
            </a:pPr>
            <a:r>
              <a:rPr sz="850" b="0">
                <a:solidFill>
                  <a:srgbClr val="1E1E1E"/>
                </a:solidFill>
                <a:latin typeface="Calibri"/>
              </a:rPr>
              <a:t>[5] NIST Special Publication 800-63B, "Digital Identity Guidelines: Authentication and Lifecycle Management," National Institute of Standards and Technology, 2020.</a:t>
            </a:r>
          </a:p>
          <a:p>
            <a:pPr>
              <a:spcBef>
                <a:spcPts val="100"/>
              </a:spcBef>
              <a:spcAft>
                <a:spcPts val="100"/>
              </a:spcAft>
            </a:pPr>
            <a:r>
              <a:rPr sz="850" b="0">
                <a:solidFill>
                  <a:srgbClr val="1E1E1E"/>
                </a:solidFill>
                <a:latin typeface="Calibri"/>
              </a:rPr>
              <a:t>[6] M. Kuhn et al., "Systematic evaluation of dark-web monitoring methodology," ACM Computing Surveys, vol. 55, no. 4, pp. 1–35, 2023.</a:t>
            </a:r>
          </a:p>
          <a:p>
            <a:pPr>
              <a:spcBef>
                <a:spcPts val="100"/>
              </a:spcBef>
              <a:spcAft>
                <a:spcPts val="100"/>
              </a:spcAft>
            </a:pPr>
            <a:r>
              <a:rPr sz="850" b="0">
                <a:solidFill>
                  <a:srgbClr val="1E1E1E"/>
                </a:solidFill>
                <a:latin typeface="Calibri"/>
              </a:rPr>
              <a:t>[7] IBM Security, "Cost of a Data Breach Report 2024," IBM Corporation, Tech. Rep., 2024.</a:t>
            </a:r>
          </a:p>
          <a:p>
            <a:pPr>
              <a:spcBef>
                <a:spcPts val="100"/>
              </a:spcBef>
              <a:spcAft>
                <a:spcPts val="100"/>
              </a:spcAft>
            </a:pPr>
            <a:r>
              <a:rPr sz="850" b="0">
                <a:solidFill>
                  <a:srgbClr val="1E1E1E"/>
                </a:solidFill>
                <a:latin typeface="Calibri"/>
              </a:rPr>
              <a:t>[8] T. Chen and C. Guestrin, "XGBoost: A scalable tree boosting system," in Proc. 22nd ACM SIGKDD, 2016, pp. 785–794.</a:t>
            </a:r>
          </a:p>
        </p:txBody>
      </p:sp>
    </p:spTree>
    <p:extLst>
      <p:ext uri="{BB962C8B-B14F-4D97-AF65-F5344CB8AC3E}">
        <p14:creationId xmlns:p14="http://schemas.microsoft.com/office/powerpoint/2010/main" val="4283558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12" descr="Icon&#10;&#10;Description automatically generated"/>
          <p:cNvPicPr preferRelativeResize="0"/>
          <p:nvPr/>
        </p:nvPicPr>
        <p:blipFill rotWithShape="1">
          <a:blip r:embed="rId3">
            <a:alphaModFix/>
          </a:blip>
          <a:srcRect/>
          <a:stretch/>
        </p:blipFill>
        <p:spPr>
          <a:xfrm>
            <a:off x="2409695" y="730424"/>
            <a:ext cx="3612192" cy="3212926"/>
          </a:xfrm>
          <a:prstGeom prst="rect">
            <a:avLst/>
          </a:prstGeom>
          <a:noFill/>
          <a:ln>
            <a:noFill/>
          </a:ln>
        </p:spPr>
      </p:pic>
      <p:sp>
        <p:nvSpPr>
          <p:cNvPr id="153" name="Google Shape;153;p12"/>
          <p:cNvSpPr txBox="1"/>
          <p:nvPr/>
        </p:nvSpPr>
        <p:spPr>
          <a:xfrm>
            <a:off x="564062" y="4740710"/>
            <a:ext cx="574632"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i="1" dirty="0">
                <a:solidFill>
                  <a:schemeClr val="lt1"/>
                </a:solidFill>
                <a:latin typeface="Century Gothic"/>
                <a:ea typeface="Century Gothic"/>
                <a:cs typeface="Century Gothic"/>
                <a:sym typeface="Century Gothic"/>
              </a:rPr>
              <a:t>15</a:t>
            </a:r>
            <a:endParaRPr sz="2000" i="1" dirty="0">
              <a:solidFill>
                <a:schemeClr val="lt1"/>
              </a:solidFill>
              <a:latin typeface="Century Gothic"/>
              <a:ea typeface="Century Gothic"/>
              <a:cs typeface="Century Gothic"/>
              <a:sym typeface="Century Gothic"/>
            </a:endParaRPr>
          </a:p>
        </p:txBody>
      </p:sp>
      <p:sp>
        <p:nvSpPr>
          <p:cNvPr id="2" name="Google Shape;98;g2eff20282af_0_123">
            <a:extLst>
              <a:ext uri="{FF2B5EF4-FFF2-40B4-BE49-F238E27FC236}">
                <a16:creationId xmlns:a16="http://schemas.microsoft.com/office/drawing/2014/main" id="{7F4EB0A8-1808-F7F2-F796-174F5E11C465}"/>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3"/>
          <p:cNvSpPr txBox="1"/>
          <p:nvPr/>
        </p:nvSpPr>
        <p:spPr>
          <a:xfrm>
            <a:off x="650081" y="4743450"/>
            <a:ext cx="642938"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i="1" dirty="0">
                <a:solidFill>
                  <a:schemeClr val="lt1"/>
                </a:solidFill>
                <a:latin typeface="Century Gothic"/>
                <a:ea typeface="Century Gothic"/>
                <a:cs typeface="Century Gothic"/>
                <a:sym typeface="Century Gothic"/>
              </a:rPr>
              <a:t>16</a:t>
            </a:r>
            <a:endParaRPr sz="2000" b="1" i="1" dirty="0">
              <a:solidFill>
                <a:schemeClr val="lt1"/>
              </a:solidFill>
              <a:latin typeface="Century Gothic"/>
              <a:ea typeface="Century Gothic"/>
              <a:cs typeface="Century Gothic"/>
              <a:sym typeface="Century Gothic"/>
            </a:endParaRPr>
          </a:p>
        </p:txBody>
      </p:sp>
      <p:sp>
        <p:nvSpPr>
          <p:cNvPr id="159" name="Google Shape;159;p13"/>
          <p:cNvSpPr txBox="1"/>
          <p:nvPr/>
        </p:nvSpPr>
        <p:spPr>
          <a:xfrm>
            <a:off x="3200400" y="2343150"/>
            <a:ext cx="27432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pic>
        <p:nvPicPr>
          <p:cNvPr id="160" name="Google Shape;160;p13" descr="A picture containing text, stationary, writing implement, pen&#10;&#10;Description automatically generated"/>
          <p:cNvPicPr preferRelativeResize="0"/>
          <p:nvPr/>
        </p:nvPicPr>
        <p:blipFill rotWithShape="1">
          <a:blip r:embed="rId3">
            <a:alphaModFix/>
          </a:blip>
          <a:srcRect/>
          <a:stretch/>
        </p:blipFill>
        <p:spPr>
          <a:xfrm>
            <a:off x="2001982" y="1136073"/>
            <a:ext cx="6147176" cy="3241648"/>
          </a:xfrm>
          <a:prstGeom prst="rect">
            <a:avLst/>
          </a:prstGeom>
          <a:noFill/>
          <a:ln>
            <a:noFill/>
          </a:ln>
        </p:spPr>
      </p:pic>
      <p:sp>
        <p:nvSpPr>
          <p:cNvPr id="2" name="Google Shape;98;g2eff20282af_0_123">
            <a:extLst>
              <a:ext uri="{FF2B5EF4-FFF2-40B4-BE49-F238E27FC236}">
                <a16:creationId xmlns:a16="http://schemas.microsoft.com/office/drawing/2014/main" id="{DA73314A-428B-36EA-2C38-BC6CD16A4E61}"/>
              </a:ext>
            </a:extLst>
          </p:cNvPr>
          <p:cNvSpPr txBox="1"/>
          <p:nvPr/>
        </p:nvSpPr>
        <p:spPr>
          <a:xfrm>
            <a:off x="180714" y="2784670"/>
            <a:ext cx="1379100" cy="307800"/>
          </a:xfrm>
          <a:prstGeom prst="rect">
            <a:avLst/>
          </a:prstGeom>
          <a:solidFill>
            <a:srgbClr val="43434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FFFF"/>
                </a:solidFill>
                <a:latin typeface="Times New Roman"/>
                <a:ea typeface="Times New Roman"/>
                <a:cs typeface="Times New Roman"/>
                <a:sym typeface="Times New Roman"/>
              </a:rPr>
              <a:t>Dept. of ISE</a:t>
            </a:r>
            <a:endParaRPr sz="1400" b="0" i="0" u="none" strike="noStrike" cap="none" dirty="0">
              <a:solidFill>
                <a:srgbClr val="FFFFFF"/>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Acharya-IS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onts">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harya-ISE" id="{DB94E7EE-DE31-4F29-AA83-14CD25B5A065}" vid="{1A5B67FE-FD36-4B9E-AA94-BCA7123422E5}"/>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Acharya-ISE</Template>
  <TotalTime>1197</TotalTime>
  <Words>436</Words>
  <Application>Microsoft Office PowerPoint</Application>
  <PresentationFormat>On-screen Show (16:9)</PresentationFormat>
  <Paragraphs>112</Paragraphs>
  <Slides>17</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Noto Sans Symbols</vt:lpstr>
      <vt:lpstr>Century Gothic</vt:lpstr>
      <vt:lpstr>Arial</vt:lpstr>
      <vt:lpstr>Times New Roman</vt:lpstr>
      <vt:lpstr>Calibri</vt:lpstr>
      <vt:lpstr>Acharya-ISE</vt:lpstr>
      <vt:lpstr>TITLE:</vt:lpstr>
      <vt:lpstr>Agenda</vt:lpstr>
      <vt:lpstr>Abstract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&lt;write your project title&gt;</dc:title>
  <dc:creator>Dr. Pankaj Kumar</dc:creator>
  <cp:lastModifiedBy>pankaj kumar</cp:lastModifiedBy>
  <cp:revision>44</cp:revision>
  <dcterms:modified xsi:type="dcterms:W3CDTF">2026-10-07T14:27:01Z</dcterms:modified>
</cp:coreProperties>
</file>