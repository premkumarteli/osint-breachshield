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1" r:id="rId1"/>
  </p:sldMasterIdLst>
  <p:notesMasterIdLst>
    <p:notesMasterId r:id="rId19"/>
  </p:notesMasterIdLst>
  <p:sldIdLst>
    <p:sldId id="256" r:id="rId2"/>
    <p:sldId id="257" r:id="rId3"/>
    <p:sldId id="258" r:id="rId4"/>
    <p:sldId id="271" r:id="rId5"/>
    <p:sldId id="259" r:id="rId6"/>
    <p:sldId id="277" r:id="rId7"/>
    <p:sldId id="260" r:id="rId8"/>
    <p:sldId id="261" r:id="rId9"/>
    <p:sldId id="280" r:id="rId10"/>
    <p:sldId id="281" r:id="rId11"/>
    <p:sldId id="284" r:id="rId12"/>
    <p:sldId id="282" r:id="rId13"/>
    <p:sldId id="283" r:id="rId14"/>
    <p:sldId id="285" r:id="rId15"/>
    <p:sldId id="270" r:id="rId16"/>
    <p:sldId id="267" r:id="rId17"/>
    <p:sldId id="268" r:id="rId18"/>
  </p:sldIdLst>
  <p:sldSz cx="9144000" cy="5143500" type="screen16x9"/>
  <p:notesSz cx="6858000" cy="9144000"/>
  <p:embeddedFontLst>
    <p:embeddedFont>
      <p:font typeface="Century Gothic" panose="020B0502020202020204" pitchFamily="34" charset="0"/>
      <p:regular r:id="rId20"/>
      <p:bold r:id="rId21"/>
      <p:italic r:id="rId22"/>
      <p:boldItalic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8" roundtripDataSignature="AMtx7mg9wjYg4pY/HyKhMt35MO99UX9lQ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3" d="100"/>
          <a:sy n="133" d="100"/>
        </p:scale>
        <p:origin x="984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font" Target="fonts/font1.fntdata"/><Relationship Id="rId21" Type="http://schemas.openxmlformats.org/officeDocument/2006/relationships/font" Target="fonts/font2.fntdata"/><Relationship Id="rId22" Type="http://schemas.openxmlformats.org/officeDocument/2006/relationships/font" Target="fonts/font3.fntdata"/><Relationship Id="rId23" Type="http://schemas.openxmlformats.org/officeDocument/2006/relationships/font" Target="fonts/font4.fntdata"/><Relationship Id="rId28" Type="http://customschemas.google.com/relationships/presentationmetadata" Target="metadata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74536244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31905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C7F4C-843C-B31F-6984-B15876E12A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90B0EC-2550-1C96-9092-C533F387D2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06953508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6D170-920A-2D4E-2C5D-328923F85D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5547E0-1F1B-23B9-C03F-0953AB5DDE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AEDC67-AE64-C63B-B7CE-4AA8D54912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6E849F-29B7-899D-3820-8F86BD90A5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B07280-235B-4ED5-298E-91AFFDFDA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1FB72222-6C3A-4325-989C-6ACC575FA01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8913215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FC0DB-E068-DF61-DDA8-E88C33A09F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E3A397-B2B1-D55D-AC35-46099923AC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1DC97-FC27-881A-C302-43DFC47F3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878D8F-7705-7C40-8876-BC621971C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452762-5F64-A15D-A7CC-0FB472C84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1FB72222-6C3A-4325-989C-6ACC575FA01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2624110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FA8F8-4C93-6C45-FFA3-0CE44CA9C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4C966F-149B-29C8-59D7-567514BE96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2363F-78F5-7B35-F066-AF272E2DA6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062309-E80B-985C-BDDA-03ACE6AC594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D5085E-2B82-6149-4E7B-AB94F3EEE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93A52D-B2C3-0693-0D97-E8700E8CA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1FB72222-6C3A-4325-989C-6ACC575FA01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26590340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C9BE3-B161-CDE6-0FBC-9B24B6F66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F76472-6036-0C33-802A-E101A562F3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DE027D-9414-AE87-0606-47B2743834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C5607B-F5B0-2140-62B5-38049D226F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8897D3-EAF3-1D5C-44D4-BE2D949753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A53B1B-C430-7121-F572-605CD864C7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126D1BD-5319-D9BE-0D46-939882A34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9A6116-76D8-1059-3F84-D8E57254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1FB72222-6C3A-4325-989C-6ACC575FA01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1972243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FB6AF-9B37-ACB1-2D61-FC38E6A7D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21F720-D105-DE9E-909B-4B47F4CCBD1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C88AEE-19B7-BD80-0B69-68BF3A77EC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834046-CE68-8199-39C8-252798D71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1FB72222-6C3A-4325-989C-6ACC575FA01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892086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6C08FC-5528-A37F-FFA5-BCF571AF23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CEC528-3997-C8C5-2D66-179D57880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7F1F73-0C07-C38B-22E3-7BE16BCF8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1FB72222-6C3A-4325-989C-6ACC575FA01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889074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ED29-4B17-1B9D-84F8-DC8B063DA9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6F5440-402A-D481-EC74-766C6CCED5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7797F4-7184-32C9-88E7-4D8CC26218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5934A6-0699-7C79-008F-5EB7EA19B8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8AE608-3D8E-D8E2-BCE3-7F4E8462B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45A092-B516-BAA9-9210-C87D41E7A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1FB72222-6C3A-4325-989C-6ACC575FA01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52193234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51674-2773-85B9-5D13-675502CD0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E6DBA7-288B-BB8F-6F19-2C72232DBD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BBEB4E-A422-51B8-5DD6-793D4AB09F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AA1595-DD64-C3D9-52C7-00EDCF340D1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29E52C-6BAC-58A5-711E-C06A6B137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C40756-A897-E5AA-D34C-CC3F5F5E3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1FB72222-6C3A-4325-989C-6ACC575FA01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2584318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F30B52-4AF4-56B9-F5A4-F6A4DBBF7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469D48-FE6E-F35E-6A39-B7CC694B22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01AA4F-6C0D-14ED-49FE-30E8B81A5E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0EC5AA-7C76-2051-AD8F-A563A0D53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8ABAB0-99F8-7686-147F-47249B3E4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1FB72222-6C3A-4325-989C-6ACC575FA01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0216340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783786-01A4-B97D-B4F8-9273FBC8BA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29461E9-48A1-C875-9B58-6A9C57793D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EB4078-23E0-090E-90DC-0E02B8A9AB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3A882A-0914-E019-7EBA-F983A19A5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DED0D4-35D8-4EF4-8158-517A66580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1FB72222-6C3A-4325-989C-6ACC575FA01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892760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1_Title Slide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5"/>
          <p:cNvSpPr>
            <a:spLocks noGrp="1"/>
          </p:cNvSpPr>
          <p:nvPr>
            <p:ph type="pic" idx="2"/>
          </p:nvPr>
        </p:nvSpPr>
        <p:spPr>
          <a:xfrm>
            <a:off x="3429000" y="971550"/>
            <a:ext cx="2362200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–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–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»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3" name="Google Shape;43;p15"/>
          <p:cNvSpPr txBox="1">
            <a:spLocks noGrp="1"/>
          </p:cNvSpPr>
          <p:nvPr>
            <p:ph type="body" idx="1"/>
          </p:nvPr>
        </p:nvSpPr>
        <p:spPr>
          <a:xfrm>
            <a:off x="381000" y="57150"/>
            <a:ext cx="41910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marL="914400" lvl="1" indent="-34290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5"/>
          <p:cNvSpPr txBox="1">
            <a:spLocks noGrp="1"/>
          </p:cNvSpPr>
          <p:nvPr>
            <p:ph type="body" idx="3"/>
          </p:nvPr>
        </p:nvSpPr>
        <p:spPr>
          <a:xfrm>
            <a:off x="4800600" y="57150"/>
            <a:ext cx="32766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marL="914400" lvl="1" indent="-34290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5"/>
          <p:cNvSpPr txBox="1">
            <a:spLocks noGrp="1"/>
          </p:cNvSpPr>
          <p:nvPr>
            <p:ph type="dt" idx="10"/>
          </p:nvPr>
        </p:nvSpPr>
        <p:spPr>
          <a:xfrm>
            <a:off x="7772400" y="4602163"/>
            <a:ext cx="766763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5"/>
          <p:cNvSpPr txBox="1">
            <a:spLocks noGrp="1"/>
          </p:cNvSpPr>
          <p:nvPr>
            <p:ph type="ftr" idx="11"/>
          </p:nvPr>
        </p:nvSpPr>
        <p:spPr>
          <a:xfrm>
            <a:off x="1943100" y="4602163"/>
            <a:ext cx="5716588" cy="273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5"/>
          <p:cNvSpPr txBox="1">
            <a:spLocks noGrp="1"/>
          </p:cNvSpPr>
          <p:nvPr>
            <p:ph type="sldNum" idx="12"/>
          </p:nvPr>
        </p:nvSpPr>
        <p:spPr>
          <a:xfrm>
            <a:off x="511175" y="4813300"/>
            <a:ext cx="585788" cy="273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2000" b="1" i="1" u="none" strike="noStrike" cap="none">
                <a:solidFill>
                  <a:srgbClr val="FE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2000" b="1" i="1" u="none" strike="noStrike" cap="none">
                <a:solidFill>
                  <a:srgbClr val="FE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2000" b="1" i="1" u="none" strike="noStrike" cap="none">
                <a:solidFill>
                  <a:srgbClr val="FE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2000" b="1" i="1" u="none" strike="noStrike" cap="none">
                <a:solidFill>
                  <a:srgbClr val="FE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2000" b="1" i="1" u="none" strike="noStrike" cap="none">
                <a:solidFill>
                  <a:srgbClr val="FE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2000" b="1" i="1" u="none" strike="noStrike" cap="none">
                <a:solidFill>
                  <a:srgbClr val="FE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2000" b="1" i="1" u="none" strike="noStrike" cap="none">
                <a:solidFill>
                  <a:srgbClr val="FE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2000" b="1" i="1" u="none" strike="noStrike" cap="none">
                <a:solidFill>
                  <a:srgbClr val="FE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2000" b="1" i="1" u="none" strike="noStrike" cap="none">
                <a:solidFill>
                  <a:srgbClr val="FE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</a:t>
            </a:r>
            <a:endParaRPr sz="1400" b="0" i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118450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Relationship Id="rId15" Type="http://schemas.openxmlformats.org/officeDocument/2006/relationships/image" Target="../media/image2.png"/><Relationship Id="rId16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6876A83-E534-8A8B-1483-F5618D6B4F6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853738" cy="51435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ACC8704-CF87-8F5E-4EF2-FEAE97859559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36" y="1182082"/>
            <a:ext cx="1658405" cy="230057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8474A41-4E7C-3B2B-B301-C6B54F554166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2040" y="0"/>
            <a:ext cx="19327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0332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98;g2eff20282af_0_123">
            <a:extLst>
              <a:ext uri="{FF2B5EF4-FFF2-40B4-BE49-F238E27FC236}">
                <a16:creationId xmlns:a16="http://schemas.microsoft.com/office/drawing/2014/main" id="{25D59EBE-BC85-3287-B29E-CC3CCF5DDE14}"/>
              </a:ext>
            </a:extLst>
          </p:cNvPr>
          <p:cNvSpPr txBox="1"/>
          <p:nvPr/>
        </p:nvSpPr>
        <p:spPr>
          <a:xfrm>
            <a:off x="180714" y="2784670"/>
            <a:ext cx="1379100" cy="3078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Dept. of ISE</a:t>
            </a:r>
            <a:endParaRPr sz="1400" b="0" i="0" u="none" strike="noStrike" cap="none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148840" y="109728"/>
            <a:ext cx="6400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990000"/>
                </a:solidFill>
                <a:latin typeface="Calibri"/>
              </a:rPr>
              <a:t>Major Project Phase-II Presentation (2026-2027)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731520"/>
            <a:ext cx="64008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02C57"/>
                </a:solidFill>
                <a:latin typeface="Calibri"/>
              </a:rPr>
              <a:t>BreachShield: A Privacy-Preserving OSINT Breach Intelligence Platform with k-Anonymous Search and Blockchain-Anchored Audit Logging</a:t>
            </a:r>
          </a:p>
          <a:p>
            <a:pPr algn="ctr">
              <a:spcBef>
                <a:spcPts val="400"/>
              </a:spcBef>
            </a:pPr>
            <a:r>
              <a:rPr sz="1200" b="1">
                <a:solidFill>
                  <a:srgbClr val="78288C"/>
                </a:solidFill>
                <a:latin typeface="Calibri"/>
              </a:rPr>
              <a:t>Subject Code: BIS786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228600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E1E1E"/>
                </a:solidFill>
                <a:latin typeface="Calibri"/>
              </a:rPr>
              <a:t>Under the Guidance of:
</a:t>
            </a:r>
            <a:r>
              <a:rPr sz="1300" b="1">
                <a:solidFill>
                  <a:srgbClr val="102C57"/>
                </a:solidFill>
                <a:latin typeface="Calibri"/>
              </a:rPr>
              <a:t>Prof. SUSHMA T. M.
</a:t>
            </a:r>
            <a:r>
              <a:rPr sz="1000">
                <a:solidFill>
                  <a:srgbClr val="1E1E1E"/>
                </a:solidFill>
                <a:latin typeface="Calibri"/>
              </a:rPr>
              <a:t>Assistant Professor
Dept. of Information Science &amp; Engg.
Acharya Institute of Technology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0" y="228600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E1E1E"/>
                </a:solidFill>
                <a:latin typeface="Calibri"/>
              </a:rPr>
              <a:t>Project Team Members:
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050" b="1">
                <a:latin typeface="Calibri"/>
              </a:rPr>
              <a:t>• Arvind D H</a:t>
            </a:r>
            <a:r>
              <a:rPr sz="1000">
                <a:solidFill>
                  <a:srgbClr val="1E1E1E"/>
                </a:solidFill>
                <a:latin typeface="Calibri"/>
              </a:rPr>
              <a:t>   (1AY24IS400)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050" b="1">
                <a:latin typeface="Calibri"/>
              </a:rPr>
              <a:t>• Girishkumar N M</a:t>
            </a:r>
            <a:r>
              <a:rPr sz="1000">
                <a:solidFill>
                  <a:srgbClr val="1E1E1E"/>
                </a:solidFill>
                <a:latin typeface="Calibri"/>
              </a:rPr>
              <a:t>   (1AY24IS404)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050" b="1">
                <a:latin typeface="Calibri"/>
              </a:rPr>
              <a:t>• Manoj</a:t>
            </a:r>
            <a:r>
              <a:rPr sz="1000">
                <a:solidFill>
                  <a:srgbClr val="1E1E1E"/>
                </a:solidFill>
                <a:latin typeface="Calibri"/>
              </a:rPr>
              <a:t>   (1AY24IS406)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050" b="1">
                <a:latin typeface="Calibri"/>
              </a:rPr>
              <a:t>• Premkumar Teli</a:t>
            </a:r>
            <a:r>
              <a:rPr sz="1000">
                <a:solidFill>
                  <a:srgbClr val="1E1E1E"/>
                </a:solidFill>
                <a:latin typeface="Calibri"/>
              </a:rPr>
              <a:t>   (1AY24IS407)</a:t>
            </a: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"/>
          <p:cNvSpPr txBox="1">
            <a:spLocks noGrp="1"/>
          </p:cNvSpPr>
          <p:nvPr>
            <p:ph type="ctrTitle" idx="4294967295"/>
          </p:nvPr>
        </p:nvSpPr>
        <p:spPr>
          <a:xfrm>
            <a:off x="0" y="61913"/>
            <a:ext cx="7766050" cy="301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>
                <a:solidFill>
                  <a:srgbClr val="1581AA"/>
                </a:solidFill>
                <a:latin typeface="Calibri"/>
                <a:ea typeface="Calibri"/>
                <a:cs typeface="Calibri"/>
                <a:sym typeface="Calibri"/>
              </a:rPr>
              <a:t>Agenda</a:t>
            </a:r>
            <a:endParaRPr sz="1100" b="1" dirty="0"/>
          </a:p>
        </p:txBody>
      </p:sp>
      <p:sp>
        <p:nvSpPr>
          <p:cNvPr id="2" name="Google Shape;98;g2eff20282af_0_123">
            <a:extLst>
              <a:ext uri="{FF2B5EF4-FFF2-40B4-BE49-F238E27FC236}">
                <a16:creationId xmlns:a16="http://schemas.microsoft.com/office/drawing/2014/main" id="{7360C5C6-BDAD-D446-C1E8-2502C8F2F53E}"/>
              </a:ext>
            </a:extLst>
          </p:cNvPr>
          <p:cNvSpPr txBox="1"/>
          <p:nvPr/>
        </p:nvSpPr>
        <p:spPr>
          <a:xfrm>
            <a:off x="201496" y="2805452"/>
            <a:ext cx="1379100" cy="3078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Dept. of ISE</a:t>
            </a:r>
            <a:endParaRPr sz="1400" b="0" i="0" u="none" strike="noStrike" cap="none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148840" y="777240"/>
            <a:ext cx="640080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2C57"/>
                </a:solidFill>
                <a:latin typeface="Calibri"/>
              </a:rPr>
              <a:t>1. Abstract &amp; Motivation: </a:t>
            </a:r>
            <a:r>
              <a:rPr sz="900" b="0">
                <a:solidFill>
                  <a:srgbClr val="1E1E1E"/>
                </a:solidFill>
                <a:latin typeface="Calibri"/>
              </a:rPr>
              <a:t>Overview of privacy dilemma in breach detection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2C57"/>
                </a:solidFill>
                <a:latin typeface="Calibri"/>
              </a:rPr>
              <a:t>2. Introduction &amp; Background: </a:t>
            </a:r>
            <a:r>
              <a:rPr sz="900" b="0">
                <a:solidFill>
                  <a:srgbClr val="1E1E1E"/>
                </a:solidFill>
                <a:latin typeface="Calibri"/>
              </a:rPr>
              <a:t>Escalating breach costs and cleartext query vulnerability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2C57"/>
                </a:solidFill>
                <a:latin typeface="Calibri"/>
              </a:rPr>
              <a:t>3. Problem Statement: </a:t>
            </a:r>
            <a:r>
              <a:rPr sz="900" b="0">
                <a:solidFill>
                  <a:srgbClr val="1E1E1E"/>
                </a:solidFill>
                <a:latin typeface="Calibri"/>
              </a:rPr>
              <a:t>Structural surveillance flaws, fragmented feeds, mutable logs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2C57"/>
                </a:solidFill>
                <a:latin typeface="Calibri"/>
              </a:rPr>
              <a:t>4. Requirement Specifications: </a:t>
            </a:r>
            <a:r>
              <a:rPr sz="900" b="0">
                <a:solidFill>
                  <a:srgbClr val="1E1E1E"/>
                </a:solidFill>
                <a:latin typeface="Calibri"/>
              </a:rPr>
              <a:t>Functional, Non-Functional, Hardware &amp; Software stacks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2C57"/>
                </a:solidFill>
                <a:latin typeface="Calibri"/>
              </a:rPr>
              <a:t>5. System Architecture &amp; Design: </a:t>
            </a:r>
            <a:r>
              <a:rPr sz="900" b="0">
                <a:solidFill>
                  <a:srgbClr val="1E1E1E"/>
                </a:solidFill>
                <a:latin typeface="Calibri"/>
              </a:rPr>
              <a:t>Four-Tier Zero-Trust architecture, DFD Level 1, UML diagrams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2C57"/>
                </a:solidFill>
                <a:latin typeface="Calibri"/>
              </a:rPr>
              <a:t>6. Implementation: </a:t>
            </a:r>
            <a:r>
              <a:rPr sz="900" b="0">
                <a:solidFill>
                  <a:srgbClr val="1E1E1E"/>
                </a:solidFill>
                <a:latin typeface="Calibri"/>
              </a:rPr>
              <a:t>k-Anonymity WebCrypto, Out-of-band OTP, OSINT registry, EVM Anchor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2C57"/>
                </a:solidFill>
                <a:latin typeface="Calibri"/>
              </a:rPr>
              <a:t>7. Testing Methodology: </a:t>
            </a:r>
            <a:r>
              <a:rPr sz="900" b="0">
                <a:solidFill>
                  <a:srgbClr val="1E1E1E"/>
                </a:solidFill>
                <a:latin typeface="Calibri"/>
              </a:rPr>
              <a:t>175 automated test suites: Jest, Pytest, RTL, and Hardhat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2C57"/>
                </a:solidFill>
                <a:latin typeface="Calibri"/>
              </a:rPr>
              <a:t>8. Test Cases Table: </a:t>
            </a:r>
            <a:r>
              <a:rPr sz="900" b="0">
                <a:solidFill>
                  <a:srgbClr val="1E1E1E"/>
                </a:solidFill>
                <a:latin typeface="Calibri"/>
              </a:rPr>
              <a:t>12 comprehensive verification scenarios across all components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2C57"/>
                </a:solidFill>
                <a:latin typeface="Calibri"/>
              </a:rPr>
              <a:t>9. Empirical ML Benchmarks: </a:t>
            </a:r>
            <a:r>
              <a:rPr sz="900" b="0">
                <a:solidFill>
                  <a:srgbClr val="1E1E1E"/>
                </a:solidFill>
                <a:latin typeface="Calibri"/>
              </a:rPr>
              <a:t>Comparative results across 1,034 records (XGBoost 89.2% vs CNN/RNN)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2C57"/>
                </a:solidFill>
                <a:latin typeface="Calibri"/>
              </a:rPr>
              <a:t>10. System Results &amp; Snapshots: </a:t>
            </a:r>
            <a:r>
              <a:rPr sz="900" b="0">
                <a:solidFill>
                  <a:srgbClr val="1E1E1E"/>
                </a:solidFill>
                <a:latin typeface="Calibri"/>
              </a:rPr>
              <a:t>Zero plaintext network verification and Merkle audit receipts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2C57"/>
                </a:solidFill>
                <a:latin typeface="Calibri"/>
              </a:rPr>
              <a:t>11. Conclusion &amp; Key Findings: </a:t>
            </a:r>
            <a:r>
              <a:rPr sz="900" b="0">
                <a:solidFill>
                  <a:srgbClr val="1E1E1E"/>
                </a:solidFill>
                <a:latin typeface="Calibri"/>
              </a:rPr>
              <a:t>Technical contributions and production readiness summary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2C57"/>
                </a:solidFill>
                <a:latin typeface="Calibri"/>
              </a:rPr>
              <a:t>12. Future Enhancements: </a:t>
            </a:r>
            <a:r>
              <a:rPr sz="900" b="0">
                <a:solidFill>
                  <a:srgbClr val="1E1E1E"/>
                </a:solidFill>
                <a:latin typeface="Calibri"/>
              </a:rPr>
              <a:t>L2 Arbitrum rollups, zk-SNARKs, and SCIM automated revocation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2C57"/>
                </a:solidFill>
                <a:latin typeface="Calibri"/>
              </a:rPr>
              <a:t>13. Outcome: Research Paper: </a:t>
            </a:r>
            <a:r>
              <a:rPr sz="900" b="0">
                <a:solidFill>
                  <a:srgbClr val="1E1E1E"/>
                </a:solidFill>
                <a:latin typeface="Calibri"/>
              </a:rPr>
              <a:t>Accepted IEEE Conference paper details and departmental archive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2C57"/>
                </a:solidFill>
                <a:latin typeface="Calibri"/>
              </a:rPr>
              <a:t>14. References: </a:t>
            </a:r>
            <a:r>
              <a:rPr sz="900" b="0">
                <a:solidFill>
                  <a:srgbClr val="1E1E1E"/>
                </a:solidFill>
                <a:latin typeface="Calibri"/>
              </a:rPr>
              <a:t>Scholarly publications and technical standards</a:t>
            </a: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"/>
          <p:cNvSpPr txBox="1">
            <a:spLocks noGrp="1"/>
          </p:cNvSpPr>
          <p:nvPr>
            <p:ph type="ctrTitle" idx="4294967295"/>
          </p:nvPr>
        </p:nvSpPr>
        <p:spPr>
          <a:xfrm>
            <a:off x="0" y="57150"/>
            <a:ext cx="7694613" cy="74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>
                <a:solidFill>
                  <a:srgbClr val="1581AA"/>
                </a:solidFill>
                <a:latin typeface="Calibri"/>
                <a:ea typeface="Calibri"/>
                <a:cs typeface="Calibri"/>
                <a:sym typeface="Calibri"/>
              </a:rPr>
              <a:t>Abstract</a:t>
            </a:r>
            <a:br>
              <a:rPr lang="en-US" sz="2800" b="1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800" b="1" i="0" u="none" strike="noStrike" cap="none" dirty="0">
              <a:solidFill>
                <a:srgbClr val="1581A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53EA77-B8EE-4465-E7C5-BE5FA9C44F92}"/>
              </a:ext>
            </a:extLst>
          </p:cNvPr>
          <p:cNvSpPr txBox="1"/>
          <p:nvPr/>
        </p:nvSpPr>
        <p:spPr>
          <a:xfrm>
            <a:off x="2022763" y="1041479"/>
            <a:ext cx="65314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  <a:latin typeface="+mj-lt"/>
              </a:rPr>
              <a:t>Note:- Write Abstract in one paragraph in your own words</a:t>
            </a:r>
            <a:endParaRPr lang="en-US" sz="16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2" name="Google Shape;98;g2eff20282af_0_123">
            <a:extLst>
              <a:ext uri="{FF2B5EF4-FFF2-40B4-BE49-F238E27FC236}">
                <a16:creationId xmlns:a16="http://schemas.microsoft.com/office/drawing/2014/main" id="{FC7A7703-DD32-0F5F-9961-81D1C0535EA5}"/>
              </a:ext>
            </a:extLst>
          </p:cNvPr>
          <p:cNvSpPr txBox="1"/>
          <p:nvPr/>
        </p:nvSpPr>
        <p:spPr>
          <a:xfrm>
            <a:off x="180714" y="2784670"/>
            <a:ext cx="1379100" cy="3078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Dept. of ISE</a:t>
            </a:r>
            <a:endParaRPr sz="1400" b="0" i="0" u="none" strike="noStrike" cap="none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2148840" y="777240"/>
            <a:ext cx="640080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050" b="1">
                <a:solidFill>
                  <a:srgbClr val="102C57"/>
                </a:solidFill>
                <a:latin typeface="Calibri"/>
              </a:rPr>
              <a:t>The Privacy Dilemma in Breach Detection: </a:t>
            </a:r>
            <a:r>
              <a:rPr sz="1050" b="0">
                <a:solidFill>
                  <a:srgbClr val="1E1E1E"/>
                </a:solidFill>
                <a:latin typeface="Calibri"/>
              </a:rPr>
              <a:t>Traditional compromised-credential search engines require users to transmit sensitive identifiers (emails, usernames, phone numbers) in cleartext over the network. This converts a protective security audit into an involuntary surveillance asset for eavesdroppers and intermediate servers.</a:t>
            </a:r>
          </a:p>
          <a:p>
            <a:pPr>
              <a:spcBef>
                <a:spcPts val="400"/>
              </a:spcBef>
              <a:spcAft>
                <a:spcPts val="600"/>
              </a:spcAft>
            </a:pPr>
            <a:r>
              <a:rPr sz="1050" b="1">
                <a:solidFill>
                  <a:srgbClr val="102C57"/>
                </a:solidFill>
                <a:latin typeface="Calibri"/>
              </a:rPr>
              <a:t>The BreachShield Solution: </a:t>
            </a:r>
            <a:r>
              <a:rPr sz="1050" b="0">
                <a:solidFill>
                  <a:srgbClr val="1E1E1E"/>
                </a:solidFill>
                <a:latin typeface="Calibri"/>
              </a:rPr>
              <a:t>BreachShield solves this structural dilemma by implementing a client-side k-anonymity protocol using the browser-native Web Crypto API. Identifiers are hashed locally via SHA-256, and only a 5-hexadecimal prefix (20 bits of entropy) is sent to the backend. The server returns a partition of matching suffixes, and final candidate correlation occurs strictly in local client memory.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050" b="1">
                <a:solidFill>
                  <a:srgbClr val="102C57"/>
                </a:solidFill>
                <a:latin typeface="Calibri"/>
              </a:rPr>
              <a:t>Unified Defense Pipeline &amp; Verification: </a:t>
            </a:r>
            <a:r>
              <a:rPr sz="1050" b="0">
                <a:solidFill>
                  <a:srgbClr val="1E1E1E"/>
                </a:solidFill>
                <a:latin typeface="Calibri"/>
              </a:rPr>
              <a:t>The platform integrates dual-channel out-of-band OTP authentication (SMTP &amp; Android SMS relay), a pluggable multi-source OSINT registry (Telegram MTProto, HIBP, local catalogs), an XGBoost breach-severity classifier (89.2% test accuracy on 1,034 curated records), and an immutable EVM smart contract Merkle audit ledger (AnchorRegistry.sol). Validated across 175 passing tests and an accepted IEEE publication.</a:t>
            </a: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448656" y="400692"/>
            <a:ext cx="51884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1581AA"/>
                </a:solidFill>
                <a:latin typeface="Calibri"/>
                <a:ea typeface="Calibri"/>
                <a:cs typeface="Calibri"/>
                <a:sym typeface="Calibri"/>
              </a:rPr>
              <a:t>             INTRODUCTION</a:t>
            </a:r>
            <a:endParaRPr lang="en-US" sz="2000" dirty="0"/>
          </a:p>
        </p:txBody>
      </p:sp>
      <p:sp>
        <p:nvSpPr>
          <p:cNvPr id="3" name="Google Shape;98;g2eff20282af_0_123">
            <a:extLst>
              <a:ext uri="{FF2B5EF4-FFF2-40B4-BE49-F238E27FC236}">
                <a16:creationId xmlns:a16="http://schemas.microsoft.com/office/drawing/2014/main" id="{FCF587C3-1CE2-9C7A-4C68-5B6CC8D32B75}"/>
              </a:ext>
            </a:extLst>
          </p:cNvPr>
          <p:cNvSpPr txBox="1"/>
          <p:nvPr/>
        </p:nvSpPr>
        <p:spPr>
          <a:xfrm>
            <a:off x="180714" y="2784670"/>
            <a:ext cx="1379100" cy="3078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Dept. of ISE</a:t>
            </a:r>
            <a:endParaRPr sz="1400" b="0" i="0" u="none" strike="noStrike" cap="none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48840" y="777240"/>
            <a:ext cx="640080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102C57"/>
                </a:solidFill>
                <a:latin typeface="Calibri"/>
              </a:rPr>
              <a:t>Cybersecurity Landscape &amp; Industry Motivation: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000" b="1">
                <a:solidFill>
                  <a:srgbClr val="102C57"/>
                </a:solidFill>
                <a:latin typeface="Calibri"/>
              </a:rPr>
              <a:t>• Stolen Credentials Dominance: </a:t>
            </a:r>
            <a:r>
              <a:rPr sz="1000" b="0">
                <a:solidFill>
                  <a:srgbClr val="1E1E1E"/>
                </a:solidFill>
                <a:latin typeface="Calibri"/>
              </a:rPr>
              <a:t>IBM's 2024 Cost of a Data Breach Report identifies compromised credentials as the primary initial vector (16% of breaches, average $4.88M cost).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000" b="1">
                <a:solidFill>
                  <a:srgbClr val="102C57"/>
                </a:solidFill>
                <a:latin typeface="Calibri"/>
              </a:rPr>
              <a:t>• Proliferation of Infostealers: </a:t>
            </a:r>
            <a:r>
              <a:rPr sz="1000" b="0">
                <a:solidFill>
                  <a:srgbClr val="1E1E1E"/>
                </a:solidFill>
                <a:latin typeface="Calibri"/>
              </a:rPr>
              <a:t>Malware variants (RedLine, Raccoon, Lumma) continuously siphon browser-cached credentials into massive dark-web combo-lists.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>
                <a:solidFill>
                  <a:srgbClr val="102C57"/>
                </a:solidFill>
                <a:latin typeface="Calibri"/>
              </a:rPr>
              <a:t>Critical Limitations of Existing Approaches: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000" b="1">
                <a:solidFill>
                  <a:srgbClr val="102C57"/>
                </a:solidFill>
                <a:latin typeface="Calibri"/>
              </a:rPr>
              <a:t>• Cleartext Query Exposure: </a:t>
            </a:r>
            <a:r>
              <a:rPr sz="1000" b="0">
                <a:solidFill>
                  <a:srgbClr val="1E1E1E"/>
                </a:solidFill>
                <a:latin typeface="Calibri"/>
              </a:rPr>
              <a:t>Third-party breach portals log queried identifiers, creating high-value target lists for malicious actors who compromise the service.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000" b="1">
                <a:solidFill>
                  <a:srgbClr val="102C57"/>
                </a:solidFill>
                <a:latin typeface="Calibri"/>
              </a:rPr>
              <a:t>• Mutable Centralized Logs: </a:t>
            </a:r>
            <a:r>
              <a:rPr sz="1000" b="0">
                <a:solidFill>
                  <a:srgbClr val="1E1E1E"/>
                </a:solidFill>
                <a:latin typeface="Calibri"/>
              </a:rPr>
              <a:t>Standard relational database audit tables can be manipulated or deleted by rogue administrators, defeating regulatory compliance.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>
                <a:solidFill>
                  <a:srgbClr val="102C57"/>
                </a:solidFill>
                <a:latin typeface="Calibri"/>
              </a:rPr>
              <a:t>BreachShield Core Contributions: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000" b="1">
                <a:solidFill>
                  <a:srgbClr val="102C57"/>
                </a:solidFill>
                <a:latin typeface="Calibri"/>
              </a:rPr>
              <a:t>• Zero Plaintext Network Leakage: </a:t>
            </a:r>
            <a:r>
              <a:rPr sz="1000" b="0">
                <a:solidFill>
                  <a:srgbClr val="1E1E1E"/>
                </a:solidFill>
                <a:latin typeface="Calibri"/>
              </a:rPr>
              <a:t>Client-side WebCrypto SHA-256 prefix hashing guarantees query confidentiality.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000" b="1">
                <a:solidFill>
                  <a:srgbClr val="102C57"/>
                </a:solidFill>
                <a:latin typeface="Calibri"/>
              </a:rPr>
              <a:t>• Verifiable Tamper-Evident Audit Trail: </a:t>
            </a:r>
            <a:r>
              <a:rPr sz="1000" b="0">
                <a:solidFill>
                  <a:srgbClr val="1E1E1E"/>
                </a:solidFill>
                <a:latin typeface="Calibri"/>
              </a:rPr>
              <a:t>Deterministic SHA-256 Merkle trees anchored to EVM smart contracts.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000" b="1">
                <a:solidFill>
                  <a:srgbClr val="102C57"/>
                </a:solidFill>
                <a:latin typeface="Calibri"/>
              </a:rPr>
              <a:t>• Empirical ML Severity Classification: </a:t>
            </a:r>
            <a:r>
              <a:rPr sz="1000" b="0">
                <a:solidFill>
                  <a:srgbClr val="1E1E1E"/>
                </a:solidFill>
                <a:latin typeface="Calibri"/>
              </a:rPr>
              <a:t>XGBoost 7-feature model benchmarked on 1,034 curated breach incidents.</a:t>
            </a:r>
          </a:p>
        </p:txBody>
      </p:sp>
    </p:spTree>
    <p:extLst>
      <p:ext uri="{BB962C8B-B14F-4D97-AF65-F5344CB8AC3E}">
        <p14:creationId xmlns:p14="http://schemas.microsoft.com/office/powerpoint/2010/main" val="24770590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4"/>
          <p:cNvSpPr txBox="1">
            <a:spLocks noGrp="1"/>
          </p:cNvSpPr>
          <p:nvPr>
            <p:ph type="body" idx="1"/>
          </p:nvPr>
        </p:nvSpPr>
        <p:spPr>
          <a:xfrm>
            <a:off x="1096963" y="1"/>
            <a:ext cx="6908947" cy="6411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lang="en-US" sz="2800" b="1" dirty="0">
                <a:solidFill>
                  <a:srgbClr val="1581AA"/>
                </a:solidFill>
                <a:latin typeface="Calibri"/>
                <a:ea typeface="Calibri"/>
                <a:cs typeface="Calibri"/>
                <a:sym typeface="Calibri"/>
              </a:rPr>
              <a:t>PROBLEM STATEMENT</a:t>
            </a:r>
            <a:endParaRPr lang="en-US" sz="2800" dirty="0"/>
          </a:p>
        </p:txBody>
      </p:sp>
      <p:sp>
        <p:nvSpPr>
          <p:cNvPr id="3" name="Google Shape;98;g2eff20282af_0_123">
            <a:extLst>
              <a:ext uri="{FF2B5EF4-FFF2-40B4-BE49-F238E27FC236}">
                <a16:creationId xmlns:a16="http://schemas.microsoft.com/office/drawing/2014/main" id="{0C27BA88-17AE-9E7C-5A6F-8F837CC2F6F9}"/>
              </a:ext>
            </a:extLst>
          </p:cNvPr>
          <p:cNvSpPr txBox="1"/>
          <p:nvPr/>
        </p:nvSpPr>
        <p:spPr>
          <a:xfrm>
            <a:off x="180714" y="2784670"/>
            <a:ext cx="1379100" cy="3078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Dept. of ISE</a:t>
            </a:r>
            <a:endParaRPr sz="1400" b="0" i="0" u="none" strike="noStrike" cap="none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2148840" y="777240"/>
            <a:ext cx="640080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050" b="1">
                <a:solidFill>
                  <a:srgbClr val="102C57"/>
                </a:solidFill>
                <a:latin typeface="Calibri"/>
              </a:rPr>
              <a:t>1. Cleartext Search Surveillance Flaw: </a:t>
            </a:r>
            <a:r>
              <a:rPr sz="1050" b="0">
                <a:solidFill>
                  <a:srgbClr val="1E1E1E"/>
                </a:solidFill>
                <a:latin typeface="Calibri"/>
              </a:rPr>
              <a:t>Querying breach engines requires users to transmit raw identifiers over networks. This exposes their active security concerns and organizational domains to eavesdroppers and intermediate server administrators.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050" b="1">
                <a:solidFill>
                  <a:srgbClr val="102C57"/>
                </a:solidFill>
                <a:latin typeface="Calibri"/>
              </a:rPr>
              <a:t>2. Fragmented &amp; Unvetted OSINT Sources: </a:t>
            </a:r>
            <a:r>
              <a:rPr sz="1050" b="0">
                <a:solidFill>
                  <a:srgbClr val="1E1E1E"/>
                </a:solidFill>
                <a:latin typeface="Calibri"/>
              </a:rPr>
              <a:t>Breach dumps are dispersed across private Telegram channels, paste sites, and commercial APIs. Security analysts face alert fatigue due to the lack of automated, concurrent aggregation and deduplication.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050" b="1">
                <a:solidFill>
                  <a:srgbClr val="102C57"/>
                </a:solidFill>
                <a:latin typeface="Calibri"/>
              </a:rPr>
              <a:t>3. Mutable &amp; Vulnerable Audit Trails: </a:t>
            </a:r>
            <a:r>
              <a:rPr sz="1050" b="0">
                <a:solidFill>
                  <a:srgbClr val="1E1E1E"/>
                </a:solidFill>
                <a:latin typeface="Calibri"/>
              </a:rPr>
              <a:t>Conventional database audit logs lack cryptographic proof of immutability. Malicious insiders or post-exploitation root compromises can alter or delete search histories without detection.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050" b="1">
                <a:solidFill>
                  <a:srgbClr val="102C57"/>
                </a:solidFill>
                <a:latin typeface="Calibri"/>
              </a:rPr>
              <a:t>4. Ineffective Identity Gating: </a:t>
            </a:r>
            <a:r>
              <a:rPr sz="1050" b="0">
                <a:solidFill>
                  <a:srgbClr val="1E1E1E"/>
                </a:solidFill>
                <a:latin typeface="Calibri"/>
              </a:rPr>
              <a:t>Unrestricted lookup endpoints allow automated harvesting bots to enumerate millions of arbitrary identifiers, turning breach checkers into reconnaissance tools for attackers.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083182" y="304059"/>
            <a:ext cx="497764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lvl="0" indent="-228600" algn="ctr">
              <a:buSzPts val="1400"/>
            </a:pPr>
            <a:r>
              <a:rPr lang="en-US" sz="2800" b="1" dirty="0">
                <a:solidFill>
                  <a:srgbClr val="1581AA"/>
                </a:solidFill>
                <a:latin typeface="Calibri"/>
                <a:ea typeface="Calibri"/>
                <a:cs typeface="Calibri"/>
                <a:sym typeface="Calibri"/>
              </a:rPr>
              <a:t>REQUIREMENT SPECIFICATION</a:t>
            </a:r>
            <a:endParaRPr lang="en-US" sz="2800" dirty="0"/>
          </a:p>
        </p:txBody>
      </p:sp>
      <p:sp>
        <p:nvSpPr>
          <p:cNvPr id="3" name="Google Shape;98;g2eff20282af_0_123">
            <a:extLst>
              <a:ext uri="{FF2B5EF4-FFF2-40B4-BE49-F238E27FC236}">
                <a16:creationId xmlns:a16="http://schemas.microsoft.com/office/drawing/2014/main" id="{3B0895E0-374A-FAF6-61BF-433B33DA3A14}"/>
              </a:ext>
            </a:extLst>
          </p:cNvPr>
          <p:cNvSpPr txBox="1"/>
          <p:nvPr/>
        </p:nvSpPr>
        <p:spPr>
          <a:xfrm>
            <a:off x="180714" y="2784670"/>
            <a:ext cx="1379100" cy="3078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Dept. of ISE</a:t>
            </a:r>
            <a:endParaRPr sz="1400" b="0" i="0" u="none" strike="noStrike" cap="none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148840" y="777240"/>
            <a:ext cx="640080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102C57"/>
                </a:solidFill>
                <a:latin typeface="Calibri"/>
              </a:rPr>
              <a:t>Functional Requirements (FR):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50" b="1">
                <a:solidFill>
                  <a:srgbClr val="102C57"/>
                </a:solidFill>
                <a:latin typeface="Calibri"/>
              </a:rPr>
              <a:t>• FR-01: Client-Side k-Anonymity — </a:t>
            </a:r>
            <a:r>
              <a:rPr sz="950" b="0">
                <a:solidFill>
                  <a:srgbClr val="1E1E1E"/>
                </a:solidFill>
                <a:latin typeface="Calibri"/>
              </a:rPr>
              <a:t>Browser hashes queries via WebCrypto SHA-256; transmits only 5-character prefix.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50" b="1">
                <a:solidFill>
                  <a:srgbClr val="102C57"/>
                </a:solidFill>
                <a:latin typeface="Calibri"/>
              </a:rPr>
              <a:t>• FR-02: Out-of-Band Dual OTP — </a:t>
            </a:r>
            <a:r>
              <a:rPr sz="950" b="0">
                <a:solidFill>
                  <a:srgbClr val="1E1E1E"/>
                </a:solidFill>
                <a:latin typeface="Calibri"/>
              </a:rPr>
              <a:t>Dispatches 6-digit codes via SMTP email and Android SMS relay; bcrypt salted hashes.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50" b="1">
                <a:solidFill>
                  <a:srgbClr val="102C57"/>
                </a:solidFill>
                <a:latin typeface="Calibri"/>
              </a:rPr>
              <a:t>• FR-03: Anti-Abuse Controls — </a:t>
            </a:r>
            <a:r>
              <a:rPr sz="950" b="0">
                <a:solidFill>
                  <a:srgbClr val="1E1E1E"/>
                </a:solidFill>
                <a:latin typeface="Calibri"/>
              </a:rPr>
              <a:t>30s resend cooldown timer and 5-attempt brute-force account lockout.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50" b="1">
                <a:solidFill>
                  <a:srgbClr val="102C57"/>
                </a:solidFill>
                <a:latin typeface="Calibri"/>
              </a:rPr>
              <a:t>• FR-04: Multi-Source OSINT — </a:t>
            </a:r>
            <a:r>
              <a:rPr sz="950" b="0">
                <a:solidFill>
                  <a:srgbClr val="1E1E1E"/>
                </a:solidFill>
                <a:latin typeface="Calibri"/>
              </a:rPr>
              <a:t>Pluggable registry aggregating Telegram MTProto, HIBP, and local catalogs concurrently.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50" b="1">
                <a:solidFill>
                  <a:srgbClr val="102C57"/>
                </a:solidFill>
                <a:latin typeface="Calibri"/>
              </a:rPr>
              <a:t>• FR-05: AI Severity &amp; Phishing — </a:t>
            </a:r>
            <a:r>
              <a:rPr sz="950" b="0">
                <a:solidFill>
                  <a:srgbClr val="1E1E1E"/>
                </a:solidFill>
                <a:latin typeface="Calibri"/>
              </a:rPr>
              <a:t>XGBoost 7-feature severity model + UrlBERT transformer phishing scoring.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50" b="1">
                <a:solidFill>
                  <a:srgbClr val="102C57"/>
                </a:solidFill>
                <a:latin typeface="Calibri"/>
              </a:rPr>
              <a:t>• FR-06: Merkle Tree Anchoring — </a:t>
            </a:r>
            <a:r>
              <a:rPr sz="950" b="0">
                <a:solidFill>
                  <a:srgbClr val="1E1E1E"/>
                </a:solidFill>
                <a:latin typeface="Calibri"/>
              </a:rPr>
              <a:t>Constructs binary SHA-256 Merkle trees committed to AnchorRegistry.sol on EVM.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100" b="1">
                <a:solidFill>
                  <a:srgbClr val="102C57"/>
                </a:solidFill>
                <a:latin typeface="Calibri"/>
              </a:rPr>
              <a:t>Non-Functional &amp; Environment Requirements (NFR):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50" b="1">
                <a:solidFill>
                  <a:srgbClr val="102C57"/>
                </a:solidFill>
                <a:latin typeface="Calibri"/>
              </a:rPr>
              <a:t>• NFR-01: Query Privacy — </a:t>
            </a:r>
            <a:r>
              <a:rPr sz="950" b="0">
                <a:solidFill>
                  <a:srgbClr val="1E1E1E"/>
                </a:solidFill>
                <a:latin typeface="Calibri"/>
              </a:rPr>
              <a:t>Zero server-side persistence or transmission of raw target emails/phone numbers.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50" b="1">
                <a:solidFill>
                  <a:srgbClr val="102C57"/>
                </a:solidFill>
                <a:latin typeface="Calibri"/>
              </a:rPr>
              <a:t>• NFR-02: Latency — </a:t>
            </a:r>
            <a:r>
              <a:rPr sz="950" b="0">
                <a:solidFill>
                  <a:srgbClr val="1E1E1E"/>
                </a:solidFill>
                <a:latin typeface="Calibri"/>
              </a:rPr>
              <a:t>Sub-800ms end-to-end query response; sub-50ms machine learning inference.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50" b="1">
                <a:solidFill>
                  <a:srgbClr val="102C57"/>
                </a:solidFill>
                <a:latin typeface="Calibri"/>
              </a:rPr>
              <a:t>• Software Spec — </a:t>
            </a:r>
            <a:r>
              <a:rPr sz="950" b="0">
                <a:solidFill>
                  <a:srgbClr val="1E1E1E"/>
                </a:solidFill>
                <a:latin typeface="Calibri"/>
              </a:rPr>
              <a:t>Node.js 20, Python 3.11, React 19, Hardhat 2.22, Solidity 0.8.24, MySQL 8.0.</a:t>
            </a:r>
          </a:p>
        </p:txBody>
      </p:sp>
    </p:spTree>
    <p:extLst>
      <p:ext uri="{BB962C8B-B14F-4D97-AF65-F5344CB8AC3E}">
        <p14:creationId xmlns:p14="http://schemas.microsoft.com/office/powerpoint/2010/main" val="26286274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"/>
          <p:cNvSpPr txBox="1">
            <a:spLocks noGrp="1"/>
          </p:cNvSpPr>
          <p:nvPr>
            <p:ph type="body" idx="1"/>
          </p:nvPr>
        </p:nvSpPr>
        <p:spPr>
          <a:xfrm>
            <a:off x="1096963" y="245230"/>
            <a:ext cx="7045224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1581AA"/>
              </a:buClr>
              <a:buSzPts val="2800"/>
              <a:buFont typeface="Calibri"/>
              <a:buNone/>
            </a:pPr>
            <a:r>
              <a:rPr lang="en-US" sz="2800" b="1" dirty="0">
                <a:solidFill>
                  <a:srgbClr val="1581AA"/>
                </a:solidFill>
                <a:latin typeface="Calibri"/>
                <a:ea typeface="Calibri"/>
                <a:cs typeface="Calibri"/>
                <a:sym typeface="Calibri"/>
              </a:rPr>
              <a:t>SYSTEM DESIGN</a:t>
            </a:r>
            <a:endParaRPr sz="1100" b="1" dirty="0"/>
          </a:p>
        </p:txBody>
      </p:sp>
      <p:sp>
        <p:nvSpPr>
          <p:cNvPr id="3" name="Google Shape;98;g2eff20282af_0_123">
            <a:extLst>
              <a:ext uri="{FF2B5EF4-FFF2-40B4-BE49-F238E27FC236}">
                <a16:creationId xmlns:a16="http://schemas.microsoft.com/office/drawing/2014/main" id="{76D7E253-DC2B-55DC-D1C0-07446D746AC7}"/>
              </a:ext>
            </a:extLst>
          </p:cNvPr>
          <p:cNvSpPr txBox="1"/>
          <p:nvPr/>
        </p:nvSpPr>
        <p:spPr>
          <a:xfrm>
            <a:off x="180714" y="2784670"/>
            <a:ext cx="1379100" cy="3078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Dept. of ISE</a:t>
            </a:r>
            <a:endParaRPr sz="1400" b="0" i="0" u="none" strike="noStrike" cap="none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89" name="Picture 88" descr="fig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777240"/>
            <a:ext cx="4114800" cy="3931920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6355080" y="777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000" b="1">
                <a:solidFill>
                  <a:srgbClr val="102C57"/>
                </a:solidFill>
                <a:latin typeface="Calibri"/>
              </a:rPr>
              <a:t>System Design Overview: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00" b="1">
                <a:solidFill>
                  <a:srgbClr val="1E1E1E"/>
                </a:solidFill>
                <a:latin typeface="Calibri"/>
              </a:rPr>
              <a:t>1. Four-Tier Architecture: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850" b="1">
                <a:solidFill>
                  <a:srgbClr val="102C57"/>
                </a:solidFill>
                <a:latin typeface="Calibri"/>
              </a:rPr>
              <a:t>• Client HUD: </a:t>
            </a:r>
            <a:r>
              <a:rPr sz="850" b="0">
                <a:solidFill>
                  <a:srgbClr val="1E1E1E"/>
                </a:solidFill>
                <a:latin typeface="Calibri"/>
              </a:rPr>
              <a:t>React 19 with local WebCrypto hash partitioner.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850" b="1">
                <a:solidFill>
                  <a:srgbClr val="102C57"/>
                </a:solidFill>
                <a:latin typeface="Calibri"/>
              </a:rPr>
              <a:t>• API Gateway: </a:t>
            </a:r>
            <a:r>
              <a:rPr sz="850" b="0">
                <a:solidFill>
                  <a:srgbClr val="1E1E1E"/>
                </a:solidFill>
                <a:latin typeface="Calibri"/>
              </a:rPr>
              <a:t>Express 5 with JWT, OTP &amp; Merkle batch queue.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850" b="1">
                <a:solidFill>
                  <a:srgbClr val="102C57"/>
                </a:solidFill>
                <a:latin typeface="Calibri"/>
              </a:rPr>
              <a:t>• OSINT Engine: </a:t>
            </a:r>
            <a:r>
              <a:rPr sz="850" b="0">
                <a:solidFill>
                  <a:srgbClr val="1E1E1E"/>
                </a:solidFill>
                <a:latin typeface="Calibri"/>
              </a:rPr>
              <a:t>FastAPI, Telethon &amp; HuggingFace models.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850" b="1">
                <a:solidFill>
                  <a:srgbClr val="102C57"/>
                </a:solidFill>
                <a:latin typeface="Calibri"/>
              </a:rPr>
              <a:t>• EVM Ledger: </a:t>
            </a:r>
            <a:r>
              <a:rPr sz="850" b="0">
                <a:solidFill>
                  <a:srgbClr val="1E1E1E"/>
                </a:solidFill>
                <a:latin typeface="Calibri"/>
              </a:rPr>
              <a:t>Hardhat node with AnchorRegistry.sol.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900" b="1">
                <a:solidFill>
                  <a:srgbClr val="1E1E1E"/>
                </a:solidFill>
                <a:latin typeface="Calibri"/>
              </a:rPr>
              <a:t>2. Key Design Models: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850" b="1">
                <a:solidFill>
                  <a:srgbClr val="102C57"/>
                </a:solidFill>
                <a:latin typeface="Calibri"/>
              </a:rPr>
              <a:t>• DFD Level 1: </a:t>
            </a:r>
            <a:r>
              <a:rPr sz="850" b="0">
                <a:solidFill>
                  <a:srgbClr val="1E1E1E"/>
                </a:solidFill>
                <a:latin typeface="Calibri"/>
              </a:rPr>
              <a:t>Processes P1-P4 for auth, search, AI, and audit.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850" b="1">
                <a:solidFill>
                  <a:srgbClr val="102C57"/>
                </a:solidFill>
                <a:latin typeface="Calibri"/>
              </a:rPr>
              <a:t>• UML Classes: </a:t>
            </a:r>
            <a:r>
              <a:rPr sz="850" b="0">
                <a:solidFill>
                  <a:srgbClr val="1E1E1E"/>
                </a:solidFill>
                <a:latin typeface="Calibri"/>
              </a:rPr>
              <a:t>Polymorphic BreachSource adapters.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850" b="1">
                <a:solidFill>
                  <a:srgbClr val="102C57"/>
                </a:solidFill>
                <a:latin typeface="Calibri"/>
              </a:rPr>
              <a:t>• Merkle Trees: </a:t>
            </a:r>
            <a:r>
              <a:rPr sz="850" b="0">
                <a:solidFill>
                  <a:srgbClr val="1E1E1E"/>
                </a:solidFill>
                <a:latin typeface="Calibri"/>
              </a:rPr>
              <a:t>SHA-256 leaves committed on-chain.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6"/>
          <p:cNvSpPr txBox="1">
            <a:spLocks noGrp="1"/>
          </p:cNvSpPr>
          <p:nvPr>
            <p:ph type="body" idx="1"/>
          </p:nvPr>
        </p:nvSpPr>
        <p:spPr>
          <a:xfrm>
            <a:off x="688623" y="255528"/>
            <a:ext cx="7538184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1581AA"/>
              </a:buClr>
              <a:buSzPts val="2800"/>
              <a:buFont typeface="Calibri"/>
              <a:buNone/>
            </a:pPr>
            <a:r>
              <a:rPr lang="en-US" sz="2800" b="1" dirty="0">
                <a:solidFill>
                  <a:srgbClr val="1581AA"/>
                </a:solidFill>
                <a:latin typeface="Calibri"/>
                <a:ea typeface="Calibri"/>
                <a:cs typeface="Calibri"/>
                <a:sym typeface="Calibri"/>
              </a:rPr>
              <a:t>IMPLEMENTATION</a:t>
            </a:r>
          </a:p>
        </p:txBody>
      </p:sp>
      <p:sp>
        <p:nvSpPr>
          <p:cNvPr id="3" name="Google Shape;98;g2eff20282af_0_123">
            <a:extLst>
              <a:ext uri="{FF2B5EF4-FFF2-40B4-BE49-F238E27FC236}">
                <a16:creationId xmlns:a16="http://schemas.microsoft.com/office/drawing/2014/main" id="{FF6B9C51-B311-53F9-703C-AC46CFBA1B0E}"/>
              </a:ext>
            </a:extLst>
          </p:cNvPr>
          <p:cNvSpPr txBox="1"/>
          <p:nvPr/>
        </p:nvSpPr>
        <p:spPr>
          <a:xfrm>
            <a:off x="180714" y="2784670"/>
            <a:ext cx="1379100" cy="3078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Dept. of ISE</a:t>
            </a:r>
            <a:endParaRPr sz="1400" b="0" i="0" u="none" strike="noStrike" cap="none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2148840" y="777240"/>
            <a:ext cx="640080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050" b="1">
                <a:solidFill>
                  <a:srgbClr val="102C57"/>
                </a:solidFill>
                <a:latin typeface="Calibri"/>
              </a:rPr>
              <a:t>Module 1: Client-Side k-Anonymity (React 19 &amp; WebCrypto)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102C57"/>
                </a:solidFill>
                <a:latin typeface="Calibri"/>
              </a:rPr>
              <a:t>• Local Hash Digest: </a:t>
            </a:r>
            <a:r>
              <a:rPr sz="900" b="0">
                <a:solidFill>
                  <a:srgbClr val="1E1E1E"/>
                </a:solidFill>
                <a:latin typeface="Calibri"/>
              </a:rPr>
              <a:t>crypto.subtle.digest('SHA-256', target) executed in browser; only 5-character prefix transmitted.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102C57"/>
                </a:solidFill>
                <a:latin typeface="Calibri"/>
              </a:rPr>
              <a:t>• In-Memory Match: </a:t>
            </a:r>
            <a:r>
              <a:rPr sz="900" b="0">
                <a:solidFill>
                  <a:srgbClr val="1E1E1E"/>
                </a:solidFill>
                <a:latin typeface="Calibri"/>
              </a:rPr>
              <a:t>Server returns prefix partition; browser correlates matching suffix in volatile heap memory.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050" b="1">
                <a:solidFill>
                  <a:srgbClr val="102C57"/>
                </a:solidFill>
                <a:latin typeface="Calibri"/>
              </a:rPr>
              <a:t>Module 2: Secure API Gateway &amp; Identity Gate (Node.js Express 5)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102C57"/>
                </a:solidFill>
                <a:latin typeface="Calibri"/>
              </a:rPr>
              <a:t>• Dual OTP Auth: </a:t>
            </a:r>
            <a:r>
              <a:rPr sz="900" b="0">
                <a:solidFill>
                  <a:srgbClr val="1E1E1E"/>
                </a:solidFill>
                <a:latin typeface="Calibri"/>
              </a:rPr>
              <a:t>Dispatches verification tokens via Gmail SMTP and Android WebSocket SMS relay with bcrypt hashing.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102C57"/>
                </a:solidFill>
                <a:latin typeface="Calibri"/>
              </a:rPr>
              <a:t>• Pluggable Registry: </a:t>
            </a:r>
            <a:r>
              <a:rPr sz="900" b="0">
                <a:solidFill>
                  <a:srgbClr val="1E1E1E"/>
                </a:solidFill>
                <a:latin typeface="Calibri"/>
              </a:rPr>
              <a:t>Promise.allSettled executes concurrent queries across Telegram, HIBP, and local catalogs.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050" b="1">
                <a:solidFill>
                  <a:srgbClr val="102C57"/>
                </a:solidFill>
                <a:latin typeface="Calibri"/>
              </a:rPr>
              <a:t>Module 3: AI Threat &amp; Phishing Engine (Python FastAPI)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102C57"/>
                </a:solidFill>
                <a:latin typeface="Calibri"/>
              </a:rPr>
              <a:t>• UrlBERT Transformer: </a:t>
            </a:r>
            <a:r>
              <a:rPr sz="900" b="0">
                <a:solidFill>
                  <a:srgbClr val="1E1E1E"/>
                </a:solidFill>
                <a:latin typeface="Calibri"/>
              </a:rPr>
              <a:t>Subword tokenization evaluates URLs on active search path (89% accuracy).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102C57"/>
                </a:solidFill>
                <a:latin typeface="Calibri"/>
              </a:rPr>
              <a:t>• XGBoost Severity: </a:t>
            </a:r>
            <a:r>
              <a:rPr sz="900" b="0">
                <a:solidFill>
                  <a:srgbClr val="1E1E1E"/>
                </a:solidFill>
                <a:latin typeface="Calibri"/>
              </a:rPr>
              <a:t>7-feature model classifies incidents into LOW, MEDIUM, HIGH, and CRITICAL tiers (89.2% accuracy).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050" b="1">
                <a:solidFill>
                  <a:srgbClr val="102C57"/>
                </a:solidFill>
                <a:latin typeface="Calibri"/>
              </a:rPr>
              <a:t>Module 4: EVM Blockchain Audit Ledger (Hardhat &amp; Solidity)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102C57"/>
                </a:solidFill>
                <a:latin typeface="Calibri"/>
              </a:rPr>
              <a:t>• Merkle Construction: </a:t>
            </a:r>
            <a:r>
              <a:rPr sz="900" b="0">
                <a:solidFill>
                  <a:srgbClr val="1E1E1E"/>
                </a:solidFill>
                <a:latin typeface="Calibri"/>
              </a:rPr>
              <a:t>Canonical JSON serialization -&gt; SHA-256 leaves -&gt; 32-byte Merkle root.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102C57"/>
                </a:solidFill>
                <a:latin typeface="Calibri"/>
              </a:rPr>
              <a:t>• Smart Contract: </a:t>
            </a:r>
            <a:r>
              <a:rPr sz="900" b="0">
                <a:solidFill>
                  <a:srgbClr val="1E1E1E"/>
                </a:solidFill>
                <a:latin typeface="Calibri"/>
              </a:rPr>
              <a:t>AnchorRegistry.sol executes anchorRoot(batchId, root, count) for immutable verification.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396343" y="822327"/>
            <a:ext cx="219269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>
                <a:srgbClr val="1581AA"/>
              </a:buClr>
              <a:buSzPts val="2800"/>
            </a:pPr>
            <a:r>
              <a:rPr lang="en-US" sz="2000" b="1" dirty="0">
                <a:solidFill>
                  <a:srgbClr val="1581AA"/>
                </a:solidFill>
                <a:latin typeface="Calibri"/>
                <a:ea typeface="Calibri"/>
                <a:cs typeface="Calibri"/>
                <a:sym typeface="Calibri"/>
              </a:rPr>
              <a:t>TESTING</a:t>
            </a:r>
          </a:p>
        </p:txBody>
      </p:sp>
      <p:sp>
        <p:nvSpPr>
          <p:cNvPr id="4" name="Google Shape;98;g2eff20282af_0_123">
            <a:extLst>
              <a:ext uri="{FF2B5EF4-FFF2-40B4-BE49-F238E27FC236}">
                <a16:creationId xmlns:a16="http://schemas.microsoft.com/office/drawing/2014/main" id="{8DFA2E4A-3B97-D2D9-7AE2-11E30C848D62}"/>
              </a:ext>
            </a:extLst>
          </p:cNvPr>
          <p:cNvSpPr txBox="1"/>
          <p:nvPr/>
        </p:nvSpPr>
        <p:spPr>
          <a:xfrm>
            <a:off x="180714" y="2784670"/>
            <a:ext cx="1379100" cy="3078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Dept. of ISE</a:t>
            </a:r>
            <a:endParaRPr sz="1400" b="0" i="0" u="none" strike="noStrike" cap="none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148840" y="777240"/>
            <a:ext cx="640080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102C57"/>
                </a:solidFill>
                <a:latin typeface="Calibri"/>
              </a:rPr>
              <a:t>Automated Continuous Testing Framework (175/175 Tests - 100% Pass Rate)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00" b="1">
                <a:solidFill>
                  <a:srgbClr val="1E1E1E"/>
                </a:solidFill>
                <a:latin typeface="Calibri"/>
              </a:rPr>
              <a:t>1. Backend Security &amp; Contract Suites (Jest &amp; Supertest — 103 Tests):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102C57"/>
                </a:solidFill>
                <a:latin typeface="Calibri"/>
              </a:rPr>
              <a:t>• Exhaustive gating tests verifying HTTP 403 Forbidden enforcement on unauthenticated breach searches.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102C57"/>
                </a:solidFill>
                <a:latin typeface="Calibri"/>
              </a:rPr>
              <a:t>• Rate-limiting verification (HTTP 429), 30-second cooldown enforcement, and 5-attempt brute-force lockouts.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102C57"/>
                </a:solidFill>
                <a:latin typeface="Calibri"/>
              </a:rPr>
              <a:t>• Cryptographic verification of bcrypt salted OTP hashes and JWT HS256 expiration cycles.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000" b="1">
                <a:solidFill>
                  <a:srgbClr val="1E1E1E"/>
                </a:solidFill>
                <a:latin typeface="Calibri"/>
              </a:rPr>
              <a:t>2. Frontend Contract Testing (React Testing Library — 50 Tests):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102C57"/>
                </a:solidFill>
                <a:latin typeface="Calibri"/>
              </a:rPr>
              <a:t>• Validated client WebCrypto SHA-256 hash generation, exact 5-char prefix slicing, and in-memory suffix matching.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102C57"/>
                </a:solidFill>
                <a:latin typeface="Calibri"/>
              </a:rPr>
              <a:t>• Adversarial UI tests confirming form validation, XSS sanitization, and state transitions.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000" b="1">
                <a:solidFill>
                  <a:srgbClr val="1E1E1E"/>
                </a:solidFill>
                <a:latin typeface="Calibri"/>
              </a:rPr>
              <a:t>3. ML Engine, Scraper &amp; Blockchain Suites (Pytest &amp; Hardhat — 22 Tests):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102C57"/>
                </a:solidFill>
                <a:latin typeface="Calibri"/>
              </a:rPr>
              <a:t>• 4 Pytest suites for UrlBERT tokenizer validation and XGBoost 7-feature extraction.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102C57"/>
                </a:solidFill>
                <a:latin typeface="Calibri"/>
              </a:rPr>
              <a:t>• 5 scraper resilience tests for Telethon MTProto flood-wait backoff and cache failover.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102C57"/>
                </a:solidFill>
                <a:latin typeface="Calibri"/>
              </a:rPr>
              <a:t>• 10 Hardhat / Mocha blockchain tests for AnchorRegistry deployment, Merkle proof creation, and root verification.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102C57"/>
                </a:solidFill>
                <a:latin typeface="Calibri"/>
              </a:rPr>
              <a:t>• 3 cryptographic tamper-detection tests validating immediate mismatch upon log mutation.</a:t>
            </a:r>
          </a:p>
        </p:txBody>
      </p:sp>
    </p:spTree>
    <p:extLst>
      <p:ext uri="{BB962C8B-B14F-4D97-AF65-F5344CB8AC3E}">
        <p14:creationId xmlns:p14="http://schemas.microsoft.com/office/powerpoint/2010/main" val="15346520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282041" y="543716"/>
            <a:ext cx="219269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>
                <a:srgbClr val="1581AA"/>
              </a:buClr>
              <a:buSzPts val="2800"/>
            </a:pPr>
            <a:r>
              <a:rPr lang="en-US" sz="2400" b="1" dirty="0">
                <a:solidFill>
                  <a:srgbClr val="1581AA"/>
                </a:solidFill>
                <a:latin typeface="Calibri"/>
                <a:ea typeface="Calibri"/>
                <a:cs typeface="Calibri"/>
                <a:sym typeface="Calibri"/>
              </a:rPr>
              <a:t>TEST CASES</a:t>
            </a:r>
          </a:p>
        </p:txBody>
      </p:sp>
      <p:sp>
        <p:nvSpPr>
          <p:cNvPr id="5" name="Google Shape;98;g2eff20282af_0_123">
            <a:extLst>
              <a:ext uri="{FF2B5EF4-FFF2-40B4-BE49-F238E27FC236}">
                <a16:creationId xmlns:a16="http://schemas.microsoft.com/office/drawing/2014/main" id="{503D2D0A-4053-0BD2-D87E-AFA5EF52324A}"/>
              </a:ext>
            </a:extLst>
          </p:cNvPr>
          <p:cNvSpPr txBox="1"/>
          <p:nvPr/>
        </p:nvSpPr>
        <p:spPr>
          <a:xfrm>
            <a:off x="180714" y="2784670"/>
            <a:ext cx="1379100" cy="3078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Dept. of ISE</a:t>
            </a:r>
            <a:endParaRPr sz="1400" b="0" i="0" u="none" strike="noStrike" cap="none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148840" y="777240"/>
          <a:ext cx="6400800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914400"/>
                <a:gridCol w="1188720"/>
                <a:gridCol w="1280160"/>
                <a:gridCol w="1280160"/>
                <a:gridCol w="502920"/>
                <a:gridCol w="685800"/>
              </a:tblGrid>
              <a:tr h="313006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TC#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Testing Type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Input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Expected Output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Obtained Result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Remarks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</a:tr>
              <a:tr h="313006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latin typeface="Calibri"/>
                        </a:rPr>
                        <a:t>TC-01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Unit (Client)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Target email: victim@example.com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Compute 64-char SHA-256 locally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Local hash computed in browser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27AE60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No cleartext sent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</a:tr>
              <a:tr h="313006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latin typeface="Calibri"/>
                        </a:rPr>
                        <a:t>TC-02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Unit (Client)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SHA-256 hash string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Slice exactly first 5 hex chars as prefix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Prefix 'e3b0c' extracted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27AE60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20-bit entropy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3006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latin typeface="Calibri"/>
                        </a:rPr>
                        <a:t>TC-03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Unit (Server)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Generated 6-digit OTP: 482910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Store salted bcrypt hash in DB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Salted hash stored ($2a$10$...)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27AE60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Safe at rest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</a:tr>
              <a:tr h="313006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latin typeface="Calibri"/>
                        </a:rPr>
                        <a:t>TC-04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Unit (Server)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OTP request within 30s cooldown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Return HTTP 429 Too Many Requests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HTTP 429 returned with countdown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27AE60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Cooldown enforced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3006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latin typeface="Calibri"/>
                        </a:rPr>
                        <a:t>TC-05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Unit (Server)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5 consecutive wrong OTP attempts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Lockout target identifier for 15 mins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HTTP 403 returned: Account Locked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27AE60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Brute-force blocked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</a:tr>
              <a:tr h="313006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latin typeface="Calibri"/>
                        </a:rPr>
                        <a:t>TC-06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Integration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Valid email OTP request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Nodemailer dispatches via Gmail SMTP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Email received with 6-digit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27AE60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Out-of-band verified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3006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latin typeface="Calibri"/>
                        </a:rPr>
                        <a:t>TC-07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Integration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Phone OTP request via WebSocket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Relay payload over /ws/gateway to Android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Android SmsManager dispatches SMS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27AE60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Carrier-safe relay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</a:tr>
              <a:tr h="313006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latin typeface="Calibri"/>
                        </a:rPr>
                        <a:t>TC-08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Integration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Query with 5-char prefix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Aggregate Telegram, HIBP &amp; Local datasets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Unified JSON response returned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27AE60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Promise.allSettled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3006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latin typeface="Calibri"/>
                        </a:rPr>
                        <a:t>TC-09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Integration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URL: paypa1-secure-login.tk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UrlBERT predicts Phishing prob &gt; 65%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Classified as PHISHING (89% prob)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27AE60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Live model verified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</a:tr>
              <a:tr h="313006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latin typeface="Calibri"/>
                        </a:rPr>
                        <a:t>TC-10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Integration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Batch of 10 audit log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Construct SHA-256 Merkle tree &amp; root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Valid 32-byte Merkle root computed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27AE60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Deterministic hashes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3006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latin typeface="Calibri"/>
                        </a:rPr>
                        <a:t>TC-11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System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Anchor Merkle root to Hardhat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AnchorRegistry.sol commits anchorRoot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EVM transaction mined with receipt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27AE60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On-chain ledger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</a:tr>
              <a:tr h="313008">
                <a:tc>
                  <a:txBody>
                    <a:bodyPr/>
                    <a:lstStyle/>
                    <a:p>
                      <a:pPr algn="ctr"/>
                      <a:r>
                        <a:rPr sz="700">
                          <a:latin typeface="Calibri"/>
                        </a:rPr>
                        <a:t>TC-12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System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Mutate 1 byte in anchored audit 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Merkle proof verification must fail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Cryptographic mismatch detected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27AE60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>
                          <a:latin typeface="Calibri"/>
                        </a:rPr>
                        <a:t>Tamper evidence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636466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396343" y="822327"/>
            <a:ext cx="219269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>
                <a:srgbClr val="1581AA"/>
              </a:buClr>
              <a:buSzPts val="2800"/>
            </a:pPr>
            <a:r>
              <a:rPr lang="en-US" sz="2400" b="1" dirty="0">
                <a:solidFill>
                  <a:srgbClr val="1581AA"/>
                </a:solidFill>
                <a:latin typeface="Calibri"/>
                <a:ea typeface="Calibri"/>
                <a:cs typeface="Calibri"/>
                <a:sym typeface="Calibri"/>
              </a:rPr>
              <a:t>RESULTS</a:t>
            </a:r>
          </a:p>
        </p:txBody>
      </p:sp>
      <p:sp>
        <p:nvSpPr>
          <p:cNvPr id="4" name="Google Shape;98;g2eff20282af_0_123">
            <a:extLst>
              <a:ext uri="{FF2B5EF4-FFF2-40B4-BE49-F238E27FC236}">
                <a16:creationId xmlns:a16="http://schemas.microsoft.com/office/drawing/2014/main" id="{A38664D7-FD3A-CA14-36C0-C16BE487AE1A}"/>
              </a:ext>
            </a:extLst>
          </p:cNvPr>
          <p:cNvSpPr txBox="1"/>
          <p:nvPr/>
        </p:nvSpPr>
        <p:spPr>
          <a:xfrm>
            <a:off x="180714" y="2784670"/>
            <a:ext cx="1379100" cy="3078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Dept. of ISE</a:t>
            </a:r>
            <a:endParaRPr sz="1400" b="0" i="0" u="none" strike="noStrike" cap="none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5" name="Picture 4" descr="fig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777240"/>
            <a:ext cx="3154680" cy="2011680"/>
          </a:xfrm>
          <a:prstGeom prst="rect">
            <a:avLst/>
          </a:prstGeom>
        </p:spPr>
      </p:pic>
      <p:pic>
        <p:nvPicPr>
          <p:cNvPr id="6" name="Picture 5" descr="fig_per_class_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777240"/>
            <a:ext cx="3154680" cy="2011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48840" y="2880360"/>
            <a:ext cx="64008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050" b="1">
                <a:solidFill>
                  <a:srgbClr val="102C57"/>
                </a:solidFill>
                <a:latin typeface="Calibri"/>
              </a:rPr>
              <a:t>Empirical Performance &amp; System Results: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102C57"/>
                </a:solidFill>
                <a:latin typeface="Calibri"/>
              </a:rPr>
              <a:t>• Machine Learning Benchmark (1,034 Curated Records): </a:t>
            </a:r>
            <a:r>
              <a:rPr sz="900" b="0">
                <a:solidFill>
                  <a:srgbClr val="1E1E1E"/>
                </a:solidFill>
                <a:latin typeface="Calibri"/>
              </a:rPr>
              <a:t>XGBoost achieved 89.2% accuracy and 83.2% Macro F1, significantly outperforming 1D-CNN (66.2%), Transformers (48.4%), and BiLSTM (44.6%). Inference latency averaged 1.4 ms.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102C57"/>
                </a:solidFill>
                <a:latin typeface="Calibri"/>
              </a:rPr>
              <a:t>• Balanced Severity Classification: </a:t>
            </a:r>
            <a:r>
              <a:rPr sz="900" b="0">
                <a:solidFill>
                  <a:srgbClr val="1E1E1E"/>
                </a:solidFill>
                <a:latin typeface="Calibri"/>
              </a:rPr>
              <a:t>Robust F1 performance across all operational tiers: LOW (72.0%), MEDIUM (91.3%), HIGH (91.8%), and CRITICAL (77.8%).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102C57"/>
                </a:solidFill>
                <a:latin typeface="Calibri"/>
              </a:rPr>
              <a:t>• End-to-End Query Privacy &amp; Speed: </a:t>
            </a:r>
            <a:r>
              <a:rPr sz="900" b="0">
                <a:solidFill>
                  <a:srgbClr val="1E1E1E"/>
                </a:solidFill>
                <a:latin typeface="Calibri"/>
              </a:rPr>
              <a:t>Average query latency measured 742 ms with zero plaintext email/phone disclosure verified across network traffic.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102C57"/>
                </a:solidFill>
                <a:latin typeface="Calibri"/>
              </a:rPr>
              <a:t>• Cryptographic Audit Immutability: </a:t>
            </a:r>
            <a:r>
              <a:rPr sz="900" b="0">
                <a:solidFill>
                  <a:srgbClr val="1E1E1E"/>
                </a:solidFill>
                <a:latin typeface="Calibri"/>
              </a:rPr>
              <a:t>100% detection rate during adversarial tamper testing on EVM smart contract Merkle root verification.</a:t>
            </a:r>
          </a:p>
        </p:txBody>
      </p:sp>
    </p:spTree>
    <p:extLst>
      <p:ext uri="{BB962C8B-B14F-4D97-AF65-F5344CB8AC3E}">
        <p14:creationId xmlns:p14="http://schemas.microsoft.com/office/powerpoint/2010/main" val="19157976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EA1A492-DC90-E017-4A7D-4FC71B18C8F2}"/>
              </a:ext>
            </a:extLst>
          </p:cNvPr>
          <p:cNvSpPr/>
          <p:nvPr/>
        </p:nvSpPr>
        <p:spPr>
          <a:xfrm>
            <a:off x="1350169" y="472279"/>
            <a:ext cx="589359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>
                <a:srgbClr val="1581AA"/>
              </a:buClr>
              <a:buSzPts val="2800"/>
            </a:pPr>
            <a:r>
              <a:rPr lang="en-US" sz="2400" b="1" dirty="0">
                <a:solidFill>
                  <a:srgbClr val="1581AA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</a:p>
        </p:txBody>
      </p:sp>
      <p:sp>
        <p:nvSpPr>
          <p:cNvPr id="2" name="Google Shape;98;g2eff20282af_0_123">
            <a:extLst>
              <a:ext uri="{FF2B5EF4-FFF2-40B4-BE49-F238E27FC236}">
                <a16:creationId xmlns:a16="http://schemas.microsoft.com/office/drawing/2014/main" id="{2058C148-CECC-2E0B-9332-3E051389814A}"/>
              </a:ext>
            </a:extLst>
          </p:cNvPr>
          <p:cNvSpPr txBox="1"/>
          <p:nvPr/>
        </p:nvSpPr>
        <p:spPr>
          <a:xfrm>
            <a:off x="180714" y="2784670"/>
            <a:ext cx="1379100" cy="3078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Dept. of ISE</a:t>
            </a:r>
            <a:endParaRPr sz="1400" b="0" i="0" u="none" strike="noStrike" cap="none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48840" y="777240"/>
            <a:ext cx="640080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102C57"/>
                </a:solidFill>
                <a:latin typeface="Calibri"/>
              </a:rPr>
              <a:t>Summary of Technical Achievements: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00" b="1">
                <a:solidFill>
                  <a:srgbClr val="102C57"/>
                </a:solidFill>
                <a:latin typeface="Calibri"/>
              </a:rPr>
              <a:t>• Eliminated Query Surveillance: </a:t>
            </a:r>
            <a:r>
              <a:rPr sz="1000" b="0">
                <a:solidFill>
                  <a:srgbClr val="1E1E1E"/>
                </a:solidFill>
                <a:latin typeface="Calibri"/>
              </a:rPr>
              <a:t>Successfully deployed a client-side k-anonymity protocol using WebCrypto SHA-256 prefix matching, ensuring raw PII never crosses network boundaries.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00" b="1">
                <a:solidFill>
                  <a:srgbClr val="102C57"/>
                </a:solidFill>
                <a:latin typeface="Calibri"/>
              </a:rPr>
              <a:t>• Multi-Tier Full-Stack Harmonization: </a:t>
            </a:r>
            <a:r>
              <a:rPr sz="1000" b="0">
                <a:solidFill>
                  <a:srgbClr val="1E1E1E"/>
                </a:solidFill>
                <a:latin typeface="Calibri"/>
              </a:rPr>
              <a:t>Engineered clean interfaces across React 19 frontend HUD, Express 5 gateway, FastAPI ML engine, Android SMS companion, and Hardhat EVM blockchain.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00" b="1">
                <a:solidFill>
                  <a:srgbClr val="102C57"/>
                </a:solidFill>
                <a:latin typeface="Calibri"/>
              </a:rPr>
              <a:t>• Empirical Severity Intelligence: </a:t>
            </a:r>
            <a:r>
              <a:rPr sz="1000" b="0">
                <a:solidFill>
                  <a:srgbClr val="1E1E1E"/>
                </a:solidFill>
                <a:latin typeface="Calibri"/>
              </a:rPr>
              <a:t>Curated a verified 1,034-record benchmark, establishing XGBoost gradient-boosted trees as the optimal model for structured breach intelligence (89.2% accuracy).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00" b="1">
                <a:solidFill>
                  <a:srgbClr val="102C57"/>
                </a:solidFill>
                <a:latin typeface="Calibri"/>
              </a:rPr>
              <a:t>• Tamper-Evident Forensic Audit Trail: </a:t>
            </a:r>
            <a:r>
              <a:rPr sz="1000" b="0">
                <a:solidFill>
                  <a:srgbClr val="1E1E1E"/>
                </a:solidFill>
                <a:latin typeface="Calibri"/>
              </a:rPr>
              <a:t>Deployed Merkle-tree batching anchored into AnchorRegistry.sol smart contract, delivering mathematical non-repudiation.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00" b="1">
                <a:solidFill>
                  <a:srgbClr val="102C57"/>
                </a:solidFill>
                <a:latin typeface="Calibri"/>
              </a:rPr>
              <a:t>• 100% Test Verification &amp; Scholarly Publication: </a:t>
            </a:r>
            <a:r>
              <a:rPr sz="1000" b="0">
                <a:solidFill>
                  <a:srgbClr val="1E1E1E"/>
                </a:solidFill>
                <a:latin typeface="Calibri"/>
              </a:rPr>
              <a:t>Passed all 175 automated test suites and achieved accepted IEEE conference publication.</a:t>
            </a:r>
          </a:p>
        </p:txBody>
      </p:sp>
    </p:spTree>
    <p:extLst>
      <p:ext uri="{BB962C8B-B14F-4D97-AF65-F5344CB8AC3E}">
        <p14:creationId xmlns:p14="http://schemas.microsoft.com/office/powerpoint/2010/main" val="38378248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8D546BA-32F1-10DD-D444-3B888F5F9036}"/>
              </a:ext>
            </a:extLst>
          </p:cNvPr>
          <p:cNvSpPr/>
          <p:nvPr/>
        </p:nvSpPr>
        <p:spPr>
          <a:xfrm>
            <a:off x="1350169" y="822327"/>
            <a:ext cx="589359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>
                <a:srgbClr val="1581AA"/>
              </a:buClr>
              <a:buSzPts val="2800"/>
            </a:pPr>
            <a:r>
              <a:rPr lang="en-US" sz="2400" b="1" dirty="0">
                <a:solidFill>
                  <a:srgbClr val="1581AA"/>
                </a:solidFill>
                <a:latin typeface="Calibri"/>
                <a:ea typeface="Calibri"/>
                <a:cs typeface="Calibri"/>
                <a:sym typeface="Calibri"/>
              </a:rPr>
              <a:t>FUTURE ENHANCEMENTS</a:t>
            </a:r>
          </a:p>
        </p:txBody>
      </p:sp>
      <p:sp>
        <p:nvSpPr>
          <p:cNvPr id="2" name="Google Shape;98;g2eff20282af_0_123">
            <a:extLst>
              <a:ext uri="{FF2B5EF4-FFF2-40B4-BE49-F238E27FC236}">
                <a16:creationId xmlns:a16="http://schemas.microsoft.com/office/drawing/2014/main" id="{F8A021D2-3E3E-40D8-EFD1-3A63E235E416}"/>
              </a:ext>
            </a:extLst>
          </p:cNvPr>
          <p:cNvSpPr txBox="1"/>
          <p:nvPr/>
        </p:nvSpPr>
        <p:spPr>
          <a:xfrm>
            <a:off x="180714" y="2784670"/>
            <a:ext cx="1379100" cy="3078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Dept. of ISE</a:t>
            </a:r>
            <a:endParaRPr sz="1400" b="0" i="0" u="none" strike="noStrike" cap="none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48840" y="777240"/>
            <a:ext cx="640080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102C57"/>
                </a:solidFill>
                <a:latin typeface="Calibri"/>
              </a:rPr>
              <a:t>Future Scalability &amp; Development Roadmap: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00" b="1">
                <a:solidFill>
                  <a:srgbClr val="102C57"/>
                </a:solidFill>
                <a:latin typeface="Calibri"/>
              </a:rPr>
              <a:t>• Ethereum Layer-2 Rollup Mainnet: </a:t>
            </a:r>
            <a:r>
              <a:rPr sz="1000" b="0">
                <a:solidFill>
                  <a:srgbClr val="1E1E1E"/>
                </a:solidFill>
                <a:latin typeface="Calibri"/>
              </a:rPr>
              <a:t>Migrate AnchorRegistry.sol smart contract from local Hardhat testnet to Arbitrum or Polygon for cost-effective public blockchain consensus.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00" b="1">
                <a:solidFill>
                  <a:srgbClr val="102C57"/>
                </a:solidFill>
                <a:latin typeface="Calibri"/>
              </a:rPr>
              <a:t>• Zero-Knowledge Proofs (zk-SNARKs): </a:t>
            </a:r>
            <a:r>
              <a:rPr sz="1000" b="0">
                <a:solidFill>
                  <a:srgbClr val="1E1E1E"/>
                </a:solidFill>
                <a:latin typeface="Calibri"/>
              </a:rPr>
              <a:t>Upgrade k-anonymity protocol to zk-SNARKs, allowing users to prove credential compromise status mathematically without downloading suffix partitions.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00" b="1">
                <a:solidFill>
                  <a:srgbClr val="102C57"/>
                </a:solidFill>
                <a:latin typeface="Calibri"/>
              </a:rPr>
              <a:t>• Distributed Dark-Web Tor/I2P Crawlers: </a:t>
            </a:r>
            <a:r>
              <a:rPr sz="1000" b="0">
                <a:solidFill>
                  <a:srgbClr val="1E1E1E"/>
                </a:solidFill>
                <a:latin typeface="Calibri"/>
              </a:rPr>
              <a:t>Deploy headless containerized scrapers navigating hidden onion services and decentralized pastebins.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00" b="1">
                <a:solidFill>
                  <a:srgbClr val="102C57"/>
                </a:solidFill>
                <a:latin typeface="Calibri"/>
              </a:rPr>
              <a:t>• Automated Enterprise Credential Revocation: </a:t>
            </a:r>
            <a:r>
              <a:rPr sz="1000" b="0">
                <a:solidFill>
                  <a:srgbClr val="1E1E1E"/>
                </a:solidFill>
                <a:latin typeface="Calibri"/>
              </a:rPr>
              <a:t>Integrate with Okta, Azure AD, and Ping Identity via SCIM APIs to trigger automated credential rotation upon breach detection.</a:t>
            </a:r>
          </a:p>
        </p:txBody>
      </p:sp>
    </p:spTree>
    <p:extLst>
      <p:ext uri="{BB962C8B-B14F-4D97-AF65-F5344CB8AC3E}">
        <p14:creationId xmlns:p14="http://schemas.microsoft.com/office/powerpoint/2010/main" val="36559522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98;g2eff20282af_0_123">
            <a:extLst>
              <a:ext uri="{FF2B5EF4-FFF2-40B4-BE49-F238E27FC236}">
                <a16:creationId xmlns:a16="http://schemas.microsoft.com/office/drawing/2014/main" id="{ADE58A2F-24A3-1068-3491-FB662339537D}"/>
              </a:ext>
            </a:extLst>
          </p:cNvPr>
          <p:cNvSpPr txBox="1"/>
          <p:nvPr/>
        </p:nvSpPr>
        <p:spPr>
          <a:xfrm>
            <a:off x="180714" y="2784670"/>
            <a:ext cx="1379100" cy="3078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Dept. of ISE</a:t>
            </a:r>
            <a:endParaRPr sz="1400" b="0" i="0" u="none" strike="noStrike" cap="none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F62B824-C693-4C9D-F03D-61B7715C1CDE}"/>
              </a:ext>
            </a:extLst>
          </p:cNvPr>
          <p:cNvSpPr/>
          <p:nvPr/>
        </p:nvSpPr>
        <p:spPr>
          <a:xfrm>
            <a:off x="1350169" y="822327"/>
            <a:ext cx="589359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>
                <a:srgbClr val="1581AA"/>
              </a:buClr>
              <a:buSzPts val="2800"/>
            </a:pPr>
            <a:r>
              <a:rPr lang="en-US" sz="2400" b="1" dirty="0">
                <a:solidFill>
                  <a:srgbClr val="1581AA"/>
                </a:solidFill>
                <a:latin typeface="Calibri"/>
                <a:ea typeface="Calibri"/>
                <a:cs typeface="Calibri"/>
                <a:sym typeface="Calibri"/>
              </a:rPr>
              <a:t>RESEARCH PAPER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777240"/>
            <a:ext cx="640080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102C57"/>
                </a:solidFill>
                <a:latin typeface="Calibri"/>
              </a:rPr>
              <a:t>Accepted IEEE Conference Research Paper: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000" b="1">
                <a:solidFill>
                  <a:srgbClr val="1E1E1E"/>
                </a:solidFill>
                <a:latin typeface="Calibri"/>
              </a:rPr>
              <a:t>• Title: </a:t>
            </a:r>
            <a:r>
              <a:rPr sz="1000" b="0">
                <a:solidFill>
                  <a:srgbClr val="1E1E1E"/>
                </a:solidFill>
                <a:latin typeface="Calibri"/>
              </a:rPr>
              <a:t>BreachShield: A Privacy-Preserving OSINT Breach Intelligence Platform with k-Anonymous Search and Blockchain-Anchored Audit Logging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50" b="1">
                <a:solidFill>
                  <a:srgbClr val="102C57"/>
                </a:solidFill>
                <a:latin typeface="Calibri"/>
              </a:rPr>
              <a:t>• Authors: </a:t>
            </a:r>
            <a:r>
              <a:rPr sz="950" b="0">
                <a:solidFill>
                  <a:srgbClr val="1E1E1E"/>
                </a:solidFill>
                <a:latin typeface="Calibri"/>
              </a:rPr>
              <a:t>Arvind D. H., Girishkumar N. M., Manoj, Premkumar Teli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50" b="1">
                <a:solidFill>
                  <a:srgbClr val="102C57"/>
                </a:solidFill>
                <a:latin typeface="Calibri"/>
              </a:rPr>
              <a:t>• Project Guide: </a:t>
            </a:r>
            <a:r>
              <a:rPr sz="950" b="0">
                <a:solidFill>
                  <a:srgbClr val="1E1E1E"/>
                </a:solidFill>
                <a:latin typeface="Calibri"/>
              </a:rPr>
              <a:t>Prof. Sushma T. M. (Assistant Professor, Dept. of ISE)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50" b="1">
                <a:solidFill>
                  <a:srgbClr val="27AE60"/>
                </a:solidFill>
                <a:latin typeface="Calibri"/>
              </a:rPr>
              <a:t>• Status: </a:t>
            </a:r>
            <a:r>
              <a:rPr sz="950" b="0">
                <a:solidFill>
                  <a:srgbClr val="1E1E1E"/>
                </a:solidFill>
                <a:latin typeface="Calibri"/>
              </a:rPr>
              <a:t>Accepted for Presentation and Inclusion in IEEE Conference Proceedings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50" b="1">
                <a:solidFill>
                  <a:srgbClr val="102C57"/>
                </a:solidFill>
                <a:latin typeface="Calibri"/>
              </a:rPr>
              <a:t>• Institutional Record: </a:t>
            </a:r>
            <a:r>
              <a:rPr sz="950" b="0">
                <a:solidFill>
                  <a:srgbClr val="1E1E1E"/>
                </a:solidFill>
                <a:latin typeface="Calibri"/>
              </a:rPr>
              <a:t>Course Outcome Evaluation Certificate (COE-BIS786) on record in departmental archive.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050" b="1">
                <a:solidFill>
                  <a:srgbClr val="102C57"/>
                </a:solidFill>
                <a:latin typeface="Calibri"/>
              </a:rPr>
              <a:t>Key Published Research Innovations: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102C57"/>
                </a:solidFill>
                <a:latin typeface="Calibri"/>
              </a:rPr>
              <a:t>1. Formalized k-Anonymity Search: </a:t>
            </a:r>
            <a:r>
              <a:rPr sz="900" b="0">
                <a:solidFill>
                  <a:srgbClr val="1E1E1E"/>
                </a:solidFill>
                <a:latin typeface="Calibri"/>
              </a:rPr>
              <a:t>Client-side 5-hex SHA-256 partition protocol guaranteeing zero raw identifier transmission.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102C57"/>
                </a:solidFill>
                <a:latin typeface="Calibri"/>
              </a:rPr>
              <a:t>2. Empirical Severity Benchmark: </a:t>
            </a:r>
            <a:r>
              <a:rPr sz="900" b="0">
                <a:solidFill>
                  <a:srgbClr val="1E1E1E"/>
                </a:solidFill>
                <a:latin typeface="Calibri"/>
              </a:rPr>
              <a:t>1,034 curated breach records demonstrating XGBoost superiority over deep neural networks.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102C57"/>
                </a:solidFill>
                <a:latin typeface="Calibri"/>
              </a:rPr>
              <a:t>3. Merkle Blockchain Audit Ledger: </a:t>
            </a:r>
            <a:r>
              <a:rPr sz="900" b="0">
                <a:solidFill>
                  <a:srgbClr val="1E1E1E"/>
                </a:solidFill>
                <a:latin typeface="Calibri"/>
              </a:rPr>
              <a:t>Deterministic canonical serialization and Solidity EVM smart contract anchoring.</a:t>
            </a:r>
          </a:p>
        </p:txBody>
      </p:sp>
    </p:spTree>
    <p:extLst>
      <p:ext uri="{BB962C8B-B14F-4D97-AF65-F5344CB8AC3E}">
        <p14:creationId xmlns:p14="http://schemas.microsoft.com/office/powerpoint/2010/main" val="16611478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6"/>
          <p:cNvSpPr txBox="1">
            <a:spLocks noGrp="1"/>
          </p:cNvSpPr>
          <p:nvPr>
            <p:ph type="body" idx="1"/>
          </p:nvPr>
        </p:nvSpPr>
        <p:spPr>
          <a:xfrm>
            <a:off x="688623" y="255528"/>
            <a:ext cx="7538184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03200" lvl="0" indent="0" algn="ctr" rtl="0">
              <a:spcBef>
                <a:spcPts val="0"/>
              </a:spcBef>
              <a:spcAft>
                <a:spcPts val="0"/>
              </a:spcAft>
              <a:buClr>
                <a:srgbClr val="1581AA"/>
              </a:buClr>
              <a:buSzPts val="2800"/>
              <a:buFont typeface="Calibri"/>
              <a:buNone/>
            </a:pPr>
            <a:r>
              <a:rPr lang="en-US" sz="2800" b="1" dirty="0">
                <a:solidFill>
                  <a:srgbClr val="1581AA"/>
                </a:solidFill>
                <a:latin typeface="Calibri"/>
                <a:ea typeface="Calibri"/>
                <a:cs typeface="Calibri"/>
                <a:sym typeface="Calibri"/>
              </a:rPr>
              <a:t>References </a:t>
            </a:r>
            <a:endParaRPr b="1" dirty="0"/>
          </a:p>
        </p:txBody>
      </p:sp>
      <p:sp>
        <p:nvSpPr>
          <p:cNvPr id="2" name="Google Shape;98;g2eff20282af_0_123">
            <a:extLst>
              <a:ext uri="{FF2B5EF4-FFF2-40B4-BE49-F238E27FC236}">
                <a16:creationId xmlns:a16="http://schemas.microsoft.com/office/drawing/2014/main" id="{32D7C325-EC14-BA32-DFA1-774888164E6D}"/>
              </a:ext>
            </a:extLst>
          </p:cNvPr>
          <p:cNvSpPr txBox="1"/>
          <p:nvPr/>
        </p:nvSpPr>
        <p:spPr>
          <a:xfrm>
            <a:off x="180714" y="2784670"/>
            <a:ext cx="1379100" cy="3078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Dept. of ISE</a:t>
            </a:r>
            <a:endParaRPr sz="1400" b="0" i="0" u="none" strike="noStrike" cap="none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2148840" y="777240"/>
            <a:ext cx="640080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102C57"/>
                </a:solidFill>
                <a:latin typeface="Calibri"/>
              </a:rPr>
              <a:t>References (IEEE Format):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800" b="1">
                <a:solidFill>
                  <a:srgbClr val="102C57"/>
                </a:solidFill>
                <a:latin typeface="Calibri"/>
              </a:rPr>
              <a:t>[1] R. Aljofey et al., "An effective convolutional neural network for phishing detection using character-level URL features," Computers &amp; Security, vol. 116, p. 102674, 2022.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800" b="1">
                <a:solidFill>
                  <a:srgbClr val="102C57"/>
                </a:solidFill>
                <a:latin typeface="Calibri"/>
              </a:rPr>
              <a:t>[2] O. K. Sahingoz et al., "Machine learning based phishing detection from URLs," Expert Systems with Applications, vol. 117, pp. 345–357, 2019.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800" b="1">
                <a:solidFill>
                  <a:srgbClr val="102C57"/>
                </a:solidFill>
                <a:latin typeface="Calibri"/>
              </a:rPr>
              <a:t>[3] F. Alsubaei et al., "A hybrid deep learning-based framework for phishing URL detection with SMOTE," IEEE Access, vol. 10, pp. 88124–88137, 2022.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800" b="1">
                <a:solidFill>
                  <a:srgbClr val="102C57"/>
                </a:solidFill>
                <a:latin typeface="Calibri"/>
              </a:rPr>
              <a:t>[4] M. Pavani et al., "Explainable AI for malicious URL detection using SHAP and LIME," IEEE Trans. Information Forensics and Security, 2023.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800" b="1">
                <a:solidFill>
                  <a:srgbClr val="102C57"/>
                </a:solidFill>
                <a:latin typeface="Calibri"/>
              </a:rPr>
              <a:t>[5] NIST Special Publication 800-63B, "Digital Identity Guidelines: Authentication and Lifecycle Management," National Institute of Standards and Technology, 2020.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800" b="1">
                <a:solidFill>
                  <a:srgbClr val="102C57"/>
                </a:solidFill>
                <a:latin typeface="Calibri"/>
              </a:rPr>
              <a:t>[6] M. Kuhn et al., "Systematic evaluation of dark-web monitoring methodology," ACM Computing Surveys, vol. 55, no. 4, pp. 1–35, 2023.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800" b="1">
                <a:solidFill>
                  <a:srgbClr val="102C57"/>
                </a:solidFill>
                <a:latin typeface="Calibri"/>
              </a:rPr>
              <a:t>[7] IBM Security, "Cost of a Data Breach Report 2024," IBM Corporation, Tech. Rep., 2024.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800" b="1">
                <a:solidFill>
                  <a:srgbClr val="102C57"/>
                </a:solidFill>
                <a:latin typeface="Calibri"/>
              </a:rPr>
              <a:t>[8] T. Chen and C. Guestrin, "XGBoost: A scalable tree boosting system," in Proc. 22nd ACM SIGKDD, 2016, pp. 785–794.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800" b="1">
                <a:solidFill>
                  <a:srgbClr val="102C57"/>
                </a:solidFill>
                <a:latin typeface="Calibri"/>
              </a:rPr>
              <a:t>[9] R. C. Merkle, "A digital signature based on a conventional encryption function," in CRYPTO '87, 1988.</a:t>
            </a:r>
          </a:p>
        </p:txBody>
      </p:sp>
    </p:spTree>
    <p:extLst>
      <p:ext uri="{BB962C8B-B14F-4D97-AF65-F5344CB8AC3E}">
        <p14:creationId xmlns:p14="http://schemas.microsoft.com/office/powerpoint/2010/main" val="42835586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12" descr="Icon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09695" y="730424"/>
            <a:ext cx="3612192" cy="3212926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12"/>
          <p:cNvSpPr txBox="1"/>
          <p:nvPr/>
        </p:nvSpPr>
        <p:spPr>
          <a:xfrm>
            <a:off x="564062" y="4740710"/>
            <a:ext cx="574632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1" dirty="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15</a:t>
            </a:r>
            <a:endParaRPr sz="2000" i="1" dirty="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" name="Google Shape;98;g2eff20282af_0_123">
            <a:extLst>
              <a:ext uri="{FF2B5EF4-FFF2-40B4-BE49-F238E27FC236}">
                <a16:creationId xmlns:a16="http://schemas.microsoft.com/office/drawing/2014/main" id="{7F4EB0A8-1808-F7F2-F796-174F5E11C465}"/>
              </a:ext>
            </a:extLst>
          </p:cNvPr>
          <p:cNvSpPr txBox="1"/>
          <p:nvPr/>
        </p:nvSpPr>
        <p:spPr>
          <a:xfrm>
            <a:off x="180714" y="2784670"/>
            <a:ext cx="1379100" cy="3078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Dept. of ISE</a:t>
            </a:r>
            <a:endParaRPr sz="1400" b="0" i="0" u="none" strike="noStrike" cap="none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3"/>
          <p:cNvSpPr txBox="1"/>
          <p:nvPr/>
        </p:nvSpPr>
        <p:spPr>
          <a:xfrm>
            <a:off x="650081" y="4743450"/>
            <a:ext cx="642938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1" dirty="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16</a:t>
            </a:r>
            <a:endParaRPr sz="2000" b="1" i="1" dirty="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59" name="Google Shape;159;p13"/>
          <p:cNvSpPr txBox="1"/>
          <p:nvPr/>
        </p:nvSpPr>
        <p:spPr>
          <a:xfrm>
            <a:off x="3200400" y="2343150"/>
            <a:ext cx="27432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0" name="Google Shape;160;p13" descr="A picture containing text, stationary, writing implement, pen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001982" y="1136073"/>
            <a:ext cx="6147176" cy="324164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98;g2eff20282af_0_123">
            <a:extLst>
              <a:ext uri="{FF2B5EF4-FFF2-40B4-BE49-F238E27FC236}">
                <a16:creationId xmlns:a16="http://schemas.microsoft.com/office/drawing/2014/main" id="{DA73314A-428B-36EA-2C38-BC6CD16A4E61}"/>
              </a:ext>
            </a:extLst>
          </p:cNvPr>
          <p:cNvSpPr txBox="1"/>
          <p:nvPr/>
        </p:nvSpPr>
        <p:spPr>
          <a:xfrm>
            <a:off x="180714" y="2784670"/>
            <a:ext cx="1379100" cy="3078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Dept. of ISE</a:t>
            </a:r>
            <a:endParaRPr sz="1400" b="0" i="0" u="none" strike="noStrike" cap="none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harya-IS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onts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harya-ISE" id="{DB94E7EE-DE31-4F29-AA83-14CD25B5A065}" vid="{1A5B67FE-FD36-4B9E-AA94-BCA7123422E5}"/>
    </a:ext>
  </a:extLst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Acharya-ISE</Template>
  <TotalTime>1197</TotalTime>
  <Words>436</Words>
  <Application>Microsoft Office PowerPoint</Application>
  <PresentationFormat>On-screen Show (16:9)</PresentationFormat>
  <Paragraphs>112</Paragraphs>
  <Slides>17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Noto Sans Symbols</vt:lpstr>
      <vt:lpstr>Century Gothic</vt:lpstr>
      <vt:lpstr>Arial</vt:lpstr>
      <vt:lpstr>Times New Roman</vt:lpstr>
      <vt:lpstr>Calibri</vt:lpstr>
      <vt:lpstr>Acharya-ISE</vt:lpstr>
      <vt:lpstr>TITLE:</vt:lpstr>
      <vt:lpstr>Agenda</vt:lpstr>
      <vt:lpstr>Abstract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TITLE: &lt;write your project title&gt;</dc:title>
  <dc:creator>Dr. Pankaj Kumar</dc:creator>
  <cp:lastModifiedBy>pankaj kumar</cp:lastModifiedBy>
  <cp:revision>44</cp:revision>
  <dcterms:modified xsi:type="dcterms:W3CDTF">2026-10-07T14:27:01Z</dcterms:modified>
</cp:coreProperties>
</file>