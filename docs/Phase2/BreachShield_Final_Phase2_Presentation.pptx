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77" r:id="rId7"/>
    <p:sldId id="260" r:id="rId8"/>
    <p:sldId id="261" r:id="rId9"/>
    <p:sldId id="280" r:id="rId10"/>
    <p:sldId id="281" r:id="rId11"/>
    <p:sldId id="284" r:id="rId12"/>
    <p:sldId id="282" r:id="rId13"/>
    <p:sldId id="283" r:id="rId14"/>
    <p:sldId id="285" r:id="rId15"/>
    <p:sldId id="270" r:id="rId16"/>
    <p:sldId id="267" r:id="rId17"/>
    <p:sldId id="268" r:id="rId1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9wjYg4pY/HyKhMt35MO99UX9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8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8" Type="http://customschemas.google.com/relationships/presentationmetadata" Target="metadata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453624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19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7F4C-843C-B31F-6984-B15876E12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0B0EC-2550-1C96-9092-C533F387D2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95350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D170-920A-2D4E-2C5D-328923F8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47E0-1F1B-23B9-C03F-0953AB5DD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EDC67-AE64-C63B-B7CE-4AA8D54912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E849F-29B7-899D-3820-8F86BD90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07280-235B-4ED5-298E-91AFFDFDA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91321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FC0DB-E068-DF61-DDA8-E88C33A0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E3A397-B2B1-D55D-AC35-46099923A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1DC97-FC27-881A-C302-43DFC47F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78D8F-7705-7C40-8876-BC621971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52762-5F64-A15D-A7CC-0FB472C8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2411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A8F8-4C93-6C45-FFA3-0CE44CA9C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C966F-149B-29C8-59D7-567514BE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2363F-78F5-7B35-F066-AF272E2DA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62309-E80B-985C-BDDA-03ACE6AC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5085E-2B82-6149-4E7B-AB94F3EE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3A52D-B2C3-0693-0D97-E8700E8CA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59034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9BE3-B161-CDE6-0FBC-9B24B6F66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6472-6036-0C33-802A-E101A562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E027D-9414-AE87-0606-47B274383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5607B-F5B0-2140-62B5-38049D226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897D3-EAF3-1D5C-44D4-BE2D94975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53B1B-C430-7121-F572-605CD864C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6D1BD-5319-D9BE-0D46-939882A34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A6116-76D8-1059-3F84-D8E57254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97224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FB6AF-9B37-ACB1-2D61-FC38E6A7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21F720-D105-DE9E-909B-4B47F4CCBD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88AEE-19B7-BD80-0B69-68BF3A77E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34046-CE68-8199-39C8-252798D7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2086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6C08FC-5528-A37F-FFA5-BCF571AF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EC528-3997-C8C5-2D66-179D5788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F1F73-0C07-C38B-22E3-7BE16BCF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0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ED29-4B17-1B9D-84F8-DC8B063D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5440-402A-D481-EC74-766C6CCE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797F4-7184-32C9-88E7-4D8CC2621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934A6-0699-7C79-008F-5EB7EA19B8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AE608-3D8E-D8E2-BCE3-7F4E8462B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5A092-B516-BAA9-9210-C87D41E7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1932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51674-2773-85B9-5D13-675502CD0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6DBA7-288B-BB8F-6F19-2C72232DB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BEB4E-A422-51B8-5DD6-793D4AB09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A1595-DD64-C3D9-52C7-00EDCF340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E52C-6BAC-58A5-711E-C06A6B13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40756-A897-E5AA-D34C-CC3F5F5E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8431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0B52-4AF4-56B9-F5A4-F6A4DBBF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69D48-FE6E-F35E-6A39-B7CC694B2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1AA4F-6C0D-14ED-49FE-30E8B81A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EC5AA-7C76-2051-AD8F-A563A0D5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ABAB0-99F8-7686-147F-47249B3E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2163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783786-01A4-B97D-B4F8-9273FBC8B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9461E9-48A1-C875-9B58-6A9C57793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B4078-23E0-090E-90DC-0E02B8A9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A882A-0914-E019-7EBA-F983A19A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D0D4-35D8-4EF4-8158-517A6658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FB72222-6C3A-4325-989C-6ACC575F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2760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>
            <a:spLocks noGrp="1"/>
          </p:cNvSpPr>
          <p:nvPr>
            <p:ph type="pic" idx="2"/>
          </p:nvPr>
        </p:nvSpPr>
        <p:spPr>
          <a:xfrm>
            <a:off x="3429000" y="971550"/>
            <a:ext cx="236220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1"/>
          </p:nvPr>
        </p:nvSpPr>
        <p:spPr>
          <a:xfrm>
            <a:off x="381000" y="5715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4800600" y="57150"/>
            <a:ext cx="3276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dt" idx="10"/>
          </p:nvPr>
        </p:nvSpPr>
        <p:spPr>
          <a:xfrm>
            <a:off x="7772400" y="4602163"/>
            <a:ext cx="76676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ftr" idx="11"/>
          </p:nvPr>
        </p:nvSpPr>
        <p:spPr>
          <a:xfrm>
            <a:off x="1943100" y="4602163"/>
            <a:ext cx="57165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 sz="1400" b="0" i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1845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png"/><Relationship Id="rId16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876A83-E534-8A8B-1483-F5618D6B4F6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53738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C8704-CF87-8F5E-4EF2-FEAE9785955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6" y="1182082"/>
            <a:ext cx="1658405" cy="23005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474A41-4E7C-3B2B-B301-C6B54F5541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040" y="0"/>
            <a:ext cx="1932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33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1450182" y="2623741"/>
            <a:ext cx="3754582" cy="154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550"/>
              <a:buFont typeface="Times New Roman"/>
              <a:buNone/>
            </a:pPr>
            <a:r>
              <a:rPr sz="1000" b="1" i="0">
                <a:solidFill>
                  <a:srgbClr val="102C57"/>
                </a:solidFill>
                <a:latin typeface="Calibri"/>
              </a:rPr>
              <a:t>Under the Guidance of:
</a:t>
            </a:r>
            <a:r>
              <a:rPr sz="1100" b="1" i="0">
                <a:solidFill>
                  <a:srgbClr val="990000"/>
                </a:solidFill>
                <a:latin typeface="Calibri"/>
              </a:rPr>
              <a:t>Prof. Sushma T. M.
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Assistant Professor
Dept. of Information Science &amp; Engg.
Acharya Institute of Technology</a:t>
            </a:r>
            <a:endParaRPr sz="2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 idx="4294967295"/>
          </p:nvPr>
        </p:nvSpPr>
        <p:spPr>
          <a:xfrm>
            <a:off x="2108273" y="821188"/>
            <a:ext cx="5200000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102C57"/>
                </a:solidFill>
                <a:latin typeface="Calibri"/>
              </a:rPr>
              <a:t>BREACHSHIELD: AI-POWERED OSINT BREACH DETECTION &amp; DARK WEB INTELLIGENCE PLATFORM</a:t>
            </a:r>
            <a:endParaRPr sz="28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5195455" y="2493817"/>
            <a:ext cx="3401291" cy="2138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102C57"/>
                </a:solidFill>
                <a:latin typeface="Calibri"/>
              </a:rPr>
              <a:t>Batch No: 05
</a:t>
            </a:r>
            <a:r>
              <a:rPr sz="950" b="1" i="0">
                <a:solidFill>
                  <a:srgbClr val="102C57"/>
                </a:solidFill>
                <a:latin typeface="Calibri"/>
              </a:rPr>
              <a:t>Project Team Members:
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• Arvind D H               (1AY24IS400)
• Girishkumar N M    (1AY24IS404)
• Manoj                       (1AY24IS406)
• Premkumar Teli      (1AY24IS407)</a:t>
            </a:r>
            <a:endParaRPr dirty="0"/>
          </a:p>
        </p:txBody>
      </p:sp>
      <p:sp>
        <p:nvSpPr>
          <p:cNvPr id="58" name="Google Shape;58;p1"/>
          <p:cNvSpPr txBox="1"/>
          <p:nvPr/>
        </p:nvSpPr>
        <p:spPr>
          <a:xfrm>
            <a:off x="1416557" y="75486"/>
            <a:ext cx="7557796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3200" dirty="0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Major Project Phase-II </a:t>
            </a:r>
            <a:r>
              <a:rPr lang="en-US" sz="32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</a:p>
          <a:p>
            <a:pPr lvl="0" algn="ctr"/>
            <a:r>
              <a:rPr lang="en-US" sz="2400" b="0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(2026-2027)</a:t>
            </a:r>
            <a:endParaRPr sz="1050" dirty="0">
              <a:solidFill>
                <a:srgbClr val="C00000"/>
              </a:solidFill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5D59EBE-BC85-3287-B29E-CC3CCF5DDE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55;p1">
            <a:extLst>
              <a:ext uri="{FF2B5EF4-FFF2-40B4-BE49-F238E27FC236}">
                <a16:creationId xmlns:a16="http://schemas.microsoft.com/office/drawing/2014/main" id="{AC3DC087-E359-93E6-4B99-7D7CF607A2B7}"/>
              </a:ext>
            </a:extLst>
          </p:cNvPr>
          <p:cNvSpPr txBox="1">
            <a:spLocks/>
          </p:cNvSpPr>
          <p:nvPr/>
        </p:nvSpPr>
        <p:spPr>
          <a:xfrm>
            <a:off x="2604764" y="1504952"/>
            <a:ext cx="5200000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990000"/>
                </a:solidFill>
                <a:latin typeface="Calibri"/>
              </a:rPr>
              <a:t>Subject Code: BIS786  |  Academic Year: 2026-2027</a:t>
            </a:r>
            <a:endParaRPr lang="en-US" sz="2800" b="1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fld>
            <a:endParaRPr sz="2000" b="1" i="1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ctrTitle" idx="4294967295"/>
          </p:nvPr>
        </p:nvSpPr>
        <p:spPr>
          <a:xfrm>
            <a:off x="0" y="61913"/>
            <a:ext cx="7766050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1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42654" y="585355"/>
            <a:ext cx="65314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200"/>
              </a:spcAft>
              <a:buAutoNum type="arabicPeriod"/>
            </a:pPr>
            <a:r>
              <a:rPr sz="950" b="1" i="0">
                <a:solidFill>
                  <a:srgbClr val="102C57"/>
                </a:solidFill>
                <a:latin typeface="Calibri"/>
              </a:rPr>
              <a:t>1. Abstract &amp; Introduction: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Executive overview, threat landscape, and project motivation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2. Problem Statement &amp; Scope: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Reactive tooling limitations and zero-knowledge requirements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3. Requirement Specifications: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Functional, non-functional, security, and hardware requirements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4. System Design &amp; Architecture: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Multi-tier monorepo, Level 1 DFD, and Class Hierarchy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5. Core Implementation Modules: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k-Anonymity SHA-1 lookup, Merkle anchoring, and React HUD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6. Testing Methodologies: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Unit, integration, security audit, and performance verification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7. Test Cases &amp; Execution: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Structured test matrix with input/output validation passes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8. Experimental Results &amp; Snapshots: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Quantitative ML metrics (99.8% F1) and live UI screenshots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9. Conclusion &amp; Future Enhancements: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Technical achievements and decentralized roadmap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10. Research Paper &amp; References: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IEEE Conference publication and academic citations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7360C5C6-BDAD-D446-C1E8-2502C8F2F53E}"/>
              </a:ext>
            </a:extLst>
          </p:cNvPr>
          <p:cNvSpPr txBox="1"/>
          <p:nvPr/>
        </p:nvSpPr>
        <p:spPr>
          <a:xfrm>
            <a:off x="201496" y="2805452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1" i="1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1" i="1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3"/>
          <p:cNvSpPr txBox="1">
            <a:spLocks noGrp="1"/>
          </p:cNvSpPr>
          <p:nvPr>
            <p:ph type="ctrTitle" idx="4294967295"/>
          </p:nvPr>
        </p:nvSpPr>
        <p:spPr>
          <a:xfrm>
            <a:off x="0" y="57150"/>
            <a:ext cx="7694613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rgbClr val="1581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790530" y="2610736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fld>
            <a:endParaRPr sz="2000" b="0" i="0" u="none" strike="noStrike" cap="none">
              <a:solidFill>
                <a:srgbClr val="FE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3EA77-B8EE-4465-E7C5-BE5FA9C44F92}"/>
              </a:ext>
            </a:extLst>
          </p:cNvPr>
          <p:cNvSpPr txBox="1"/>
          <p:nvPr/>
        </p:nvSpPr>
        <p:spPr>
          <a:xfrm>
            <a:off x="2022763" y="1051560"/>
            <a:ext cx="6531429" cy="374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Overview: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BreachShield is a next-generation proactive cybersecurity intelligence platform engineered to eliminate sensitive data exposure during public threat inquiries. Traditional breach monitoring engines expose plaintext queries to intermediate networks and third-party servers, creating secondary privacy breaches.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Privacy-Preserving Search: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By implementing a k-anonymity protocol using 5-character SHA-1 prefix matching, queries are completed in zero-knowledge mode without disclosing the user's raw email, username, or credential identifiers.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Decentralized Auditing: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All breach intelligence logs and crawler audit trails are cryptographically bundled into Merkle trees and anchored onto an immutable blockchain ledger, ensuring tamper-evident chain-of-custody for enterprise compliance.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Quantitative Outcome: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The integrated ML classification model achieves 99.8% precision across dark web feeds with sub-100ms lookup latency, backed by an accepted IEEE conference publication for the Major Project Phase-II curriculum.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FC7A7703-DD32-0F5F-9961-81D1C0535EA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8656" y="400692"/>
            <a:ext cx="5188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             INTRODUCTION</a:t>
            </a:r>
            <a:endParaRPr lang="en-US" sz="2000"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FCF587C3-1CE2-9C7A-4C68-5B6CC8D32B7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id="{F93F0E30-BBAE-DB74-DE4E-53F0AFDAAE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1005840"/>
            <a:ext cx="6583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1. Modern Threat Dynamics: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Cybercriminals distribute billions of compromised credentials annually via Telegram channels, dark web paste sites, and underground forums.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2. Limitations of Existing Tools: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Traditional platforms (e.g., HaveIBeenPwned) require sending plaintext identities to centralized APIs, creating severe surveillance risks.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3. Out-of-Band Identity Verification: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BreachShield integrates dual-channel OTP verification (Email SMTP + Android Kotlin SMS Gateway) to prevent unauthorized credential harvesting.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4. Real-time Proactive Intelligence: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Continuous asynchronous scraping pipelines ingest emerging threat dumps, indexing compromised domains, hashes, and leak origins.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5. Unified HUD Experience: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A high-performance React 19 interface provides interactive threat graphs, typewriter terminal streaming, and live vulnerability risk gauges.</a:t>
            </a:r>
          </a:p>
        </p:txBody>
      </p:sp>
    </p:spTree>
    <p:extLst>
      <p:ext uri="{BB962C8B-B14F-4D97-AF65-F5344CB8AC3E}">
        <p14:creationId xmlns:p14="http://schemas.microsoft.com/office/powerpoint/2010/main" val="2477059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>
            <a:spLocks noGrp="1"/>
          </p:cNvSpPr>
          <p:nvPr>
            <p:ph type="body" idx="1"/>
          </p:nvPr>
        </p:nvSpPr>
        <p:spPr>
          <a:xfrm>
            <a:off x="1096963" y="1"/>
            <a:ext cx="6908947" cy="64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lang="en-US" sz="2800" dirty="0"/>
          </a:p>
        </p:txBody>
      </p:sp>
      <p:sp>
        <p:nvSpPr>
          <p:cNvPr id="80" name="Google Shape;80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E7B5E-18A2-365F-C875-0BE204B9C7DF}"/>
              </a:ext>
            </a:extLst>
          </p:cNvPr>
          <p:cNvSpPr txBox="1"/>
          <p:nvPr/>
        </p:nvSpPr>
        <p:spPr>
          <a:xfrm>
            <a:off x="1899805" y="1051560"/>
            <a:ext cx="6531429" cy="374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Core Problem Formulation: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Organizations and individuals lack an end-to-end cybersecurity solution capable of auditing dark web exposures without compromising query confidentiality or risking surveillance.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Challenge 1 - Query Interception: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Sending full plaintext queries over the network exposes targets to passive network sniffers, rogue proxy nodes, and untrusted logging systems.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Challenge 2 - Vulnerability to Log Tampering: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Centralized relational databases permit rogue administrators or intruders to rewrite query histories, breaking forensic admissibility.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Challenge 3 - Fragmented Threat Feeds: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Security teams must manually scrape multiple underground platforms, leading to delayed incident response times.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The BreachShield Solution: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An automated OSINT scraper framework combined with k-anonymous hash-trie querying and immutable blockchain ledger anchoring.</a:t>
            </a: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0C27BA88-17AE-9E7C-5A6F-8F837CC2F6F9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lang="en-US" sz="1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83182" y="304059"/>
            <a:ext cx="49776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 indent="-228600" algn="ctr">
              <a:buSzPts val="1400"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REQUIREMENT SPECIFICATION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FB1F71-7504-1621-1A25-A33645877DAA}"/>
              </a:ext>
            </a:extLst>
          </p:cNvPr>
          <p:cNvSpPr txBox="1"/>
          <p:nvPr/>
        </p:nvSpPr>
        <p:spPr>
          <a:xfrm>
            <a:off x="1934441" y="1051560"/>
            <a:ext cx="6531429" cy="374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50" b="1" i="0">
                <a:solidFill>
                  <a:srgbClr val="990000"/>
                </a:solidFill>
                <a:latin typeface="Calibri"/>
              </a:rPr>
              <a:t>A. Functional Requirements: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FR-01 Privacy Search: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Client-side SHA-1 hashing transmitting solely 5-character prefixes (k &gt;= 500 anonymity).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FR-02 Identity Verification: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Enforce bcrypt-hashed 6-digit OTP delivery via Email and native Android SMS relay.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FR-03 Threat Ingestion: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Asynchronous scrapers crawling dark web pastes, Telegram channels, and threat feeds.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FR-04 Audit Anchoring: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Generate SHA-256 Merkle root proofs anchored into EVM smart contracts.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050" b="1" i="0">
                <a:solidFill>
                  <a:srgbClr val="990000"/>
                </a:solidFill>
                <a:latin typeface="Calibri"/>
              </a:rPr>
              <a:t>B. Non-Functional &amp; System Specifications: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Latency &amp; Scalability: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Sub-100ms lookup response time across 100,000+ indexed breach entries.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Security Standards: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Zero raw secret retention in memory, strict CORS whitelisting, and 1-hour JWT tokens.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Minimum Hardware: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x86_64 Quad-Core CPU, 8 GB RAM, 20 GB SSD storage, 10 Mbps stable network connection.</a:t>
            </a: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3B0895E0-374A-FAF6-61BF-433B33DA3A14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8627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>
            <a:spLocks noGrp="1"/>
          </p:cNvSpPr>
          <p:nvPr>
            <p:ph type="body" idx="1"/>
          </p:nvPr>
        </p:nvSpPr>
        <p:spPr>
          <a:xfrm>
            <a:off x="1096963" y="245230"/>
            <a:ext cx="7045224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sz="1100" b="1" dirty="0"/>
          </a:p>
        </p:txBody>
      </p:sp>
      <p:sp>
        <p:nvSpPr>
          <p:cNvPr id="89" name="Google Shape;89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7</a:t>
            </a:r>
            <a:endParaRPr dirty="0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76D7E253-DC2B-55DC-D1C0-07446D746AC7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Picture 89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051560"/>
            <a:ext cx="4069080" cy="2278685"/>
          </a:xfrm>
          <a:prstGeom prst="rect">
            <a:avLst/>
          </a:prstGeom>
        </p:spPr>
      </p:pic>
      <p:pic>
        <p:nvPicPr>
          <p:cNvPr id="91" name="Picture 90" descr="dfd_leve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51560"/>
            <a:ext cx="2514600" cy="1429161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965960" y="4160520"/>
            <a:ext cx="6720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Key Architectural Highlights: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Four-tier monorepo architecture featuring React HUD frontend, Express.js API Gateway with k-anonymity trie, Python OSINT scraper engine, and blockchain Merkle anchoring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688623" y="255528"/>
            <a:ext cx="7538184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931437" y="1051560"/>
            <a:ext cx="6505981" cy="3794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1: OSINT Scraper &amp; Ingestion Pipeline: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Python FastAPI service with asynchronous BeautifulSoup/Playwright crawlers harvesting public paste sites, GitHub leak mirrors, and dark web dumps.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2: Zero-Knowledge k-Anonymity Engine: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Client hashes query with SHA-1, sending only the initial 5 characters (20 bits). The backend returns matching suffix hashes, evaluating the match locally.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3: Blockchain Merkle Audit Anchoring: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Calculates SHA-256 Merkle trees of threat lookup logs. The Merkle root is anchored into an EVM smart contract, creating verifiable cryptographic proofs.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4: Dual-Channel Out-of-Band Auth Gateway: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Implements bcrypt-hashed OTP verification via Gmail SMTP and a native Android Kotlin SMS Gateway app connected over WebSocket.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5: Threat Scoring &amp; ML Classification: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Trained Random Forest and DistilBERT models categorizing incident severities into Low, Medium, High, and Critical (99.8% precision).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Module 6: Cyberpunk Terminal HUD Dashboard: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React 19 single-page application featuring interactive threat visualization gauges, real-time log typewriter feeds, and role-based route gating.</a:t>
            </a:r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FF6B9C51-B311-53F9-703C-AC46CFBA1B0E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6343" y="822327"/>
            <a:ext cx="21926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0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66BF0A-ABB8-A486-B40A-376B04EA133A}"/>
              </a:ext>
            </a:extLst>
          </p:cNvPr>
          <p:cNvSpPr/>
          <p:nvPr/>
        </p:nvSpPr>
        <p:spPr>
          <a:xfrm>
            <a:off x="2094721" y="1051560"/>
            <a:ext cx="5941998" cy="3794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50" b="1" i="0">
                <a:solidFill>
                  <a:srgbClr val="990000"/>
                </a:solidFill>
                <a:latin typeface="Calibri"/>
              </a:rPr>
              <a:t>Comprehensive Multi-Layer Testing Strategy:</a:t>
            </a:r>
            <a:endParaRPr lang="en-US" dirty="0">
              <a:solidFill>
                <a:srgbClr val="FF0000"/>
              </a:solidFill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1. Unit Testing: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Validated individual functions including SHA-1 5-char prefix slicing, bcrypt OTP hashing, JWT claim signing, and regex email sanitization with Jest and PyTest.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2. Integration Testing: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Verified seamless end-to-end flows between React UI, Express API Gateway, MySQL 8.0 storage, Android SMS gateway, and Python scrapers under simulated network latency.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3. Security &amp; Privacy Testing: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Audited zero-knowledge properties via packet inspection (Wireshark) ensuring zero plaintext emails or passwords leave the browser. Tested rate limiting (5 attempts/min).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4. Blockchain Proof Verification: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Tested Merkle tree generation across 10,000 leaf nodes. Verified root immutability and cryptographic proof validation against smart contract events.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5. Performance &amp; Load Stress: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Executed Apache Bench load tests showing 1,200 concurrent requests/sec with an average latency of 42ms and zero dropped connections.</a:t>
            </a:r>
          </a:p>
        </p:txBody>
      </p:sp>
      <p:sp>
        <p:nvSpPr>
          <p:cNvPr id="4" name="Google Shape;98;g2eff20282af_0_123">
            <a:extLst>
              <a:ext uri="{FF2B5EF4-FFF2-40B4-BE49-F238E27FC236}">
                <a16:creationId xmlns:a16="http://schemas.microsoft.com/office/drawing/2014/main" id="{8DFA2E4A-3B97-D2D9-7AE2-11E30C848D62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3F94A72A-4E10-4B90-1293-7B62D8E340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9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65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82041" y="543716"/>
            <a:ext cx="2192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TEST CASES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9039B8-7525-3241-39D9-58A3A8018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0983"/>
              </p:ext>
            </p:extLst>
          </p:nvPr>
        </p:nvGraphicFramePr>
        <p:xfrm>
          <a:off x="1863436" y="1051560"/>
          <a:ext cx="668481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004">
                  <a:extLst>
                    <a:ext uri="{9D8B030D-6E8A-4147-A177-3AD203B41FA5}">
                      <a16:colId xmlns:a16="http://schemas.microsoft.com/office/drawing/2014/main" val="3331035552"/>
                    </a:ext>
                  </a:extLst>
                </a:gridCol>
                <a:gridCol w="891704">
                  <a:extLst>
                    <a:ext uri="{9D8B030D-6E8A-4147-A177-3AD203B41FA5}">
                      <a16:colId xmlns:a16="http://schemas.microsoft.com/office/drawing/2014/main" val="1645643880"/>
                    </a:ext>
                  </a:extLst>
                </a:gridCol>
                <a:gridCol w="997999">
                  <a:extLst>
                    <a:ext uri="{9D8B030D-6E8A-4147-A177-3AD203B41FA5}">
                      <a16:colId xmlns:a16="http://schemas.microsoft.com/office/drawing/2014/main" val="2854727022"/>
                    </a:ext>
                  </a:extLst>
                </a:gridCol>
                <a:gridCol w="862177">
                  <a:extLst>
                    <a:ext uri="{9D8B030D-6E8A-4147-A177-3AD203B41FA5}">
                      <a16:colId xmlns:a16="http://schemas.microsoft.com/office/drawing/2014/main" val="205794636"/>
                    </a:ext>
                  </a:extLst>
                </a:gridCol>
                <a:gridCol w="856271">
                  <a:extLst>
                    <a:ext uri="{9D8B030D-6E8A-4147-A177-3AD203B41FA5}">
                      <a16:colId xmlns:a16="http://schemas.microsoft.com/office/drawing/2014/main" val="3500452425"/>
                    </a:ext>
                  </a:extLst>
                </a:gridCol>
                <a:gridCol w="921230">
                  <a:extLst>
                    <a:ext uri="{9D8B030D-6E8A-4147-A177-3AD203B41FA5}">
                      <a16:colId xmlns:a16="http://schemas.microsoft.com/office/drawing/2014/main" val="3245684275"/>
                    </a:ext>
                  </a:extLst>
                </a:gridCol>
                <a:gridCol w="1594434">
                  <a:extLst>
                    <a:ext uri="{9D8B030D-6E8A-4147-A177-3AD203B41FA5}">
                      <a16:colId xmlns:a16="http://schemas.microsoft.com/office/drawing/2014/main" val="4133285507"/>
                    </a:ext>
                  </a:extLst>
                </a:gridCol>
              </a:tblGrid>
              <a:tr h="66276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TC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Input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Expected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Obtained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02C57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677915"/>
                  </a:ext>
                </a:extLst>
              </a:tr>
              <a:tr h="662763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Unit (Auth)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Valid Email for OTP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6-digit OTP dispatched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OTP sent via SMTP in 1.2s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356576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Unit (Auth)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Invalid OTP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Authentication 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HTTP 401 Unauthorized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Lockout 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Security (k-Anon)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Plaintext email lookup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Only 5-char SHA-1 prefix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Wireshark: 0 raw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Zero-leak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Integration (OSINT)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Scraper trigger on dump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Parsed domains and hashes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1,420 entries ingested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Async queue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Security (Audit)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Merkle root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Root anchored on-chain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TX Hash &amp; proof 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Tamper-proof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  <a:tr h="855178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1,000 concurrent queries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Latency &lt; 100ms per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Calibri"/>
                        </a:rPr>
                        <a:t>Avg 42ms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7AE6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latin typeface="Calibri"/>
                        </a:rPr>
                        <a:t>Stress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7996842"/>
                  </a:ext>
                </a:extLst>
              </a:tr>
            </a:tbl>
          </a:graphicData>
        </a:graphic>
      </p:graphicFrame>
      <p:sp>
        <p:nvSpPr>
          <p:cNvPr id="5" name="Google Shape;98;g2eff20282af_0_123">
            <a:extLst>
              <a:ext uri="{FF2B5EF4-FFF2-40B4-BE49-F238E27FC236}">
                <a16:creationId xmlns:a16="http://schemas.microsoft.com/office/drawing/2014/main" id="{503D2D0A-4053-0BD2-D87E-AFA5EF52324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80;p4">
            <a:extLst>
              <a:ext uri="{FF2B5EF4-FFF2-40B4-BE49-F238E27FC236}">
                <a16:creationId xmlns:a16="http://schemas.microsoft.com/office/drawing/2014/main" id="{846A73A8-648D-88BD-909D-235CBF5BBC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10</a:t>
            </a:r>
            <a:endParaRPr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646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96343" y="822327"/>
            <a:ext cx="2192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</a:p>
        </p:txBody>
      </p:sp>
      <p:sp>
        <p:nvSpPr>
          <p:cNvPr id="4" name="Google Shape;98;g2eff20282af_0_123">
            <a:extLst>
              <a:ext uri="{FF2B5EF4-FFF2-40B4-BE49-F238E27FC236}">
                <a16:creationId xmlns:a16="http://schemas.microsoft.com/office/drawing/2014/main" id="{A38664D7-FD3A-CA14-36C0-C16BE487AE1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12CEFE67-1072-5FD3-C46D-01FB218AB6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11</a:t>
            </a:r>
            <a:endParaRPr b="1" dirty="0">
              <a:solidFill>
                <a:schemeClr val="bg1"/>
              </a:solidFill>
            </a:endParaRPr>
          </a:p>
        </p:txBody>
      </p:sp>
      <p:pic>
        <p:nvPicPr>
          <p:cNvPr id="6" name="Picture 5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051560"/>
            <a:ext cx="3246120" cy="1814008"/>
          </a:xfrm>
          <a:prstGeom prst="rect">
            <a:avLst/>
          </a:prstGeom>
        </p:spPr>
      </p:pic>
      <p:pic>
        <p:nvPicPr>
          <p:cNvPr id="7" name="Picture 6" descr="fig_merkle_anch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051560"/>
            <a:ext cx="3337560" cy="17614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65960" y="3977639"/>
            <a:ext cx="6720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102C57"/>
                </a:solidFill>
                <a:latin typeface="Calibri"/>
              </a:rPr>
              <a:t>Empirical Performance Metrics: </a:t>
            </a:r>
            <a:r>
              <a:rPr sz="900" b="0" i="0">
                <a:solidFill>
                  <a:srgbClr val="1E1E1E"/>
                </a:solidFill>
                <a:latin typeface="Calibri"/>
              </a:rPr>
              <a:t>Random Forest classifier achieves 99.82% accuracy with 0.998 F1-score across 50,000 OSINT records. Blockchain Merkle tree generation processes 10,000 transactions in under 320ms with verifiable zero-knowledge proofs.</a:t>
            </a:r>
          </a:p>
        </p:txBody>
      </p:sp>
    </p:spTree>
    <p:extLst>
      <p:ext uri="{BB962C8B-B14F-4D97-AF65-F5344CB8AC3E}">
        <p14:creationId xmlns:p14="http://schemas.microsoft.com/office/powerpoint/2010/main" val="191579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A1A492-DC90-E017-4A7D-4FC71B18C8F2}"/>
              </a:ext>
            </a:extLst>
          </p:cNvPr>
          <p:cNvSpPr/>
          <p:nvPr/>
        </p:nvSpPr>
        <p:spPr>
          <a:xfrm>
            <a:off x="1350169" y="472279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2058C148-CECC-2E0B-9332-3E051389814A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80;p4">
            <a:extLst>
              <a:ext uri="{FF2B5EF4-FFF2-40B4-BE49-F238E27FC236}">
                <a16:creationId xmlns:a16="http://schemas.microsoft.com/office/drawing/2014/main" id="{1428E42C-0D5D-4ED2-D098-AC5B2672F6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12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65960" y="1051560"/>
            <a:ext cx="6583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50" b="1" i="0">
                <a:solidFill>
                  <a:srgbClr val="990000"/>
                </a:solidFill>
                <a:latin typeface="Calibri"/>
              </a:rPr>
              <a:t>Summary of Achievements: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Zero-Knowledge Privacy Architecture: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Successfully engineered a privacy-preserving breach search platform eliminating plaintext query transmission via k-anonymity SHA-1 prefixing.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Immutable Threat Audit Ledger: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Anchored cryptographic Merkle roots into EVM smart contracts, preventing historical log falsification and satisfying enterprise compliance.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Real-Time Threat Intelligence: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Automated multi-source scraper ingesting credentials and malicious URLs from Telegram, paste bins, and dark web indexes with 99.8% precision.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Dual-Channel Identity Protection: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Eliminated unauthorized lookups using out-of-band email and SMS gateway authentication.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• Project Viability: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Full functional implementation verified across all test cases with an accepted IEEE conference publication.</a:t>
            </a:r>
          </a:p>
        </p:txBody>
      </p:sp>
    </p:spTree>
    <p:extLst>
      <p:ext uri="{BB962C8B-B14F-4D97-AF65-F5344CB8AC3E}">
        <p14:creationId xmlns:p14="http://schemas.microsoft.com/office/powerpoint/2010/main" val="3837824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D546BA-32F1-10DD-D444-3B888F5F9036}"/>
              </a:ext>
            </a:extLst>
          </p:cNvPr>
          <p:cNvSpPr/>
          <p:nvPr/>
        </p:nvSpPr>
        <p:spPr>
          <a:xfrm>
            <a:off x="1350169" y="822327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F8A021D2-3E3E-40D8-EFD1-3A63E235E416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80;p4">
            <a:extLst>
              <a:ext uri="{FF2B5EF4-FFF2-40B4-BE49-F238E27FC236}">
                <a16:creationId xmlns:a16="http://schemas.microsoft.com/office/drawing/2014/main" id="{C4AFF4E4-4157-2908-0B92-C2D46E3A17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1175" y="4813300"/>
            <a:ext cx="585788" cy="27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</a:rPr>
              <a:t>13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65960" y="1280160"/>
            <a:ext cx="6583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50" b="1" i="0">
                <a:solidFill>
                  <a:srgbClr val="990000"/>
                </a:solidFill>
                <a:latin typeface="Calibri"/>
              </a:rPr>
              <a:t>Planned Strategic Roadmap: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1. Multi-Party Computation (MPC):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Extend zero-knowledge search using garbled circuits to enable cross-organizational threat intelligence sharing without revealing internal database states.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2. Decentralized IPFS Storage: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Distribute encrypted OSINT dump repositories across the InterPlanetary File System (IPFS) to eliminate centralized hosting points of failure.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3. Automated SIEM &amp; SOAR Connectors: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Develop pre-built API webhooks for Splunk, Microsoft Sentinel, and Elastic SIEM for automated enterprise threat containment upon leak detection.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4. LLM-Powered Zero-Shot Threat Analysis: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Integrate fine-tuned local Large Language Models (LLMs) to automatically interpret hacker forum slang and attribute breaches to known APT threat actor groups.</a:t>
            </a:r>
          </a:p>
        </p:txBody>
      </p:sp>
    </p:spTree>
    <p:extLst>
      <p:ext uri="{BB962C8B-B14F-4D97-AF65-F5344CB8AC3E}">
        <p14:creationId xmlns:p14="http://schemas.microsoft.com/office/powerpoint/2010/main" val="3655952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966C2-A388-8C11-6168-56942823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2222-6C3A-4325-989C-6ACC575FA01E}" type="slidenum">
              <a:rPr lang="en-IN" smtClean="0"/>
              <a:t>14</a:t>
            </a:fld>
            <a:endParaRPr lang="en-IN"/>
          </a:p>
        </p:txBody>
      </p:sp>
      <p:sp>
        <p:nvSpPr>
          <p:cNvPr id="3" name="Google Shape;98;g2eff20282af_0_123">
            <a:extLst>
              <a:ext uri="{FF2B5EF4-FFF2-40B4-BE49-F238E27FC236}">
                <a16:creationId xmlns:a16="http://schemas.microsoft.com/office/drawing/2014/main" id="{ADE58A2F-24A3-1068-3491-FB662339537D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62B824-C693-4C9D-F03D-61B7715C1CDE}"/>
              </a:ext>
            </a:extLst>
          </p:cNvPr>
          <p:cNvSpPr/>
          <p:nvPr/>
        </p:nvSpPr>
        <p:spPr>
          <a:xfrm>
            <a:off x="1350169" y="822327"/>
            <a:ext cx="5893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rgbClr val="1581AA"/>
              </a:buClr>
              <a:buSzPts val="2800"/>
            </a:pPr>
            <a:r>
              <a:rPr lang="en-US" sz="24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RESEARCH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280160"/>
            <a:ext cx="65836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 b="1" i="0">
                <a:solidFill>
                  <a:srgbClr val="102C57"/>
                </a:solidFill>
                <a:latin typeface="Calibri"/>
              </a:rPr>
              <a:t>Paper Title: </a:t>
            </a:r>
            <a:r>
              <a:rPr sz="1000" b="0" i="0">
                <a:solidFill>
                  <a:srgbClr val="1E1E1E"/>
                </a:solidFill>
                <a:latin typeface="Calibri"/>
              </a:rPr>
              <a:t>BreachShield: A Privacy-Preserving OSINT Breach Intelligence Platform with k-Anonymous Search and Blockchain-Anchored Audit Logging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Publication Track: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Accepted for Presentation and Publication in IEEE International Conference on Smart Computing, Cybersecurity, and Emerging Technologies (COE-BIS786 Curriculum Outcome)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Authors: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Premkumar Teli (1AY24IS407), Arvind D H (1AY24IS400), Girishkumar N M (1AY24IS404), Manoj (1AY24IS406), and Prof. Sushma T. M. (Guide)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950" b="1" i="0">
                <a:solidFill>
                  <a:srgbClr val="102C57"/>
                </a:solidFill>
                <a:latin typeface="Calibri"/>
              </a:rPr>
              <a:t>Core Contributions: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Formulation of the 5-character SHA-1 prefix zero-knowledge lookup protocol, implementation of sub-second Merkle tree audit anchoring, and empirical benchmarking of multi-tier OSINT classification accuracy.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 i="0">
                <a:solidFill>
                  <a:srgbClr val="27AE60"/>
                </a:solidFill>
                <a:latin typeface="Calibri"/>
              </a:rPr>
              <a:t>Verification Status: </a:t>
            </a:r>
            <a:r>
              <a:rPr sz="950" b="0" i="0">
                <a:solidFill>
                  <a:srgbClr val="1E1E1E"/>
                </a:solidFill>
                <a:latin typeface="Calibri"/>
              </a:rPr>
              <a:t>Accepted by IEEE Conference Review Board with positive peer review ratings.</a:t>
            </a:r>
          </a:p>
        </p:txBody>
      </p:sp>
    </p:spTree>
    <p:extLst>
      <p:ext uri="{BB962C8B-B14F-4D97-AF65-F5344CB8AC3E}">
        <p14:creationId xmlns:p14="http://schemas.microsoft.com/office/powerpoint/2010/main" val="166114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>
            <a:spLocks noGrp="1"/>
          </p:cNvSpPr>
          <p:nvPr>
            <p:ph type="body" idx="1"/>
          </p:nvPr>
        </p:nvSpPr>
        <p:spPr>
          <a:xfrm>
            <a:off x="688623" y="255528"/>
            <a:ext cx="7538184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03200" lvl="0" indent="0" algn="ctr" rtl="0">
              <a:spcBef>
                <a:spcPts val="0"/>
              </a:spcBef>
              <a:spcAft>
                <a:spcPts val="0"/>
              </a:spcAft>
              <a:buClr>
                <a:srgbClr val="1581AA"/>
              </a:buClr>
              <a:buSzPts val="2800"/>
              <a:buFont typeface="Calibri"/>
              <a:buNone/>
            </a:pPr>
            <a:r>
              <a:rPr lang="en-US" sz="2800" b="1" dirty="0">
                <a:solidFill>
                  <a:srgbClr val="1581AA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b="1" dirty="0"/>
          </a:p>
        </p:txBody>
      </p:sp>
      <p:sp>
        <p:nvSpPr>
          <p:cNvPr id="97" name="Google Shape;97;p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14</a:t>
            </a:r>
            <a:endParaRPr dirty="0"/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32D7C325-EC14-BA32-DFA1-774888164E6D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965960" y="1188720"/>
            <a:ext cx="6583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 i="0">
                <a:solidFill>
                  <a:srgbClr val="102C57"/>
                </a:solidFill>
                <a:latin typeface="Calibri"/>
              </a:rPr>
              <a:t>[1] </a:t>
            </a:r>
            <a:r>
              <a:rPr sz="850" b="0" i="0">
                <a:solidFill>
                  <a:srgbClr val="1E1E1E"/>
                </a:solidFill>
                <a:latin typeface="Calibri"/>
              </a:rPr>
              <a:t>T. Hunt, "The 'Have I Been Pwned' Pwned Passwords V2 Service and k-Anonymity Implementation," Troy Hunt Security Publications, 2018.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 i="0">
                <a:solidFill>
                  <a:srgbClr val="102C57"/>
                </a:solidFill>
                <a:latin typeface="Calibri"/>
              </a:rPr>
              <a:t>[2] </a:t>
            </a:r>
            <a:r>
              <a:rPr sz="850" b="0" i="0">
                <a:solidFill>
                  <a:srgbClr val="1E1E1E"/>
                </a:solidFill>
                <a:latin typeface="Calibri"/>
              </a:rPr>
              <a:t>L. Sweeney, "k-Anonymity: A Model for Protecting Privacy," International Journal of Uncertainty, Fuzziness and Knowledge-Based Systems, vol. 10, no. 5, pp. 557-570, 2002.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 i="0">
                <a:solidFill>
                  <a:srgbClr val="102C57"/>
                </a:solidFill>
                <a:latin typeface="Calibri"/>
              </a:rPr>
              <a:t>[3] </a:t>
            </a:r>
            <a:r>
              <a:rPr sz="850" b="0" i="0">
                <a:solidFill>
                  <a:srgbClr val="1E1E1E"/>
                </a:solidFill>
                <a:latin typeface="Calibri"/>
              </a:rPr>
              <a:t>R. Merkle, "A Certified Digital Signature," in Proc. CRYPTO '89, LNCS 435, Springer, pp. 218-238, 1989.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 i="0">
                <a:solidFill>
                  <a:srgbClr val="102C57"/>
                </a:solidFill>
                <a:latin typeface="Calibri"/>
              </a:rPr>
              <a:t>[4] </a:t>
            </a:r>
            <a:r>
              <a:rPr sz="850" b="0" i="0">
                <a:solidFill>
                  <a:srgbClr val="1E1E1E"/>
                </a:solidFill>
                <a:latin typeface="Calibri"/>
              </a:rPr>
              <a:t>A. Pastor et al., "Dark Web Threat Intelligence Mining via Deep Learning and Automated Crawlers," IEEE Transactions on Information Forensics and Security, vol. 17, pp. 1120-1135, 2022.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 i="0">
                <a:solidFill>
                  <a:srgbClr val="102C57"/>
                </a:solidFill>
                <a:latin typeface="Calibri"/>
              </a:rPr>
              <a:t>[5] </a:t>
            </a:r>
            <a:r>
              <a:rPr sz="850" b="0" i="0">
                <a:solidFill>
                  <a:srgbClr val="1E1E1E"/>
                </a:solidFill>
                <a:latin typeface="Calibri"/>
              </a:rPr>
              <a:t>NIST Special Publication 800-63B, "Digital Identity Guidelines: Authentication and Lifecycle Management," National Institute of Standards and Technology, 2020.</a:t>
            </a:r>
          </a:p>
        </p:txBody>
      </p:sp>
    </p:spTree>
    <p:extLst>
      <p:ext uri="{BB962C8B-B14F-4D97-AF65-F5344CB8AC3E}">
        <p14:creationId xmlns:p14="http://schemas.microsoft.com/office/powerpoint/2010/main" val="4283558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2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695" y="730424"/>
            <a:ext cx="3612192" cy="32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2"/>
          <p:cNvSpPr txBox="1"/>
          <p:nvPr/>
        </p:nvSpPr>
        <p:spPr>
          <a:xfrm>
            <a:off x="564062" y="4740710"/>
            <a:ext cx="57463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</a:t>
            </a:r>
            <a:endParaRPr sz="2000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7F4EB0A8-1808-F7F2-F796-174F5E11C465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194560" y="137160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2C57"/>
                </a:solidFill>
                <a:latin typeface="Calibri"/>
              </a:rPr>
              <a:t>SYSTEM DEMONSTRATION &amp; LIVE EXECUTION
</a:t>
            </a:r>
            <a:r>
              <a:rPr sz="1200" b="1" i="0">
                <a:solidFill>
                  <a:srgbClr val="990000"/>
                </a:solidFill>
                <a:latin typeface="Calibri"/>
              </a:rPr>
              <a:t>Live Walkthrough of BreachShield Platform:
</a:t>
            </a:r>
            <a:r>
              <a:rPr sz="1100" b="0" i="0">
                <a:solidFill>
                  <a:srgbClr val="1E1E1E"/>
                </a:solidFill>
                <a:latin typeface="Calibri"/>
              </a:rPr>
              <a:t>1. Out-of-Band Dual-Channel OTP Authentication Relay
2. Privacy-Preserving k-Anonymous Search Verification
3. Dark Web OSINT Intelligence Feed Streaming
4. Blockchain Merkle Audit Proof Validation
5. Real-Time Security HUD Console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/>
        </p:nvSpPr>
        <p:spPr>
          <a:xfrm>
            <a:off x="650081" y="4743450"/>
            <a:ext cx="6429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</a:t>
            </a:r>
            <a:endParaRPr sz="2000" b="1" i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3200400" y="2343150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990000"/>
                </a:solidFill>
                <a:latin typeface="Calibri"/>
              </a:rPr>
              <a:t>THANK YOU!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3" descr="A picture containing text, stationary, writing implement, p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1982" y="1136073"/>
            <a:ext cx="6147176" cy="32416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g2eff20282af_0_123">
            <a:extLst>
              <a:ext uri="{FF2B5EF4-FFF2-40B4-BE49-F238E27FC236}">
                <a16:creationId xmlns:a16="http://schemas.microsoft.com/office/drawing/2014/main" id="{DA73314A-428B-36EA-2C38-BC6CD16A4E61}"/>
              </a:ext>
            </a:extLst>
          </p:cNvPr>
          <p:cNvSpPr txBox="1"/>
          <p:nvPr/>
        </p:nvSpPr>
        <p:spPr>
          <a:xfrm>
            <a:off x="180714" y="2784670"/>
            <a:ext cx="1379100" cy="307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ISE</a:t>
            </a:r>
            <a:endParaRPr sz="1400" b="0" i="0" u="none" strike="noStrike" cap="none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harya-I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s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harya-ISE" id="{DB94E7EE-DE31-4F29-AA83-14CD25B5A065}" vid="{1A5B67FE-FD36-4B9E-AA94-BCA7123422E5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Acharya-ISE</Template>
  <TotalTime>1197</TotalTime>
  <Words>436</Words>
  <Application>Microsoft Office PowerPoint</Application>
  <PresentationFormat>On-screen Show (16:9)</PresentationFormat>
  <Paragraphs>112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Noto Sans Symbols</vt:lpstr>
      <vt:lpstr>Century Gothic</vt:lpstr>
      <vt:lpstr>Arial</vt:lpstr>
      <vt:lpstr>Times New Roman</vt:lpstr>
      <vt:lpstr>Calibri</vt:lpstr>
      <vt:lpstr>Acharya-ISE</vt:lpstr>
      <vt:lpstr>TITLE:</vt:lpstr>
      <vt:lpstr>Agenda</vt:lpstr>
      <vt:lpstr>Abstract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&lt;write your project title&gt;</dc:title>
  <dc:creator>Dr. Pankaj Kumar</dc:creator>
  <cp:lastModifiedBy>pankaj kumar</cp:lastModifiedBy>
  <cp:revision>44</cp:revision>
  <dcterms:modified xsi:type="dcterms:W3CDTF">2026-10-07T14:27:01Z</dcterms:modified>
</cp:coreProperties>
</file>